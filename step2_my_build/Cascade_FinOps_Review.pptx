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85ab4ff-33e6-b366-5983-ea1cf0bf6fd9}">
          <p14:sldIdLst>
            <p14:sldId id="256"/>
            <p14:sldId id="257"/>
            <p14:sldId id="258"/>
          </p14:sldIdLst>
        </p14:section>
        <p14:section name="Findings" id="{22feff51-56d2-5d5b-e4b0-b9a8c7bcc9c2}">
          <p14:sldIdLst>
            <p14:sldId id="259"/>
            <p14:sldId id="260"/>
            <p14:sldId id="261"/>
            <p14:sldId id="262"/>
            <p14:sldId id="263"/>
            <p14:sldId id="264"/>
          </p14:sldIdLst>
        </p14:section>
        <p14:section name="Demo" id="{a628ec66-5990-81ff-84b4-a3ae2dc436e4}">
          <p14:sldIdLst>
            <p14:sldId id="265"/>
          </p14:sldIdLst>
        </p14:section>
        <p14:section name="Plan" id="{e59bceaf-b7ed-6d51-d1a5-e18471ffaa7e}">
          <p14:sldIdLst>
            <p14:sldId id="266"/>
            <p14:sldId id="267"/>
            <p14:sldId id="268"/>
            <p14:sldId id="269"/>
            <p14:sldId id="270"/>
          </p14:sldIdLst>
        </p14:section>
        <p14:section name="Appendix" id="{45ca0849-16c0-7195-9dd2-5ca579fd4e60}">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2EEEC"/>
                </a:solidFill>
                <a:latin typeface="+mn-lt"/>
              </a:defRPr>
            </a:pPr>
            <a:r>
              <a:rPr sz="1400" b="0" i="0" u="none" strike="noStrike">
                <a:solidFill>
                  <a:srgbClr val="F2EEEC"/>
                </a:solidFill>
                <a:latin typeface="+mn-lt"/>
              </a:rPr>
              <a:t>Monthly spend, $k (list price)</a:t>
            </a:r>
          </a:p>
        </c:rich>
      </c:tx>
      <c:layout/>
      <c:overlay val="0"/>
    </c:title>
    <c:autoTitleDeleted val="0"/>
    <c:plotArea>
      <c:layout/>
      <c:barChart>
        <c:barDir val="col"/>
        <c:grouping val="clustered"/>
        <c:varyColors val="0"/>
        <c:ser>
          <c:idx val="0"/>
          <c:order val="0"/>
          <c:tx>
            <c:strRef>
              <c:f>Sheet1!$B$1</c:f>
              <c:strCache>
                <c:ptCount val="1"/>
                <c:pt idx="0">
                  <c:v>Finance dashboard (customer cost table)</c:v>
                </c:pt>
              </c:strCache>
            </c:strRef>
          </c:tx>
          <c:spPr>
            <a:solidFill>
              <a:srgbClr val="8FA3A8"/>
            </a:solidFill>
            <a:effectLst/>
          </c:spPr>
          <c:invertIfNegative val="0"/>
          <c:dLbls>
            <c:numFmt formatCode="&quot;$&quot;0&quot;k&quot;" sourceLinked="0"/>
            <c:txPr>
              <a:bodyPr/>
              <a:lstStyle/>
              <a:p>
                <a:pPr>
                  <a:defRPr b="0" i="0" strike="noStrike" sz="1100" u="none">
                    <a:solidFill>
                      <a:srgbClr val="F2EEEC"/>
                    </a:solidFill>
                    <a:latin typeface="+mn-lt"/>
                  </a:defRPr>
                </a:pPr>
              </a:p>
            </c:txPr>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Sheet1!$B$2:$B$5</c:f>
              <c:numCache>
                <c:formatCode>General</c:formatCode>
                <c:ptCount val="4"/>
                <c:pt idx="0">
                  <c:v>59.1</c:v>
                </c:pt>
                <c:pt idx="1">
                  <c:v>94.4</c:v>
                </c:pt>
                <c:pt idx="2">
                  <c:v>198.4</c:v>
                </c:pt>
                <c:pt idx="3">
                  <c:v>219.7</c:v>
                </c:pt>
              </c:numCache>
            </c:numRef>
          </c:val>
        </c:ser>
        <c:ser>
          <c:idx val="1"/>
          <c:order val="1"/>
          <c:tx>
            <c:strRef>
              <c:f>Sheet1!$C$1</c:f>
              <c:strCache>
                <c:ptCount val="1"/>
                <c:pt idx="0">
                  <c:v>Corrected (point-in-time pricing)</c:v>
                </c:pt>
              </c:strCache>
            </c:strRef>
          </c:tx>
          <c:spPr>
            <a:solidFill>
              <a:srgbClr val="FF3621"/>
            </a:solidFill>
            <a:effectLst/>
          </c:spPr>
          <c:invertIfNegative val="0"/>
          <c:dLbls>
            <c:numFmt formatCode="&quot;$&quot;0&quot;k&quot;" sourceLinked="0"/>
            <c:txPr>
              <a:bodyPr/>
              <a:lstStyle/>
              <a:p>
                <a:pPr>
                  <a:defRPr b="0" i="0" strike="noStrike" sz="1100" u="none">
                    <a:solidFill>
                      <a:srgbClr val="F2EEEC"/>
                    </a:solidFill>
                    <a:latin typeface="+mn-lt"/>
                  </a:defRPr>
                </a:pPr>
              </a:p>
            </c:txPr>
            <c:showLegendKey val="0"/>
            <c:showVal val="1"/>
            <c:showCatName val="0"/>
            <c:showSerName val="0"/>
            <c:showPercent val="0"/>
            <c:showBubbleSize val="0"/>
            <c:showLeaderLines val="0"/>
          </c:dLbls>
          <c:cat>
            <c:multiLvlStrRef>
              <c:f>Sheet1!$A$2:$A$5</c:f>
              <c:multiLvlStrCache>
                <c:ptCount val="4"/>
                <c:lvl>
                  <c:pt idx="0">
                    <c:v>Jun</c:v>
                  </c:pt>
                  <c:pt idx="1">
                    <c:v>Jul</c:v>
                  </c:pt>
                  <c:pt idx="2">
                    <c:v>Aug</c:v>
                  </c:pt>
                  <c:pt idx="3">
                    <c:v>Sep</c:v>
                  </c:pt>
                </c:lvl>
              </c:multiLvlStrCache>
            </c:multiLvlStrRef>
          </c:cat>
          <c:val>
            <c:numRef>
              <c:f>Sheet1!$C$2:$C$5</c:f>
              <c:numCache>
                <c:formatCode>General</c:formatCode>
                <c:ptCount val="4"/>
                <c:pt idx="0">
                  <c:v>43.6</c:v>
                </c:pt>
                <c:pt idx="1">
                  <c:v>62.3</c:v>
                </c:pt>
                <c:pt idx="2">
                  <c:v>125.9</c:v>
                </c:pt>
                <c:pt idx="3">
                  <c:v>161.8</c:v>
                </c:pt>
              </c:numCache>
            </c:numRef>
          </c:val>
        </c:ser>
        <c:dLbls>
          <c:numFmt formatCode="&quot;$&quot;0&quot;k&quot;" sourceLinked="0"/>
          <c:txPr>
            <a:bodyPr/>
            <a:lstStyle/>
            <a:p>
              <a:pPr>
                <a:defRPr b="0" i="0" strike="noStrike" sz="1100" u="none">
                  <a:solidFill>
                    <a:srgbClr val="F2EEEC"/>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9B8BB"/>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E4E55"/>
              </a:solidFill>
              <a:prstDash val="solid"/>
              <a:round/>
            </a:ln>
          </c:spPr>
        </c:majorGridlines>
        <c:numFmt formatCode="&quot;$&quot;0&quot;k&quot;" sourceLinked="0"/>
        <c:majorTickMark val="out"/>
        <c:minorTickMark val="none"/>
        <c:tickLblPos val="nextTo"/>
        <c:spPr>
          <a:ln w="12700" cap="flat">
            <a:noFill/>
            <a:prstDash val="solid"/>
            <a:round/>
          </a:ln>
        </c:spPr>
        <c:txPr>
          <a:bodyPr/>
          <a:lstStyle/>
          <a:p>
            <a:pPr>
              <a:defRPr sz="1100" b="0" i="0" u="none" strike="noStrike">
                <a:solidFill>
                  <a:srgbClr val="A9B8B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F2EEE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Oct run-rate</c:v>
                </c:pt>
              </c:strCache>
            </c:strRef>
          </c:tx>
          <c:spPr>
            <a:solidFill>
              <a:schemeClr val="accent1"/>
            </a:solidFill>
            <a:ln w="9525" cap="flat">
              <a:solidFill>
                <a:srgbClr val="F9F9F9"/>
              </a:solidFill>
              <a:prstDash val="solid"/>
              <a:round/>
            </a:ln>
            <a:effectLst/>
          </c:spPr>
          <c:dPt>
            <c:idx val="0"/>
            <c:bubble3D val="0"/>
            <c:spPr>
              <a:solidFill>
                <a:srgbClr val="FF3621"/>
              </a:solidFill>
              <a:effectLst/>
            </c:spPr>
          </c:dPt>
          <c:dPt>
            <c:idx val="1"/>
            <c:bubble3D val="0"/>
            <c:spPr>
              <a:solidFill>
                <a:srgbClr val="F5A623"/>
              </a:solidFill>
              <a:effectLst/>
            </c:spPr>
          </c:dPt>
          <c:dPt>
            <c:idx val="2"/>
            <c:bubble3D val="0"/>
            <c:spPr>
              <a:solidFill>
                <a:srgbClr val="2BB673"/>
              </a:solidFill>
              <a:effectLst/>
            </c:spPr>
          </c:dPt>
          <c:dPt>
            <c:idx val="3"/>
            <c:bubble3D val="0"/>
            <c:spPr>
              <a:solidFill>
                <a:srgbClr val="8FA3A8"/>
              </a:solidFill>
              <a:effectLst/>
            </c:spPr>
          </c:dPt>
          <c:dLbls>
            <c:dLbl>
              <c:idx val="0"/>
              <c:numFmt formatCode="&quot;$&quot;0&quot;k&quot;" sourceLinked="0"/>
              <c:spPr/>
              <c:txPr>
                <a:bodyPr/>
                <a:lstStyle/>
                <a:p>
                  <a:pPr>
                    <a:defRPr sz="1300" b="1" i="0" u="none" strike="noStrike">
                      <a:solidFill>
                        <a:srgbClr val="0B1D21"/>
                      </a:solidFill>
                      <a:latin typeface="+mn-lt"/>
                    </a:defRPr>
                  </a:pPr>
                </a:p>
              </c:txPr>
              <c:showLegendKey val="0"/>
              <c:showVal val="1"/>
              <c:showCatName val="0"/>
              <c:showSerName val="0"/>
              <c:showPercent val="0"/>
              <c:showBubbleSize val="0"/>
            </c:dLbl>
            <c:dLbl>
              <c:idx val="1"/>
              <c:numFmt formatCode="&quot;$&quot;0&quot;k&quot;" sourceLinked="0"/>
              <c:spPr/>
              <c:txPr>
                <a:bodyPr/>
                <a:lstStyle/>
                <a:p>
                  <a:pPr>
                    <a:defRPr sz="1300" b="1" i="0" u="none" strike="noStrike">
                      <a:solidFill>
                        <a:srgbClr val="0B1D21"/>
                      </a:solidFill>
                      <a:latin typeface="+mn-lt"/>
                    </a:defRPr>
                  </a:pPr>
                </a:p>
              </c:txPr>
              <c:showLegendKey val="0"/>
              <c:showVal val="1"/>
              <c:showCatName val="0"/>
              <c:showSerName val="0"/>
              <c:showPercent val="0"/>
              <c:showBubbleSize val="0"/>
            </c:dLbl>
            <c:dLbl>
              <c:idx val="2"/>
              <c:numFmt formatCode="&quot;$&quot;0&quot;k&quot;" sourceLinked="0"/>
              <c:spPr/>
              <c:txPr>
                <a:bodyPr/>
                <a:lstStyle/>
                <a:p>
                  <a:pPr>
                    <a:defRPr sz="1300" b="1" i="0" u="none" strike="noStrike">
                      <a:solidFill>
                        <a:srgbClr val="0B1D21"/>
                      </a:solidFill>
                      <a:latin typeface="+mn-lt"/>
                    </a:defRPr>
                  </a:pPr>
                </a:p>
              </c:txPr>
              <c:showLegendKey val="0"/>
              <c:showVal val="1"/>
              <c:showCatName val="0"/>
              <c:showSerName val="0"/>
              <c:showPercent val="0"/>
              <c:showBubbleSize val="0"/>
            </c:dLbl>
            <c:dLbl>
              <c:idx val="3"/>
              <c:numFmt formatCode="&quot;$&quot;0&quot;k&quot;" sourceLinked="0"/>
              <c:spPr/>
              <c:txPr>
                <a:bodyPr/>
                <a:lstStyle/>
                <a:p>
                  <a:pPr>
                    <a:defRPr sz="1300" b="1" i="0" u="none" strike="noStrike">
                      <a:solidFill>
                        <a:srgbClr val="0B1D21"/>
                      </a:solidFill>
                      <a:latin typeface="+mn-lt"/>
                    </a:defRPr>
                  </a:pPr>
                </a:p>
              </c:txPr>
              <c:showLegendKey val="0"/>
              <c:showVal val="1"/>
              <c:showCatName val="0"/>
              <c:showSerName val="0"/>
              <c:showPercent val="0"/>
              <c:showBubbleSize val="0"/>
            </c:dLbl>
            <c:numFmt formatCode="&quot;$&quot;0&quot;k&quot;"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Waste</c:v>
                </c:pt>
                <c:pt idx="1">
                  <c:v>Inefficiency</c:v>
                </c:pt>
                <c:pt idx="2">
                  <c:v>Investment</c:v>
                </c:pt>
                <c:pt idx="3">
                  <c:v>Healthy baseline</c:v>
                </c:pt>
              </c:strCache>
            </c:strRef>
          </c:cat>
          <c:val>
            <c:numRef>
              <c:f>Sheet1!$B$2:$B$5</c:f>
              <c:numCache>
                <c:ptCount val="4"/>
                <c:pt idx="0">
                  <c:v>69</c:v>
                </c:pt>
                <c:pt idx="1">
                  <c:v>53</c:v>
                </c:pt>
                <c:pt idx="2">
                  <c:v>18</c:v>
                </c:pt>
                <c:pt idx="3">
                  <c:v>39</c:v>
                </c:pt>
              </c:numCache>
            </c:numRef>
          </c:val>
        </c:ser>
        <c:firstSliceAng val="0"/>
        <c:holeSize val="58"/>
      </c:doughnutChart>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2EEEC"/>
                </a:solidFill>
                <a:latin typeface="+mn-lt"/>
              </a:defRPr>
            </a:pPr>
            <a:r>
              <a:rPr sz="1400" b="0" i="0" u="none" strike="noStrike">
                <a:solidFill>
                  <a:srgbClr val="F2EEEC"/>
                </a:solidFill>
                <a:latin typeface="+mn-lt"/>
              </a:rPr>
              <a:t>Monthly run-rate, $k</a:t>
            </a:r>
          </a:p>
        </c:rich>
      </c:tx>
      <c:layout/>
      <c:overlay val="0"/>
    </c:title>
    <c:autoTitleDeleted val="0"/>
    <c:plotArea>
      <c:layout/>
      <c:barChart>
        <c:barDir val="col"/>
        <c:grouping val="clustered"/>
        <c:varyColors val="0"/>
        <c:ser>
          <c:idx val="0"/>
          <c:order val="0"/>
          <c:tx>
            <c:strRef>
              <c:f>Sheet1!$B$1</c:f>
              <c:strCache>
                <c:ptCount val="1"/>
                <c:pt idx="0">
                  <c:v>Monthly run-rate</c:v>
                </c:pt>
              </c:strCache>
            </c:strRef>
          </c:tx>
          <c:spPr>
            <a:solidFill>
              <a:srgbClr val="8FA3A8"/>
            </a:solidFill>
            <a:effectLst/>
          </c:spPr>
          <c:invertIfNegative val="0"/>
          <c:dLbls>
            <c:numFmt formatCode="&quot;$&quot;0&quot;k&quot;" sourceLinked="0"/>
            <c:txPr>
              <a:bodyPr/>
              <a:lstStyle/>
              <a:p>
                <a:pPr>
                  <a:defRPr b="1" i="0" strike="noStrike" sz="1300" u="none">
                    <a:solidFill>
                      <a:srgbClr val="F2EEEC"/>
                    </a:solidFill>
                    <a:latin typeface="+mn-lt"/>
                  </a:defRPr>
                </a:pPr>
              </a:p>
            </c:txPr>
            <c:showLegendKey val="0"/>
            <c:showVal val="1"/>
            <c:showCatName val="0"/>
            <c:showSerName val="0"/>
            <c:showPercent val="0"/>
            <c:showBubbleSize val="0"/>
            <c:showLeaderLines val="0"/>
          </c:dLbls>
          <c:dPt>
            <c:idx val="0"/>
            <c:invertIfNegative val="0"/>
            <c:bubble3D val="0"/>
            <c:spPr>
              <a:solidFill>
                <a:srgbClr val="8FA3A8"/>
              </a:solidFill>
              <a:effectLst/>
            </c:spPr>
          </c:dPt>
          <c:dPt>
            <c:idx val="1"/>
            <c:invertIfNegative val="0"/>
            <c:bubble3D val="0"/>
            <c:spPr>
              <a:solidFill>
                <a:srgbClr val="FF3621"/>
              </a:solidFill>
              <a:effectLst/>
            </c:spPr>
          </c:dPt>
          <c:dPt>
            <c:idx val="2"/>
            <c:invertIfNegative val="0"/>
            <c:bubble3D val="0"/>
            <c:spPr>
              <a:solidFill>
                <a:srgbClr val="FF3621"/>
              </a:solidFill>
              <a:effectLst/>
            </c:spPr>
          </c:dPt>
          <c:dPt>
            <c:idx val="3"/>
            <c:invertIfNegative val="0"/>
            <c:bubble3D val="0"/>
            <c:spPr>
              <a:solidFill>
                <a:srgbClr val="5FB4C9"/>
              </a:solidFill>
              <a:effectLst/>
            </c:spPr>
          </c:dPt>
          <c:cat>
            <c:multiLvlStrRef>
              <c:f>Sheet1!$A$2:$A$5</c:f>
              <c:multiLvlStrCache>
                <c:ptCount val="4"/>
                <c:lvl>
                  <c:pt idx="0">
                    <c:v>Today (Oct)</c:v>
                  </c:pt>
                  <c:pt idx="1">
                    <c:v>After this week</c:v>
                  </c:pt>
                  <c:pt idx="2">
                    <c:v>After dev policies</c:v>
                  </c:pt>
                  <c:pt idx="3">
                    <c:v>Q4 budget</c:v>
                  </c:pt>
                </c:lvl>
              </c:multiLvlStrCache>
            </c:multiLvlStrRef>
          </c:cat>
          <c:val>
            <c:numRef>
              <c:f>Sheet1!$B$2:$B$5</c:f>
              <c:numCache>
                <c:formatCode>General</c:formatCode>
                <c:ptCount val="4"/>
                <c:pt idx="0">
                  <c:v>179</c:v>
                </c:pt>
                <c:pt idx="1">
                  <c:v>82</c:v>
                </c:pt>
                <c:pt idx="2">
                  <c:v>73</c:v>
                </c:pt>
                <c:pt idx="3">
                  <c:v>61</c:v>
                </c:pt>
              </c:numCache>
            </c:numRef>
          </c:val>
        </c:ser>
        <c:dLbls>
          <c:numFmt formatCode="&quot;$&quot;0&quot;k&quot;" sourceLinked="0"/>
          <c:txPr>
            <a:bodyPr/>
            <a:lstStyle/>
            <a:p>
              <a:pPr>
                <a:defRPr b="1" i="0" strike="noStrike" sz="1300" u="none">
                  <a:solidFill>
                    <a:srgbClr val="F2EEEC"/>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9B8BB"/>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E4E55"/>
              </a:solidFill>
              <a:prstDash val="solid"/>
              <a:round/>
            </a:ln>
          </c:spPr>
        </c:majorGridlines>
        <c:numFmt formatCode="&quot;$&quot;0&quot;k&quot;" sourceLinked="0"/>
        <c:majorTickMark val="out"/>
        <c:minorTickMark val="none"/>
        <c:tickLblPos val="nextTo"/>
        <c:spPr>
          <a:ln w="12700" cap="flat">
            <a:noFill/>
            <a:prstDash val="solid"/>
            <a:round/>
          </a:ln>
        </c:spPr>
        <c:txPr>
          <a:bodyPr/>
          <a:lstStyle/>
          <a:p>
            <a:pPr>
              <a:defRPr sz="1100" b="0" i="0" u="none" strike="noStrike">
                <a:solidFill>
                  <a:srgbClr val="A9B8B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empathy and the bottom line. 'Michelle, you have a board finance committee in two weeks. Our goal today is to give you a number you can defend, a plan you can start Monday, and controls so this doesn't recur.' Don't explain the hero numbers yet; they're a teaser for the exec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the objectives and ask each person what a good outcome looks like. Michelle: the board story. David: proof the numbers are right, and governance that scales. Sarah: no blame and no slowdown before freeze. Ask permission: 'The data told me WHAT happened. I'd like 10 minutes to hear WHY from you before I show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listen, summarise back, and visibly write answers down. Adapt the rest of the pitch to what you hear: e.g. if the Stratus SOW has ended, move those savings from 'likely' to 'confirmed'. Ask the dashboard question neutrally ('how often is it viewed?'), never 'why did you make it refresh every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Michelle needs this slide most. One sentence: 'The problem is real, but the numbers you've been shown are wrong, and most of it is fixable without cutting Atlas.' If she asks 'can you hit 40%?': 'Yes, on run-rate, about 55%, and without the blanket cut.' Use '$90–106k' as a range because the Stratus and GPU items depend on today's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credibility moment. Michelle: 'Spend really has nearly quadrupled, but Finance's dashboard overstates it by about a third, so any plan built on it starts from a false baseline.' David: 'The cost table joined usage to list prices on SKU only. All-purpose compute has two price rows after the September repricing, so those rows were double-counted. I replaced it with a point-in-time join and reconciled row counts and DBUs to raw.' Don't blame Alex: 'the code was a reasonable first pass that was never 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changes, not the people. Each one was a sensible local decision: exploring faster, fresher sales data, an intraday forecast test, a faster exec dashboard. None had a guardrail or an owner watching cost. The September repricing explains about $10k of growth, so it's price, not usage. David will know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Michelle's 'are we getting anything for it?'. Point at green first: Atlas is the investment, so protect it. Some 'waste' items (contractor resources, GPU cluster) are pending today's discovery answers; say so. Ask Sarah to confirm the baseline workloads are business-critical, which builds her confidence that we're not targeting her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top three, then the total. Every fix is reversible and none touches production code before the freeze. For David: savings assume the warehouse returns to its pre-Sep-8 average, the GPU cluster runs 10% of the time, contractor resources go to zero, and the forecast job returns to its Jun–Jul average. Sarah: the dev policy is 60 minutes, not 10, and there's an exception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Sarah may ask 'so my team wasted $100k?'. Answer: 'No. Your teams moved fast, which is what you asked of them. The platform had no guardrails, no visibility and no change review. That's what we fix.' Give credit: shared-analytics already shows the right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dashboard. Keep it to about 8 minutes. Lead with the question, then show the answer: 'Michelle asked which team is responsible, so here it is by cost center, including what nobody owns.' Invite a live question. If the demo breaks, fall back to screenshots in the appendix. For David: 'It's a bundle in your repo. One command deploys it to any workspace.'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Sarah's concern is the freeze: phase 1 is configuration only, and phase 2 touches dev only, with an exception path. David's concern is recurrence: phases 2 and 3 are governance as code. Michelle: phase 1 alone takes the run-rate from $179k to about $82k. Ask: 'Who can approve the phase 1 changes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promise $61k a month. If Michelle pushes: 'I could get you there by cutting Atlas, and I'd advise strongly against it. It returns about $1.27M a month in incremental revenue.' Her one board sentence is on the closing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David's question is 'how do I know this won't recur with three more workspaces?'. Answer: it's code. Budgets alert but don't hard-stop; policies prevent. On ownership, David wants central, Sarah wants per-team. Propose both: platform owns the guardrails, teams own their budgets, and Finance chairs the monthly review. Then ask Michelle to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names and dates. Recap any decisions taken in the room. Offer: 'I'll send the dashboard link, the queries and this plan by 10am tomorrow.' If asked about credits, don't commit: it's a commercial conversation for the account team. The bigger lever is the run-rate we can fix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Michelle the sentence. Then stop talking and invite questions: 'What would you push back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David's deep-dive questions. Keep the SQL open in another tab in case he asks to see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57200"/>
            <a:ext cx="685800" cy="384048"/>
          </a:xfrm>
          <a:prstGeom prst="rect">
            <a:avLst/>
          </a:prstGeom>
        </p:spPr>
      </p:pic>
      <p:sp>
        <p:nvSpPr>
          <p:cNvPr id="3" name="Text 0"/>
          <p:cNvSpPr/>
          <p:nvPr>
            <p:ph idx="101" type="body" hasCustomPrompt="1"/>
          </p:nvPr>
        </p:nvSpPr>
        <p:spPr>
          <a:xfrm>
            <a:off x="548640" y="1417320"/>
            <a:ext cx="6949440" cy="36576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4" name="Text 0"/>
          <p:cNvSpPr/>
          <p:nvPr>
            <p:ph idx="102" type="title" hasCustomPrompt="1"/>
          </p:nvPr>
        </p:nvSpPr>
        <p:spPr>
          <a:xfrm>
            <a:off x="548640" y="1828800"/>
            <a:ext cx="6949440" cy="2011680"/>
          </a:xfrm>
          <a:prstGeom prst="rect">
            <a:avLst/>
          </a:prstGeom>
          <a:noFill/>
          <a:ln/>
        </p:spPr>
        <p:txBody>
          <a:bodyPr wrap="square" rtlCol="0"/>
          <a:lstStyle>
            <a:lvl1pPr algn="l" indent="0" marL="0">
              <a:buNone/>
              <a:defRPr lang="en-US" sz="4000" b="1" dirty="0">
                <a:solidFill>
                  <a:schemeClr val="bg2"/>
                </a:solidFill>
              </a:defRPr>
            </a:lvl1pPr>
          </a:lstStyle>
          <a:p>
            <a:pPr algn="l" indent="0" marL="0">
              <a:buNone/>
            </a:pPr>
            <a:endParaRPr lang="en-US" sz="4000" dirty="0"/>
          </a:p>
        </p:txBody>
      </p:sp>
      <p:sp>
        <p:nvSpPr>
          <p:cNvPr id="5" name="Text 0"/>
          <p:cNvSpPr/>
          <p:nvPr>
            <p:ph idx="103" type="body" hasCustomPrompt="1"/>
          </p:nvPr>
        </p:nvSpPr>
        <p:spPr>
          <a:xfrm>
            <a:off x="548640" y="4114800"/>
            <a:ext cx="6766560" cy="1280160"/>
          </a:xfrm>
          <a:prstGeom prst="rect">
            <a:avLst/>
          </a:prstGeom>
          <a:noFill/>
          <a:ln/>
        </p:spPr>
        <p:txBody>
          <a:bodyPr wrap="square" rtlCol="0"/>
          <a:lstStyle>
            <a:lvl1pPr indent="0" marL="0">
              <a:buNone/>
              <a:defRPr lang="en-US" sz="1500" dirty="0">
                <a:solidFill>
                  <a:schemeClr val="accent5"/>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tx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355080"/>
            <a:ext cx="347472" cy="192024"/>
          </a:xfrm>
          <a:prstGeom prst="rect">
            <a:avLst/>
          </a:prstGeom>
        </p:spPr>
      </p:pic>
      <p:sp>
        <p:nvSpPr>
          <p:cNvPr id="3" name="Text 0"/>
          <p:cNvSpPr/>
          <p:nvPr/>
        </p:nvSpPr>
        <p:spPr>
          <a:xfrm>
            <a:off x="1005840" y="6327648"/>
            <a:ext cx="5486400" cy="256032"/>
          </a:xfrm>
          <a:prstGeom prst="rect">
            <a:avLst/>
          </a:prstGeom>
          <a:noFill/>
          <a:ln/>
        </p:spPr>
        <p:txBody>
          <a:bodyPr wrap="square" lIns="0" tIns="0" rIns="0" bIns="0" rtlCol="0" anchor="ctr"/>
          <a:lstStyle/>
          <a:p>
            <a:pPr indent="0" marL="0">
              <a:buNone/>
            </a:pPr>
            <a:r>
              <a:rPr lang="en-US" sz="1000" dirty="0">
                <a:solidFill>
                  <a:schemeClr val="accent5"/>
                </a:solidFill>
              </a:rPr>
              <a:t>Cascade Outfitters · Databricks spend review · Confidential</a:t>
            </a:r>
            <a:endParaRPr lang="en-US" sz="1000" dirty="0"/>
          </a:p>
        </p:txBody>
      </p:sp>
      <p:sp>
        <p:nvSpPr>
          <p:cNvPr id="4" name="Text 1"/>
          <p:cNvSpPr/>
          <p:nvPr>
            <p:ph idx="102" type="body" hasCustomPrompt="1"/>
          </p:nvPr>
        </p:nvSpPr>
        <p:spPr>
          <a:xfrm>
            <a:off x="548640" y="347472"/>
            <a:ext cx="8229600"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40080"/>
            <a:ext cx="11064240" cy="685800"/>
          </a:xfrm>
          <a:prstGeom prst="rect">
            <a:avLst/>
          </a:prstGeom>
          <a:noFill/>
          <a:ln/>
        </p:spPr>
        <p:txBody>
          <a:bodyPr wrap="square" rtlCol="0"/>
          <a:lstStyle>
            <a:lvl1pPr algn="l" indent="0" marL="0">
              <a:buNone/>
              <a:defRPr lang="en-US" sz="3000" b="1" dirty="0">
                <a:solidFill>
                  <a:schemeClr val="bg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47120" y="63276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276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body" hasCustomPrompt="1"/>
          </p:nvPr>
        </p:nvSpPr>
        <p:spPr>
          <a:xfrm>
            <a:off x="548640" y="1417320"/>
            <a:ext cx="6949440" cy="365760"/>
          </a:xfrm>
          <a:prstGeom prst="rect">
            <a:avLst/>
          </a:prstGeom>
          <a:noFill/>
          <a:ln/>
        </p:spPr>
        <p:txBody>
          <a:bodyPr wrap="square" lIns="0" tIns="0" rIns="0" bIns="0" rtlCol="0"/>
          <a:lstStyle/>
          <a:p>
            <a:pPr indent="0" marL="0">
              <a:buNone/>
            </a:pPr>
            <a:r>
              <a:rPr lang="en-US" sz="1300" b="1" spc="200" kern="0" dirty="0">
                <a:solidFill>
                  <a:schemeClr val="accent1"/>
                </a:solidFill>
              </a:rPr>
              <a:t>CASCADE OUTFITTERS  ×  DATABRICKS</a:t>
            </a:r>
            <a:endParaRPr lang="en-US" sz="1300" dirty="0"/>
          </a:p>
        </p:txBody>
      </p:sp>
      <p:sp>
        <p:nvSpPr>
          <p:cNvPr id="3" name="Text 0"/>
          <p:cNvSpPr/>
          <p:nvPr>
            <p:ph idx="102" type="title" hasCustomPrompt="1"/>
          </p:nvPr>
        </p:nvSpPr>
        <p:spPr>
          <a:xfrm>
            <a:off x="548640" y="1828800"/>
            <a:ext cx="6949440" cy="2011680"/>
          </a:xfrm>
          <a:prstGeom prst="rect">
            <a:avLst/>
          </a:prstGeom>
          <a:noFill/>
          <a:ln/>
        </p:spPr>
        <p:txBody>
          <a:bodyPr wrap="square" lIns="0" tIns="0" rIns="0" bIns="0" rtlCol="0" anchor="t"/>
          <a:lstStyle/>
          <a:p>
            <a:pPr algn="l" indent="0" marL="0">
              <a:buNone/>
            </a:pPr>
            <a:r>
              <a:rPr lang="en-US" sz="4000" b="1" dirty="0">
                <a:solidFill>
                  <a:schemeClr val="bg2"/>
                </a:solidFill>
              </a:rPr>
              <a:t>Databricks spend: what happened, what it's worth, and the plan</a:t>
            </a:r>
            <a:endParaRPr lang="en-US" sz="4000" dirty="0"/>
          </a:p>
        </p:txBody>
      </p:sp>
      <p:sp>
        <p:nvSpPr>
          <p:cNvPr id="4" name="Text 0"/>
          <p:cNvSpPr/>
          <p:nvPr>
            <p:ph idx="103" type="body" hasCustomPrompt="1"/>
          </p:nvPr>
        </p:nvSpPr>
        <p:spPr>
          <a:xfrm>
            <a:off x="548640" y="4114800"/>
            <a:ext cx="6766560" cy="1280160"/>
          </a:xfrm>
          <a:prstGeom prst="rect">
            <a:avLst/>
          </a:prstGeom>
          <a:noFill/>
          <a:ln/>
        </p:spPr>
        <p:txBody>
          <a:bodyPr wrap="square" lIns="0" tIns="0" rIns="0" bIns="0" rtlCol="0" anchor="t"/>
          <a:lstStyle/>
          <a:p>
            <a:pPr indent="0" marL="0">
              <a:buNone/>
            </a:pPr>
            <a:r>
              <a:rPr lang="en-US" sz="1500" dirty="0">
                <a:solidFill>
                  <a:schemeClr val="accent5"/>
                </a:solidFill>
              </a:rPr>
              <a:t>Findings, live demo and a 90-day plan</a:t>
            </a:r>
            <a:endParaRPr lang="en-US" sz="1500" dirty="0"/>
          </a:p>
          <a:p>
            <a:pPr indent="0" marL="0">
              <a:buNone/>
            </a:pPr>
            <a:r>
              <a:rPr lang="en-US" sz="1500" dirty="0">
                <a:solidFill>
                  <a:schemeClr val="accent5"/>
                </a:solidFill>
              </a:rPr>
              <a:t>Prepared for Michelle Grant (COO), David Okonkwo (CTO) and Sarah Lindqvist (VP Engineering) · October 2026</a:t>
            </a:r>
            <a:endParaRPr lang="en-US" sz="1500" dirty="0"/>
          </a:p>
        </p:txBody>
      </p:sp>
      <p:sp>
        <p:nvSpPr>
          <p:cNvPr id="5" name="hero card"/>
          <p:cNvSpPr/>
          <p:nvPr/>
        </p:nvSpPr>
        <p:spPr>
          <a:xfrm>
            <a:off x="8001000" y="1417320"/>
            <a:ext cx="3657600" cy="3977640"/>
          </a:xfrm>
          <a:prstGeom prst="roundRect">
            <a:avLst>
              <a:gd name="adj" fmla="val 2000"/>
            </a:avLst>
          </a:prstGeom>
          <a:solidFill>
            <a:schemeClr val="tx2"/>
          </a:solidFill>
          <a:ln/>
        </p:spPr>
      </p:sp>
      <p:sp>
        <p:nvSpPr>
          <p:cNvPr id="6" name="Text 4"/>
          <p:cNvSpPr txBox="1"/>
          <p:nvPr/>
        </p:nvSpPr>
        <p:spPr>
          <a:xfrm>
            <a:off x="8366760" y="1737360"/>
            <a:ext cx="301752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MONTHLY RUN-RATE</a:t>
            </a:r>
            <a:endParaRPr lang="en-US" sz="1200" dirty="0"/>
          </a:p>
        </p:txBody>
      </p:sp>
      <p:sp>
        <p:nvSpPr>
          <p:cNvPr id="7" name="Text 5"/>
          <p:cNvSpPr txBox="1"/>
          <p:nvPr/>
        </p:nvSpPr>
        <p:spPr>
          <a:xfrm>
            <a:off x="8366760" y="2057400"/>
            <a:ext cx="3017520" cy="822960"/>
          </a:xfrm>
          <a:prstGeom prst="rect">
            <a:avLst/>
          </a:prstGeom>
          <a:noFill/>
          <a:ln/>
        </p:spPr>
        <p:txBody>
          <a:bodyPr wrap="square" lIns="0" tIns="0" rIns="0" bIns="0" rtlCol="0" anchor="t"/>
          <a:lstStyle/>
          <a:p>
            <a:pPr indent="0" marL="0">
              <a:buNone/>
            </a:pPr>
            <a:r>
              <a:rPr lang="en-US" sz="5400" b="1" dirty="0">
                <a:solidFill>
                  <a:schemeClr val="accent5"/>
                </a:solidFill>
              </a:rPr>
              <a:t>$179k</a:t>
            </a:r>
            <a:endParaRPr lang="en-US" sz="5400" dirty="0"/>
          </a:p>
        </p:txBody>
      </p:sp>
      <p:pic>
        <p:nvPicPr>
          <p:cNvPr id="8" name="Image 0" descr="preencoded.png">    </p:cNvPr>
          <p:cNvPicPr>
            <a:picLocks noChangeAspect="1"/>
          </p:cNvPicPr>
          <p:nvPr/>
        </p:nvPicPr>
        <p:blipFill>
          <a:blip r:embed="rId1"/>
          <a:stretch>
            <a:fillRect/>
          </a:stretch>
        </p:blipFill>
        <p:spPr>
          <a:xfrm>
            <a:off x="8412480" y="2971800"/>
            <a:ext cx="384048" cy="384048"/>
          </a:xfrm>
          <a:prstGeom prst="rect">
            <a:avLst/>
          </a:prstGeom>
        </p:spPr>
      </p:pic>
      <p:sp>
        <p:nvSpPr>
          <p:cNvPr id="9" name="Text 6"/>
          <p:cNvSpPr txBox="1"/>
          <p:nvPr/>
        </p:nvSpPr>
        <p:spPr>
          <a:xfrm>
            <a:off x="8366760" y="3429000"/>
            <a:ext cx="3017520" cy="822960"/>
          </a:xfrm>
          <a:prstGeom prst="rect">
            <a:avLst/>
          </a:prstGeom>
          <a:noFill/>
          <a:ln/>
        </p:spPr>
        <p:txBody>
          <a:bodyPr wrap="square" lIns="0" tIns="0" rIns="0" bIns="0" rtlCol="0" anchor="t"/>
          <a:lstStyle/>
          <a:p>
            <a:pPr indent="0" marL="0">
              <a:buNone/>
            </a:pPr>
            <a:r>
              <a:rPr lang="en-US" sz="5400" b="1" dirty="0">
                <a:solidFill>
                  <a:schemeClr val="accent1"/>
                </a:solidFill>
              </a:rPr>
              <a:t>~$75k</a:t>
            </a:r>
            <a:endParaRPr lang="en-US" sz="5400" dirty="0"/>
          </a:p>
        </p:txBody>
      </p:sp>
      <p:sp>
        <p:nvSpPr>
          <p:cNvPr id="10" name="Text 7"/>
          <p:cNvSpPr txBox="1"/>
          <p:nvPr/>
        </p:nvSpPr>
        <p:spPr>
          <a:xfrm>
            <a:off x="8366760" y="4343400"/>
            <a:ext cx="3017520" cy="822960"/>
          </a:xfrm>
          <a:prstGeom prst="rect">
            <a:avLst/>
          </a:prstGeom>
          <a:noFill/>
          <a:ln/>
        </p:spPr>
        <p:txBody>
          <a:bodyPr wrap="square" lIns="0" tIns="0" rIns="0" bIns="0" rtlCol="0" anchor="t"/>
          <a:lstStyle/>
          <a:p>
            <a:pPr indent="0" marL="0">
              <a:buNone/>
            </a:pPr>
            <a:r>
              <a:rPr lang="en-US" sz="1400" dirty="0">
                <a:solidFill>
                  <a:schemeClr val="bg2"/>
                </a:solidFill>
              </a:rPr>
              <a:t>without touching Project Atlas, the workload earning $1.27M a month</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TODAY'S OBJECTIVES</a:t>
            </a:r>
            <a:endParaRPr lang="en-US" sz="1200" dirty="0"/>
          </a:p>
        </p:txBody>
      </p:sp>
      <p:sp>
        <p:nvSpPr>
          <p:cNvPr id="3" name="Text 1"/>
          <p:cNvSpPr/>
          <p:nvPr>
            <p:ph idx="103"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000" b="1" dirty="0">
                <a:solidFill>
                  <a:schemeClr val="bg2"/>
                </a:solidFill>
              </a:rPr>
              <a:t>Three questions we'll answer in the next hour</a:t>
            </a:r>
            <a:endParaRPr lang="en-US" sz="3000" dirty="0"/>
          </a:p>
        </p:txBody>
      </p:sp>
      <p:sp>
        <p:nvSpPr>
          <p:cNvPr id="4" name="objective 1"/>
          <p:cNvSpPr/>
          <p:nvPr/>
        </p:nvSpPr>
        <p:spPr>
          <a:xfrm>
            <a:off x="548640" y="1600200"/>
            <a:ext cx="6035040" cy="1234440"/>
          </a:xfrm>
          <a:prstGeom prst="roundRect">
            <a:avLst>
              <a:gd name="adj" fmla="val 5926"/>
            </a:avLst>
          </a:prstGeom>
          <a:solidFill>
            <a:schemeClr val="accent6"/>
          </a:solidFill>
          <a:ln/>
        </p:spPr>
      </p:sp>
      <p:sp>
        <p:nvSpPr>
          <p:cNvPr id="5" name="Shape 3"/>
          <p:cNvSpPr/>
          <p:nvPr/>
        </p:nvSpPr>
        <p:spPr>
          <a:xfrm>
            <a:off x="777240" y="1892808"/>
            <a:ext cx="640080" cy="64008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937260" y="2052828"/>
            <a:ext cx="320040" cy="320040"/>
          </a:xfrm>
          <a:prstGeom prst="rect">
            <a:avLst/>
          </a:prstGeom>
        </p:spPr>
      </p:pic>
      <p:sp>
        <p:nvSpPr>
          <p:cNvPr id="7" name="Text 4"/>
          <p:cNvSpPr txBox="1"/>
          <p:nvPr/>
        </p:nvSpPr>
        <p:spPr>
          <a:xfrm>
            <a:off x="1645920" y="1828800"/>
            <a:ext cx="4754880" cy="365760"/>
          </a:xfrm>
          <a:prstGeom prst="rect">
            <a:avLst/>
          </a:prstGeom>
          <a:noFill/>
          <a:ln/>
        </p:spPr>
        <p:txBody>
          <a:bodyPr wrap="square" lIns="0" tIns="0" rIns="0" bIns="0" rtlCol="0" anchor="t"/>
          <a:lstStyle/>
          <a:p>
            <a:pPr indent="0" marL="0">
              <a:buNone/>
            </a:pPr>
            <a:r>
              <a:rPr lang="en-US" sz="1800" b="1" dirty="0">
                <a:solidFill>
                  <a:schemeClr val="bg2"/>
                </a:solidFill>
              </a:rPr>
              <a:t>Why did spend triple?</a:t>
            </a:r>
            <a:endParaRPr lang="en-US" sz="1800" dirty="0"/>
          </a:p>
        </p:txBody>
      </p:sp>
      <p:sp>
        <p:nvSpPr>
          <p:cNvPr id="8" name="Text 5"/>
          <p:cNvSpPr txBox="1"/>
          <p:nvPr/>
        </p:nvSpPr>
        <p:spPr>
          <a:xfrm>
            <a:off x="1645920" y="2221992"/>
            <a:ext cx="4754880" cy="548640"/>
          </a:xfrm>
          <a:prstGeom prst="rect">
            <a:avLst/>
          </a:prstGeom>
          <a:noFill/>
          <a:ln/>
        </p:spPr>
        <p:txBody>
          <a:bodyPr wrap="square" lIns="0" tIns="0" rIns="0" bIns="0" rtlCol="0" anchor="t"/>
          <a:lstStyle/>
          <a:p>
            <a:pPr indent="0" marL="0">
              <a:buNone/>
            </a:pPr>
            <a:r>
              <a:rPr lang="en-US" sz="1400" dirty="0">
                <a:solidFill>
                  <a:schemeClr val="accent5"/>
                </a:solidFill>
              </a:rPr>
              <a:t>A number you can trust, and which workloads, which changes, which dates</a:t>
            </a:r>
            <a:endParaRPr lang="en-US" sz="1400" dirty="0"/>
          </a:p>
        </p:txBody>
      </p:sp>
      <p:sp>
        <p:nvSpPr>
          <p:cNvPr id="9" name="objective 2"/>
          <p:cNvSpPr/>
          <p:nvPr/>
        </p:nvSpPr>
        <p:spPr>
          <a:xfrm>
            <a:off x="548640" y="3063240"/>
            <a:ext cx="6035040" cy="1234440"/>
          </a:xfrm>
          <a:prstGeom prst="roundRect">
            <a:avLst>
              <a:gd name="adj" fmla="val 5926"/>
            </a:avLst>
          </a:prstGeom>
          <a:solidFill>
            <a:schemeClr val="accent6"/>
          </a:solidFill>
          <a:ln/>
        </p:spPr>
      </p:sp>
      <p:sp>
        <p:nvSpPr>
          <p:cNvPr id="10" name="Shape 7"/>
          <p:cNvSpPr/>
          <p:nvPr/>
        </p:nvSpPr>
        <p:spPr>
          <a:xfrm>
            <a:off x="777240" y="3355848"/>
            <a:ext cx="640080" cy="64008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937260" y="3515868"/>
            <a:ext cx="320040" cy="320040"/>
          </a:xfrm>
          <a:prstGeom prst="rect">
            <a:avLst/>
          </a:prstGeom>
        </p:spPr>
      </p:pic>
      <p:sp>
        <p:nvSpPr>
          <p:cNvPr id="12" name="Text 8"/>
          <p:cNvSpPr txBox="1"/>
          <p:nvPr/>
        </p:nvSpPr>
        <p:spPr>
          <a:xfrm>
            <a:off x="1645920" y="3291840"/>
            <a:ext cx="4754880" cy="365760"/>
          </a:xfrm>
          <a:prstGeom prst="rect">
            <a:avLst/>
          </a:prstGeom>
          <a:noFill/>
          <a:ln/>
        </p:spPr>
        <p:txBody>
          <a:bodyPr wrap="square" lIns="0" tIns="0" rIns="0" bIns="0" rtlCol="0" anchor="t"/>
          <a:lstStyle/>
          <a:p>
            <a:pPr indent="0" marL="0">
              <a:buNone/>
            </a:pPr>
            <a:r>
              <a:rPr lang="en-US" sz="1800" b="1" dirty="0">
                <a:solidFill>
                  <a:schemeClr val="bg2"/>
                </a:solidFill>
              </a:rPr>
              <a:t>What is it worth?</a:t>
            </a:r>
            <a:endParaRPr lang="en-US" sz="1800" dirty="0"/>
          </a:p>
        </p:txBody>
      </p:sp>
      <p:sp>
        <p:nvSpPr>
          <p:cNvPr id="13" name="Text 9"/>
          <p:cNvSpPr txBox="1"/>
          <p:nvPr/>
        </p:nvSpPr>
        <p:spPr>
          <a:xfrm>
            <a:off x="1645920" y="3685032"/>
            <a:ext cx="4754880" cy="548640"/>
          </a:xfrm>
          <a:prstGeom prst="rect">
            <a:avLst/>
          </a:prstGeom>
          <a:noFill/>
          <a:ln/>
        </p:spPr>
        <p:txBody>
          <a:bodyPr wrap="square" lIns="0" tIns="0" rIns="0" bIns="0" rtlCol="0" anchor="t"/>
          <a:lstStyle/>
          <a:p>
            <a:pPr indent="0" marL="0">
              <a:buNone/>
            </a:pPr>
            <a:r>
              <a:rPr lang="en-US" sz="1400" dirty="0">
                <a:solidFill>
                  <a:schemeClr val="accent5"/>
                </a:solidFill>
              </a:rPr>
              <a:t>Separate waste from the spend that's earning money, and protect the latter</a:t>
            </a:r>
            <a:endParaRPr lang="en-US" sz="1400" dirty="0"/>
          </a:p>
        </p:txBody>
      </p:sp>
      <p:sp>
        <p:nvSpPr>
          <p:cNvPr id="14" name="objective 3"/>
          <p:cNvSpPr/>
          <p:nvPr/>
        </p:nvSpPr>
        <p:spPr>
          <a:xfrm>
            <a:off x="548640" y="4526280"/>
            <a:ext cx="6035040" cy="1234440"/>
          </a:xfrm>
          <a:prstGeom prst="roundRect">
            <a:avLst>
              <a:gd name="adj" fmla="val 5926"/>
            </a:avLst>
          </a:prstGeom>
          <a:solidFill>
            <a:schemeClr val="accent6"/>
          </a:solidFill>
          <a:ln/>
        </p:spPr>
      </p:sp>
      <p:sp>
        <p:nvSpPr>
          <p:cNvPr id="15" name="Shape 11"/>
          <p:cNvSpPr/>
          <p:nvPr/>
        </p:nvSpPr>
        <p:spPr>
          <a:xfrm>
            <a:off x="777240" y="4818888"/>
            <a:ext cx="640080" cy="640080"/>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937260" y="4978908"/>
            <a:ext cx="320040" cy="320040"/>
          </a:xfrm>
          <a:prstGeom prst="rect">
            <a:avLst/>
          </a:prstGeom>
        </p:spPr>
      </p:pic>
      <p:sp>
        <p:nvSpPr>
          <p:cNvPr id="17" name="Text 12"/>
          <p:cNvSpPr txBox="1"/>
          <p:nvPr/>
        </p:nvSpPr>
        <p:spPr>
          <a:xfrm>
            <a:off x="1645920" y="4754880"/>
            <a:ext cx="4754880" cy="365760"/>
          </a:xfrm>
          <a:prstGeom prst="rect">
            <a:avLst/>
          </a:prstGeom>
          <a:noFill/>
          <a:ln/>
        </p:spPr>
        <p:txBody>
          <a:bodyPr wrap="square" lIns="0" tIns="0" rIns="0" bIns="0" rtlCol="0" anchor="t"/>
          <a:lstStyle/>
          <a:p>
            <a:pPr indent="0" marL="0">
              <a:buNone/>
            </a:pPr>
            <a:r>
              <a:rPr lang="en-US" sz="1800" b="1" dirty="0">
                <a:solidFill>
                  <a:schemeClr val="bg2"/>
                </a:solidFill>
              </a:rPr>
              <a:t>How do we stop it recurring?</a:t>
            </a:r>
            <a:endParaRPr lang="en-US" sz="1800" dirty="0"/>
          </a:p>
        </p:txBody>
      </p:sp>
      <p:sp>
        <p:nvSpPr>
          <p:cNvPr id="18" name="Text 13"/>
          <p:cNvSpPr txBox="1"/>
          <p:nvPr/>
        </p:nvSpPr>
        <p:spPr>
          <a:xfrm>
            <a:off x="1645920" y="5148072"/>
            <a:ext cx="4754880" cy="548640"/>
          </a:xfrm>
          <a:prstGeom prst="rect">
            <a:avLst/>
          </a:prstGeom>
          <a:noFill/>
          <a:ln/>
        </p:spPr>
        <p:txBody>
          <a:bodyPr wrap="square" lIns="0" tIns="0" rIns="0" bIns="0" rtlCol="0" anchor="t"/>
          <a:lstStyle/>
          <a:p>
            <a:pPr indent="0" marL="0">
              <a:buNone/>
            </a:pPr>
            <a:r>
              <a:rPr lang="en-US" sz="1400" dirty="0">
                <a:solidFill>
                  <a:schemeClr val="accent5"/>
                </a:solidFill>
              </a:rPr>
              <a:t>Guardrails that don't slow engineering before the Nov 1 freeze</a:t>
            </a:r>
            <a:endParaRPr lang="en-US" sz="1400" dirty="0"/>
          </a:p>
        </p:txBody>
      </p:sp>
      <p:sp>
        <p:nvSpPr>
          <p:cNvPr id="19" name="Text 14"/>
          <p:cNvSpPr txBox="1"/>
          <p:nvPr/>
        </p:nvSpPr>
        <p:spPr>
          <a:xfrm>
            <a:off x="7132320" y="1600200"/>
            <a:ext cx="448056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AGENDA</a:t>
            </a:r>
            <a:endParaRPr lang="en-US" sz="1200" dirty="0"/>
          </a:p>
        </p:txBody>
      </p:sp>
      <p:sp>
        <p:nvSpPr>
          <p:cNvPr id="20" name="Shape 15"/>
          <p:cNvSpPr/>
          <p:nvPr/>
        </p:nvSpPr>
        <p:spPr>
          <a:xfrm>
            <a:off x="7132320" y="2011680"/>
            <a:ext cx="566928" cy="566928"/>
          </a:xfrm>
          <a:prstGeom prst="ellipse">
            <a:avLst/>
          </a:prstGeom>
          <a:solidFill>
            <a:schemeClr val="tx1"/>
          </a:solidFill>
          <a:ln w="19050">
            <a:solidFill>
              <a:schemeClr val="accent1"/>
            </a:solidFill>
            <a:prstDash val="solid"/>
          </a:ln>
        </p:spPr>
      </p:sp>
      <p:sp>
        <p:nvSpPr>
          <p:cNvPr id="21" name="Text 16"/>
          <p:cNvSpPr txBox="1"/>
          <p:nvPr/>
        </p:nvSpPr>
        <p:spPr>
          <a:xfrm>
            <a:off x="7132320" y="2011680"/>
            <a:ext cx="566928" cy="566928"/>
          </a:xfrm>
          <a:prstGeom prst="rect">
            <a:avLst/>
          </a:prstGeom>
          <a:noFill/>
          <a:ln/>
        </p:spPr>
        <p:txBody>
          <a:bodyPr wrap="square" lIns="0" tIns="0" rIns="0" bIns="0" rtlCol="0" anchor="ctr"/>
          <a:lstStyle/>
          <a:p>
            <a:pPr algn="ctr" indent="0" marL="0">
              <a:buNone/>
            </a:pPr>
            <a:r>
              <a:rPr lang="en-US" sz="1500" b="1" dirty="0">
                <a:solidFill>
                  <a:schemeClr val="accent1"/>
                </a:solidFill>
              </a:rPr>
              <a:t>5</a:t>
            </a:r>
            <a:endParaRPr lang="en-US" sz="1500" dirty="0"/>
          </a:p>
        </p:txBody>
      </p:sp>
      <p:sp>
        <p:nvSpPr>
          <p:cNvPr id="22" name="Text 17"/>
          <p:cNvSpPr txBox="1"/>
          <p:nvPr/>
        </p:nvSpPr>
        <p:spPr>
          <a:xfrm>
            <a:off x="7863840" y="2121408"/>
            <a:ext cx="3840480" cy="365760"/>
          </a:xfrm>
          <a:prstGeom prst="rect">
            <a:avLst/>
          </a:prstGeom>
          <a:noFill/>
          <a:ln/>
        </p:spPr>
        <p:txBody>
          <a:bodyPr wrap="square" lIns="0" tIns="0" rIns="0" bIns="0" rtlCol="0" anchor="t"/>
          <a:lstStyle/>
          <a:p>
            <a:pPr indent="0" marL="0">
              <a:buNone/>
            </a:pPr>
            <a:r>
              <a:rPr lang="en-US" sz="1500" dirty="0">
                <a:solidFill>
                  <a:schemeClr val="bg2"/>
                </a:solidFill>
              </a:rPr>
              <a:t>Objectives: did we get them right?</a:t>
            </a:r>
            <a:endParaRPr lang="en-US" sz="1500" dirty="0"/>
          </a:p>
        </p:txBody>
      </p:sp>
      <p:sp>
        <p:nvSpPr>
          <p:cNvPr id="23" name="Shape 18"/>
          <p:cNvSpPr/>
          <p:nvPr/>
        </p:nvSpPr>
        <p:spPr>
          <a:xfrm>
            <a:off x="7132320" y="2798064"/>
            <a:ext cx="566928" cy="566928"/>
          </a:xfrm>
          <a:prstGeom prst="ellipse">
            <a:avLst/>
          </a:prstGeom>
          <a:solidFill>
            <a:schemeClr val="tx1"/>
          </a:solidFill>
          <a:ln w="19050">
            <a:solidFill>
              <a:schemeClr val="accent1"/>
            </a:solidFill>
            <a:prstDash val="solid"/>
          </a:ln>
        </p:spPr>
      </p:sp>
      <p:sp>
        <p:nvSpPr>
          <p:cNvPr id="24" name="Text 19"/>
          <p:cNvSpPr txBox="1"/>
          <p:nvPr/>
        </p:nvSpPr>
        <p:spPr>
          <a:xfrm>
            <a:off x="7132320" y="2798064"/>
            <a:ext cx="566928" cy="566928"/>
          </a:xfrm>
          <a:prstGeom prst="rect">
            <a:avLst/>
          </a:prstGeom>
          <a:noFill/>
          <a:ln/>
        </p:spPr>
        <p:txBody>
          <a:bodyPr wrap="square" lIns="0" tIns="0" rIns="0" bIns="0" rtlCol="0" anchor="ctr"/>
          <a:lstStyle/>
          <a:p>
            <a:pPr algn="ctr" indent="0" marL="0">
              <a:buNone/>
            </a:pPr>
            <a:r>
              <a:rPr lang="en-US" sz="1500" b="1" dirty="0">
                <a:solidFill>
                  <a:schemeClr val="accent1"/>
                </a:solidFill>
              </a:rPr>
              <a:t>10</a:t>
            </a:r>
            <a:endParaRPr lang="en-US" sz="1500" dirty="0"/>
          </a:p>
        </p:txBody>
      </p:sp>
      <p:sp>
        <p:nvSpPr>
          <p:cNvPr id="25" name="Text 20"/>
          <p:cNvSpPr txBox="1"/>
          <p:nvPr/>
        </p:nvSpPr>
        <p:spPr>
          <a:xfrm>
            <a:off x="7863840" y="2907792"/>
            <a:ext cx="3840480" cy="365760"/>
          </a:xfrm>
          <a:prstGeom prst="rect">
            <a:avLst/>
          </a:prstGeom>
          <a:noFill/>
          <a:ln/>
        </p:spPr>
        <p:txBody>
          <a:bodyPr wrap="square" lIns="0" tIns="0" rIns="0" bIns="0" rtlCol="0" anchor="t"/>
          <a:lstStyle/>
          <a:p>
            <a:pPr indent="0" marL="0">
              <a:buNone/>
            </a:pPr>
            <a:r>
              <a:rPr lang="en-US" sz="1500" dirty="0">
                <a:solidFill>
                  <a:schemeClr val="bg2"/>
                </a:solidFill>
              </a:rPr>
              <a:t>Your context: what the data can't tell us</a:t>
            </a:r>
            <a:endParaRPr lang="en-US" sz="1500" dirty="0"/>
          </a:p>
        </p:txBody>
      </p:sp>
      <p:sp>
        <p:nvSpPr>
          <p:cNvPr id="26" name="Shape 21"/>
          <p:cNvSpPr/>
          <p:nvPr/>
        </p:nvSpPr>
        <p:spPr>
          <a:xfrm>
            <a:off x="7132320" y="3584448"/>
            <a:ext cx="566928" cy="566928"/>
          </a:xfrm>
          <a:prstGeom prst="ellipse">
            <a:avLst/>
          </a:prstGeom>
          <a:solidFill>
            <a:schemeClr val="tx1"/>
          </a:solidFill>
          <a:ln w="19050">
            <a:solidFill>
              <a:schemeClr val="accent1"/>
            </a:solidFill>
            <a:prstDash val="solid"/>
          </a:ln>
        </p:spPr>
      </p:sp>
      <p:sp>
        <p:nvSpPr>
          <p:cNvPr id="27" name="Text 22"/>
          <p:cNvSpPr txBox="1"/>
          <p:nvPr/>
        </p:nvSpPr>
        <p:spPr>
          <a:xfrm>
            <a:off x="7132320" y="3584448"/>
            <a:ext cx="566928" cy="566928"/>
          </a:xfrm>
          <a:prstGeom prst="rect">
            <a:avLst/>
          </a:prstGeom>
          <a:noFill/>
          <a:ln/>
        </p:spPr>
        <p:txBody>
          <a:bodyPr wrap="square" lIns="0" tIns="0" rIns="0" bIns="0" rtlCol="0" anchor="ctr"/>
          <a:lstStyle/>
          <a:p>
            <a:pPr algn="ctr" indent="0" marL="0">
              <a:buNone/>
            </a:pPr>
            <a:r>
              <a:rPr lang="en-US" sz="1500" b="1" dirty="0">
                <a:solidFill>
                  <a:schemeClr val="accent1"/>
                </a:solidFill>
              </a:rPr>
              <a:t>20</a:t>
            </a:r>
            <a:endParaRPr lang="en-US" sz="1500" dirty="0"/>
          </a:p>
        </p:txBody>
      </p:sp>
      <p:sp>
        <p:nvSpPr>
          <p:cNvPr id="28" name="Text 23"/>
          <p:cNvSpPr txBox="1"/>
          <p:nvPr/>
        </p:nvSpPr>
        <p:spPr>
          <a:xfrm>
            <a:off x="7863840" y="3694176"/>
            <a:ext cx="3840480" cy="365760"/>
          </a:xfrm>
          <a:prstGeom prst="rect">
            <a:avLst/>
          </a:prstGeom>
          <a:noFill/>
          <a:ln/>
        </p:spPr>
        <p:txBody>
          <a:bodyPr wrap="square" lIns="0" tIns="0" rIns="0" bIns="0" rtlCol="0" anchor="t"/>
          <a:lstStyle/>
          <a:p>
            <a:pPr indent="0" marL="0">
              <a:buNone/>
            </a:pPr>
            <a:r>
              <a:rPr lang="en-US" sz="1500" dirty="0">
                <a:solidFill>
                  <a:schemeClr val="bg2"/>
                </a:solidFill>
              </a:rPr>
              <a:t>Findings and live demo</a:t>
            </a:r>
            <a:endParaRPr lang="en-US" sz="1500" dirty="0"/>
          </a:p>
        </p:txBody>
      </p:sp>
      <p:sp>
        <p:nvSpPr>
          <p:cNvPr id="29" name="Shape 24"/>
          <p:cNvSpPr/>
          <p:nvPr/>
        </p:nvSpPr>
        <p:spPr>
          <a:xfrm>
            <a:off x="7132320" y="4370832"/>
            <a:ext cx="566928" cy="566928"/>
          </a:xfrm>
          <a:prstGeom prst="ellipse">
            <a:avLst/>
          </a:prstGeom>
          <a:solidFill>
            <a:schemeClr val="tx1"/>
          </a:solidFill>
          <a:ln w="19050">
            <a:solidFill>
              <a:schemeClr val="accent1"/>
            </a:solidFill>
            <a:prstDash val="solid"/>
          </a:ln>
        </p:spPr>
      </p:sp>
      <p:sp>
        <p:nvSpPr>
          <p:cNvPr id="30" name="Text 25"/>
          <p:cNvSpPr txBox="1"/>
          <p:nvPr/>
        </p:nvSpPr>
        <p:spPr>
          <a:xfrm>
            <a:off x="7132320" y="4370832"/>
            <a:ext cx="566928" cy="566928"/>
          </a:xfrm>
          <a:prstGeom prst="rect">
            <a:avLst/>
          </a:prstGeom>
          <a:noFill/>
          <a:ln/>
        </p:spPr>
        <p:txBody>
          <a:bodyPr wrap="square" lIns="0" tIns="0" rIns="0" bIns="0" rtlCol="0" anchor="ctr"/>
          <a:lstStyle/>
          <a:p>
            <a:pPr algn="ctr" indent="0" marL="0">
              <a:buNone/>
            </a:pPr>
            <a:r>
              <a:rPr lang="en-US" sz="1500" b="1" dirty="0">
                <a:solidFill>
                  <a:schemeClr val="accent1"/>
                </a:solidFill>
              </a:rPr>
              <a:t>15</a:t>
            </a:r>
            <a:endParaRPr lang="en-US" sz="1500" dirty="0"/>
          </a:p>
        </p:txBody>
      </p:sp>
      <p:sp>
        <p:nvSpPr>
          <p:cNvPr id="31" name="Text 26"/>
          <p:cNvSpPr txBox="1"/>
          <p:nvPr/>
        </p:nvSpPr>
        <p:spPr>
          <a:xfrm>
            <a:off x="7863840" y="4480560"/>
            <a:ext cx="3840480" cy="365760"/>
          </a:xfrm>
          <a:prstGeom prst="rect">
            <a:avLst/>
          </a:prstGeom>
          <a:noFill/>
          <a:ln/>
        </p:spPr>
        <p:txBody>
          <a:bodyPr wrap="square" lIns="0" tIns="0" rIns="0" bIns="0" rtlCol="0" anchor="t"/>
          <a:lstStyle/>
          <a:p>
            <a:pPr indent="0" marL="0">
              <a:buNone/>
            </a:pPr>
            <a:r>
              <a:rPr lang="en-US" sz="1500" dirty="0">
                <a:solidFill>
                  <a:schemeClr val="bg2"/>
                </a:solidFill>
              </a:rPr>
              <a:t>Plan, trade-offs and your questions</a:t>
            </a:r>
            <a:endParaRPr lang="en-US" sz="1500" dirty="0"/>
          </a:p>
        </p:txBody>
      </p:sp>
      <p:sp>
        <p:nvSpPr>
          <p:cNvPr id="32" name="Shape 27"/>
          <p:cNvSpPr/>
          <p:nvPr/>
        </p:nvSpPr>
        <p:spPr>
          <a:xfrm>
            <a:off x="7132320" y="5157216"/>
            <a:ext cx="566928" cy="566928"/>
          </a:xfrm>
          <a:prstGeom prst="ellipse">
            <a:avLst/>
          </a:prstGeom>
          <a:solidFill>
            <a:schemeClr val="tx1"/>
          </a:solidFill>
          <a:ln w="19050">
            <a:solidFill>
              <a:schemeClr val="accent1"/>
            </a:solidFill>
            <a:prstDash val="solid"/>
          </a:ln>
        </p:spPr>
      </p:sp>
      <p:sp>
        <p:nvSpPr>
          <p:cNvPr id="33" name="Text 28"/>
          <p:cNvSpPr txBox="1"/>
          <p:nvPr/>
        </p:nvSpPr>
        <p:spPr>
          <a:xfrm>
            <a:off x="7132320" y="5157216"/>
            <a:ext cx="566928" cy="566928"/>
          </a:xfrm>
          <a:prstGeom prst="rect">
            <a:avLst/>
          </a:prstGeom>
          <a:noFill/>
          <a:ln/>
        </p:spPr>
        <p:txBody>
          <a:bodyPr wrap="square" lIns="0" tIns="0" rIns="0" bIns="0" rtlCol="0" anchor="ctr"/>
          <a:lstStyle/>
          <a:p>
            <a:pPr algn="ctr" indent="0" marL="0">
              <a:buNone/>
            </a:pPr>
            <a:r>
              <a:rPr lang="en-US" sz="1500" b="1" dirty="0">
                <a:solidFill>
                  <a:schemeClr val="accent1"/>
                </a:solidFill>
              </a:rPr>
              <a:t>5</a:t>
            </a:r>
            <a:endParaRPr lang="en-US" sz="1500" dirty="0"/>
          </a:p>
        </p:txBody>
      </p:sp>
      <p:sp>
        <p:nvSpPr>
          <p:cNvPr id="34" name="Text 29"/>
          <p:cNvSpPr txBox="1"/>
          <p:nvPr/>
        </p:nvSpPr>
        <p:spPr>
          <a:xfrm>
            <a:off x="7863840" y="5266944"/>
            <a:ext cx="3840480" cy="365760"/>
          </a:xfrm>
          <a:prstGeom prst="rect">
            <a:avLst/>
          </a:prstGeom>
          <a:noFill/>
          <a:ln/>
        </p:spPr>
        <p:txBody>
          <a:bodyPr wrap="square" lIns="0" tIns="0" rIns="0" bIns="0" rtlCol="0" anchor="t"/>
          <a:lstStyle/>
          <a:p>
            <a:pPr indent="0" marL="0">
              <a:buNone/>
            </a:pPr>
            <a:r>
              <a:rPr lang="en-US" sz="1500" dirty="0">
                <a:solidFill>
                  <a:schemeClr val="bg2"/>
                </a:solidFill>
              </a:rPr>
              <a:t>Decisions, owners and dates</a:t>
            </a:r>
            <a:endParaRPr lang="en-US" sz="1500" dirty="0"/>
          </a:p>
        </p:txBody>
      </p:sp>
      <p:sp>
        <p:nvSpPr>
          <p:cNvPr id="35" name="Text 30"/>
          <p:cNvSpPr txBox="1"/>
          <p:nvPr/>
        </p:nvSpPr>
        <p:spPr>
          <a:xfrm>
            <a:off x="7132320" y="5943600"/>
            <a:ext cx="1828800" cy="228600"/>
          </a:xfrm>
          <a:prstGeom prst="rect">
            <a:avLst/>
          </a:prstGeom>
          <a:noFill/>
          <a:ln/>
        </p:spPr>
        <p:txBody>
          <a:bodyPr wrap="square" lIns="0" tIns="0" rIns="0" bIns="0" rtlCol="0" anchor="t"/>
          <a:lstStyle/>
          <a:p>
            <a:pPr indent="0" marL="0">
              <a:buNone/>
            </a:pPr>
            <a:r>
              <a:rPr lang="en-US" sz="1000" dirty="0">
                <a:solidFill>
                  <a:schemeClr val="accent5"/>
                </a:solidFill>
              </a:rPr>
              <a:t>minutes</a:t>
            </a:r>
            <a:endParaRPr lang="en-US" sz="1000" dirty="0"/>
          </a:p>
        </p:txBody>
      </p:sp>
      <p:sp>
        <p:nvSpPr>
          <p:cNvPr id="25" name="Slide Number Placeholder 0"/>
          <p:cNvSpPr>
            <a:spLocks noGrp="1"/>
          </p:cNvSpPr>
          <p:nvPr>
            <p:ph type="sldNum" sz="quarter" idx="4294967295"/>
          </p:nvPr>
        </p:nvSpPr>
        <p:spPr>
          <a:xfrm>
            <a:off x="11247120" y="63276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DISCOVERY</a:t>
            </a:r>
            <a:endParaRPr lang="en-US" sz="1200" dirty="0"/>
          </a:p>
        </p:txBody>
      </p:sp>
      <p:sp>
        <p:nvSpPr>
          <p:cNvPr id="3" name="Text 1"/>
          <p:cNvSpPr/>
          <p:nvPr>
            <p:ph idx="103"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000" b="1" dirty="0">
                <a:solidFill>
                  <a:schemeClr val="bg2"/>
                </a:solidFill>
              </a:rPr>
              <a:t>Before the findings: what only you can tell us</a:t>
            </a:r>
            <a:endParaRPr lang="en-US" sz="3000" dirty="0"/>
          </a:p>
        </p:txBody>
      </p:sp>
      <p:sp>
        <p:nvSpPr>
          <p:cNvPr id="4" name="question 1"/>
          <p:cNvSpPr/>
          <p:nvPr/>
        </p:nvSpPr>
        <p:spPr>
          <a:xfrm>
            <a:off x="548640" y="1600200"/>
            <a:ext cx="3520440" cy="2011680"/>
          </a:xfrm>
          <a:prstGeom prst="roundRect">
            <a:avLst>
              <a:gd name="adj" fmla="val 3636"/>
            </a:avLst>
          </a:prstGeom>
          <a:solidFill>
            <a:schemeClr val="accent6"/>
          </a:solidFill>
          <a:ln/>
        </p:spPr>
      </p:sp>
      <p:sp>
        <p:nvSpPr>
          <p:cNvPr id="5" name="Shape 3"/>
          <p:cNvSpPr/>
          <p:nvPr/>
        </p:nvSpPr>
        <p:spPr>
          <a:xfrm>
            <a:off x="777240" y="1828800"/>
            <a:ext cx="502920" cy="50292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902970" y="1954530"/>
            <a:ext cx="251460" cy="251460"/>
          </a:xfrm>
          <a:prstGeom prst="rect">
            <a:avLst/>
          </a:prstGeom>
        </p:spPr>
      </p:pic>
      <p:sp>
        <p:nvSpPr>
          <p:cNvPr id="7" name="Text 4"/>
          <p:cNvSpPr txBox="1"/>
          <p:nvPr/>
        </p:nvSpPr>
        <p:spPr>
          <a:xfrm>
            <a:off x="1417320" y="1938528"/>
            <a:ext cx="23774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MICHELLE</a:t>
            </a:r>
            <a:endParaRPr lang="en-US" sz="1200" dirty="0"/>
          </a:p>
        </p:txBody>
      </p:sp>
      <p:sp>
        <p:nvSpPr>
          <p:cNvPr id="8" name="Text 5"/>
          <p:cNvSpPr txBox="1"/>
          <p:nvPr/>
        </p:nvSpPr>
        <p:spPr>
          <a:xfrm>
            <a:off x="777240" y="2468880"/>
            <a:ext cx="3063240" cy="1051560"/>
          </a:xfrm>
          <a:prstGeom prst="rect">
            <a:avLst/>
          </a:prstGeom>
          <a:noFill/>
          <a:ln/>
        </p:spPr>
        <p:txBody>
          <a:bodyPr wrap="square" lIns="0" tIns="0" rIns="0" bIns="0" rtlCol="0" anchor="t"/>
          <a:lstStyle/>
          <a:p>
            <a:pPr indent="0" marL="0">
              <a:buNone/>
            </a:pPr>
            <a:r>
              <a:rPr lang="en-US" sz="1400" dirty="0">
                <a:solidFill>
                  <a:schemeClr val="bg2"/>
                </a:solidFill>
              </a:rPr>
              <a:t>What does the board need to see in two weeks: a number, a trend or a plan? How firm is the Q4 budget?</a:t>
            </a:r>
            <a:endParaRPr lang="en-US" sz="1400" dirty="0"/>
          </a:p>
        </p:txBody>
      </p:sp>
      <p:sp>
        <p:nvSpPr>
          <p:cNvPr id="9" name="question 2"/>
          <p:cNvSpPr/>
          <p:nvPr/>
        </p:nvSpPr>
        <p:spPr>
          <a:xfrm>
            <a:off x="4297680" y="1600200"/>
            <a:ext cx="3520440" cy="2011680"/>
          </a:xfrm>
          <a:prstGeom prst="roundRect">
            <a:avLst>
              <a:gd name="adj" fmla="val 3636"/>
            </a:avLst>
          </a:prstGeom>
          <a:solidFill>
            <a:schemeClr val="accent6"/>
          </a:solidFill>
          <a:ln/>
        </p:spPr>
      </p:sp>
      <p:sp>
        <p:nvSpPr>
          <p:cNvPr id="10" name="Shape 7"/>
          <p:cNvSpPr/>
          <p:nvPr/>
        </p:nvSpPr>
        <p:spPr>
          <a:xfrm>
            <a:off x="4526280" y="1828800"/>
            <a:ext cx="502920" cy="50292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4652010" y="1954530"/>
            <a:ext cx="251460" cy="251460"/>
          </a:xfrm>
          <a:prstGeom prst="rect">
            <a:avLst/>
          </a:prstGeom>
        </p:spPr>
      </p:pic>
      <p:sp>
        <p:nvSpPr>
          <p:cNvPr id="12" name="Text 8"/>
          <p:cNvSpPr txBox="1"/>
          <p:nvPr/>
        </p:nvSpPr>
        <p:spPr>
          <a:xfrm>
            <a:off x="5166360" y="1938528"/>
            <a:ext cx="23774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MICHELLE</a:t>
            </a:r>
            <a:endParaRPr lang="en-US" sz="1200" dirty="0"/>
          </a:p>
        </p:txBody>
      </p:sp>
      <p:sp>
        <p:nvSpPr>
          <p:cNvPr id="13" name="Text 9"/>
          <p:cNvSpPr txBox="1"/>
          <p:nvPr/>
        </p:nvSpPr>
        <p:spPr>
          <a:xfrm>
            <a:off x="4526280" y="2468880"/>
            <a:ext cx="3063240" cy="1051560"/>
          </a:xfrm>
          <a:prstGeom prst="rect">
            <a:avLst/>
          </a:prstGeom>
          <a:noFill/>
          <a:ln/>
        </p:spPr>
        <p:txBody>
          <a:bodyPr wrap="square" lIns="0" tIns="0" rIns="0" bIns="0" rtlCol="0" anchor="t"/>
          <a:lstStyle/>
          <a:p>
            <a:pPr indent="0" marL="0">
              <a:buNone/>
            </a:pPr>
            <a:r>
              <a:rPr lang="en-US" sz="1400" dirty="0">
                <a:solidFill>
                  <a:schemeClr val="bg2"/>
                </a:solidFill>
              </a:rPr>
              <a:t>How is Project Atlas measured and reported? Who uses the executive dashboard, and how often?</a:t>
            </a:r>
            <a:endParaRPr lang="en-US" sz="1400" dirty="0"/>
          </a:p>
        </p:txBody>
      </p:sp>
      <p:sp>
        <p:nvSpPr>
          <p:cNvPr id="14" name="question 3"/>
          <p:cNvSpPr/>
          <p:nvPr/>
        </p:nvSpPr>
        <p:spPr>
          <a:xfrm>
            <a:off x="8046720" y="1600200"/>
            <a:ext cx="3520440" cy="2011680"/>
          </a:xfrm>
          <a:prstGeom prst="roundRect">
            <a:avLst>
              <a:gd name="adj" fmla="val 3636"/>
            </a:avLst>
          </a:prstGeom>
          <a:solidFill>
            <a:schemeClr val="accent6"/>
          </a:solidFill>
          <a:ln/>
        </p:spPr>
      </p:sp>
      <p:sp>
        <p:nvSpPr>
          <p:cNvPr id="15" name="Shape 11"/>
          <p:cNvSpPr/>
          <p:nvPr/>
        </p:nvSpPr>
        <p:spPr>
          <a:xfrm>
            <a:off x="8275320" y="1828800"/>
            <a:ext cx="502920" cy="502920"/>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8401050" y="1954530"/>
            <a:ext cx="251460" cy="251460"/>
          </a:xfrm>
          <a:prstGeom prst="rect">
            <a:avLst/>
          </a:prstGeom>
        </p:spPr>
      </p:pic>
      <p:sp>
        <p:nvSpPr>
          <p:cNvPr id="17" name="Text 12"/>
          <p:cNvSpPr txBox="1"/>
          <p:nvPr/>
        </p:nvSpPr>
        <p:spPr>
          <a:xfrm>
            <a:off x="8915400" y="1938528"/>
            <a:ext cx="23774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DAVID</a:t>
            </a:r>
            <a:endParaRPr lang="en-US" sz="1200" dirty="0"/>
          </a:p>
        </p:txBody>
      </p:sp>
      <p:sp>
        <p:nvSpPr>
          <p:cNvPr id="18" name="Text 13"/>
          <p:cNvSpPr txBox="1"/>
          <p:nvPr/>
        </p:nvSpPr>
        <p:spPr>
          <a:xfrm>
            <a:off x="8275320" y="2468880"/>
            <a:ext cx="3063240" cy="1051560"/>
          </a:xfrm>
          <a:prstGeom prst="rect">
            <a:avLst/>
          </a:prstGeom>
          <a:noFill/>
          <a:ln/>
        </p:spPr>
        <p:txBody>
          <a:bodyPr wrap="square" lIns="0" tIns="0" rIns="0" bIns="0" rtlCol="0" anchor="t"/>
          <a:lstStyle/>
          <a:p>
            <a:pPr indent="0" marL="0">
              <a:buNone/>
            </a:pPr>
            <a:r>
              <a:rPr lang="en-US" sz="1400" dirty="0">
                <a:solidFill>
                  <a:schemeClr val="bg2"/>
                </a:solidFill>
              </a:rPr>
              <a:t>Who are Stratus Partners, and is that engagement still active? Who reads the clickstream backfill output?</a:t>
            </a:r>
            <a:endParaRPr lang="en-US" sz="1400" dirty="0"/>
          </a:p>
        </p:txBody>
      </p:sp>
      <p:sp>
        <p:nvSpPr>
          <p:cNvPr id="19" name="question 4"/>
          <p:cNvSpPr/>
          <p:nvPr/>
        </p:nvSpPr>
        <p:spPr>
          <a:xfrm>
            <a:off x="548640" y="3840480"/>
            <a:ext cx="3520440" cy="2011680"/>
          </a:xfrm>
          <a:prstGeom prst="roundRect">
            <a:avLst>
              <a:gd name="adj" fmla="val 3636"/>
            </a:avLst>
          </a:prstGeom>
          <a:solidFill>
            <a:schemeClr val="accent6"/>
          </a:solidFill>
          <a:ln/>
        </p:spPr>
      </p:sp>
      <p:sp>
        <p:nvSpPr>
          <p:cNvPr id="20" name="Shape 15"/>
          <p:cNvSpPr/>
          <p:nvPr/>
        </p:nvSpPr>
        <p:spPr>
          <a:xfrm>
            <a:off x="777240" y="4069080"/>
            <a:ext cx="502920" cy="502920"/>
          </a:xfrm>
          <a:prstGeom prst="ellipse">
            <a:avLst/>
          </a:prstGeom>
          <a:solidFill>
            <a:schemeClr val="accent1"/>
          </a:solidFill>
          <a:ln/>
        </p:spPr>
      </p:sp>
      <p:pic>
        <p:nvPicPr>
          <p:cNvPr id="21" name="Image 3" descr="preencoded.png">    </p:cNvPr>
          <p:cNvPicPr>
            <a:picLocks noChangeAspect="1"/>
          </p:cNvPicPr>
          <p:nvPr/>
        </p:nvPicPr>
        <p:blipFill>
          <a:blip r:embed="rId4"/>
          <a:stretch>
            <a:fillRect/>
          </a:stretch>
        </p:blipFill>
        <p:spPr>
          <a:xfrm>
            <a:off x="902970" y="4194810"/>
            <a:ext cx="251460" cy="251460"/>
          </a:xfrm>
          <a:prstGeom prst="rect">
            <a:avLst/>
          </a:prstGeom>
        </p:spPr>
      </p:pic>
      <p:sp>
        <p:nvSpPr>
          <p:cNvPr id="22" name="Text 16"/>
          <p:cNvSpPr txBox="1"/>
          <p:nvPr/>
        </p:nvSpPr>
        <p:spPr>
          <a:xfrm>
            <a:off x="1417320" y="4178808"/>
            <a:ext cx="23774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DAVID</a:t>
            </a:r>
            <a:endParaRPr lang="en-US" sz="1200" dirty="0"/>
          </a:p>
        </p:txBody>
      </p:sp>
      <p:sp>
        <p:nvSpPr>
          <p:cNvPr id="23" name="Text 17"/>
          <p:cNvSpPr txBox="1"/>
          <p:nvPr/>
        </p:nvSpPr>
        <p:spPr>
          <a:xfrm>
            <a:off x="777240" y="4709160"/>
            <a:ext cx="3063240" cy="1051560"/>
          </a:xfrm>
          <a:prstGeom prst="rect">
            <a:avLst/>
          </a:prstGeom>
          <a:noFill/>
          <a:ln/>
        </p:spPr>
        <p:txBody>
          <a:bodyPr wrap="square" lIns="0" tIns="0" rIns="0" bIns="0" rtlCol="0" anchor="t"/>
          <a:lstStyle/>
          <a:p>
            <a:pPr indent="0" marL="0">
              <a:buNone/>
            </a:pPr>
            <a:r>
              <a:rPr lang="en-US" sz="1400" dirty="0">
                <a:solidFill>
                  <a:schemeClr val="bg2"/>
                </a:solidFill>
              </a:rPr>
              <a:t>Any recent pricing or contract changes? Are budgets, alerts or compute policies in place today?</a:t>
            </a:r>
            <a:endParaRPr lang="en-US" sz="1400" dirty="0"/>
          </a:p>
        </p:txBody>
      </p:sp>
      <p:sp>
        <p:nvSpPr>
          <p:cNvPr id="24" name="question 5"/>
          <p:cNvSpPr/>
          <p:nvPr/>
        </p:nvSpPr>
        <p:spPr>
          <a:xfrm>
            <a:off x="4297680" y="3840480"/>
            <a:ext cx="3520440" cy="2011680"/>
          </a:xfrm>
          <a:prstGeom prst="roundRect">
            <a:avLst>
              <a:gd name="adj" fmla="val 3636"/>
            </a:avLst>
          </a:prstGeom>
          <a:solidFill>
            <a:schemeClr val="accent6"/>
          </a:solidFill>
          <a:ln/>
        </p:spPr>
      </p:sp>
      <p:sp>
        <p:nvSpPr>
          <p:cNvPr id="25" name="Shape 19"/>
          <p:cNvSpPr/>
          <p:nvPr/>
        </p:nvSpPr>
        <p:spPr>
          <a:xfrm>
            <a:off x="4526280" y="4069080"/>
            <a:ext cx="502920" cy="502920"/>
          </a:xfrm>
          <a:prstGeom prst="ellipse">
            <a:avLst/>
          </a:prstGeom>
          <a:solidFill>
            <a:schemeClr val="accent1"/>
          </a:solidFill>
          <a:ln/>
        </p:spPr>
      </p:sp>
      <p:pic>
        <p:nvPicPr>
          <p:cNvPr id="26" name="Image 4" descr="preencoded.png">    </p:cNvPr>
          <p:cNvPicPr>
            <a:picLocks noChangeAspect="1"/>
          </p:cNvPicPr>
          <p:nvPr/>
        </p:nvPicPr>
        <p:blipFill>
          <a:blip r:embed="rId5"/>
          <a:stretch>
            <a:fillRect/>
          </a:stretch>
        </p:blipFill>
        <p:spPr>
          <a:xfrm>
            <a:off x="4652010" y="4194810"/>
            <a:ext cx="251460" cy="251460"/>
          </a:xfrm>
          <a:prstGeom prst="rect">
            <a:avLst/>
          </a:prstGeom>
        </p:spPr>
      </p:pic>
      <p:sp>
        <p:nvSpPr>
          <p:cNvPr id="27" name="Text 20"/>
          <p:cNvSpPr txBox="1"/>
          <p:nvPr/>
        </p:nvSpPr>
        <p:spPr>
          <a:xfrm>
            <a:off x="5166360" y="4178808"/>
            <a:ext cx="23774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SARAH</a:t>
            </a:r>
            <a:endParaRPr lang="en-US" sz="1200" dirty="0"/>
          </a:p>
        </p:txBody>
      </p:sp>
      <p:sp>
        <p:nvSpPr>
          <p:cNvPr id="28" name="Text 21"/>
          <p:cNvSpPr txBox="1"/>
          <p:nvPr/>
        </p:nvSpPr>
        <p:spPr>
          <a:xfrm>
            <a:off x="4526280" y="4709160"/>
            <a:ext cx="3063240" cy="1051560"/>
          </a:xfrm>
          <a:prstGeom prst="rect">
            <a:avLst/>
          </a:prstGeom>
          <a:noFill/>
          <a:ln/>
        </p:spPr>
        <p:txBody>
          <a:bodyPr wrap="square" lIns="0" tIns="0" rIns="0" bIns="0" rtlCol="0" anchor="t"/>
          <a:lstStyle/>
          <a:p>
            <a:pPr indent="0" marL="0">
              <a:buNone/>
            </a:pPr>
            <a:r>
              <a:rPr lang="en-US" sz="1400" dirty="0">
                <a:solidFill>
                  <a:schemeClr val="bg2"/>
                </a:solidFill>
              </a:rPr>
              <a:t>What's frozen for peak, and from when? What freshness do Salesforce and inventory consumers need?</a:t>
            </a:r>
            <a:endParaRPr lang="en-US" sz="1400" dirty="0"/>
          </a:p>
        </p:txBody>
      </p:sp>
      <p:sp>
        <p:nvSpPr>
          <p:cNvPr id="29" name="question 6"/>
          <p:cNvSpPr/>
          <p:nvPr/>
        </p:nvSpPr>
        <p:spPr>
          <a:xfrm>
            <a:off x="8046720" y="3840480"/>
            <a:ext cx="3520440" cy="2011680"/>
          </a:xfrm>
          <a:prstGeom prst="roundRect">
            <a:avLst>
              <a:gd name="adj" fmla="val 3636"/>
            </a:avLst>
          </a:prstGeom>
          <a:solidFill>
            <a:schemeClr val="accent6"/>
          </a:solidFill>
          <a:ln/>
        </p:spPr>
      </p:sp>
      <p:sp>
        <p:nvSpPr>
          <p:cNvPr id="30" name="Shape 23"/>
          <p:cNvSpPr/>
          <p:nvPr/>
        </p:nvSpPr>
        <p:spPr>
          <a:xfrm>
            <a:off x="8275320" y="4069080"/>
            <a:ext cx="502920" cy="502920"/>
          </a:xfrm>
          <a:prstGeom prst="ellipse">
            <a:avLst/>
          </a:prstGeom>
          <a:solidFill>
            <a:schemeClr val="accent1"/>
          </a:solidFill>
          <a:ln/>
        </p:spPr>
      </p:sp>
      <p:pic>
        <p:nvPicPr>
          <p:cNvPr id="31" name="Image 5" descr="preencoded.png">    </p:cNvPr>
          <p:cNvPicPr>
            <a:picLocks noChangeAspect="1"/>
          </p:cNvPicPr>
          <p:nvPr/>
        </p:nvPicPr>
        <p:blipFill>
          <a:blip r:embed="rId6"/>
          <a:stretch>
            <a:fillRect/>
          </a:stretch>
        </p:blipFill>
        <p:spPr>
          <a:xfrm>
            <a:off x="8401050" y="4194810"/>
            <a:ext cx="251460" cy="251460"/>
          </a:xfrm>
          <a:prstGeom prst="rect">
            <a:avLst/>
          </a:prstGeom>
        </p:spPr>
      </p:pic>
      <p:sp>
        <p:nvSpPr>
          <p:cNvPr id="32" name="Text 24"/>
          <p:cNvSpPr txBox="1"/>
          <p:nvPr/>
        </p:nvSpPr>
        <p:spPr>
          <a:xfrm>
            <a:off x="8915400" y="4178808"/>
            <a:ext cx="23774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SARAH</a:t>
            </a:r>
            <a:endParaRPr lang="en-US" sz="1200" dirty="0"/>
          </a:p>
        </p:txBody>
      </p:sp>
      <p:sp>
        <p:nvSpPr>
          <p:cNvPr id="33" name="Text 25"/>
          <p:cNvSpPr txBox="1"/>
          <p:nvPr/>
        </p:nvSpPr>
        <p:spPr>
          <a:xfrm>
            <a:off x="8275320" y="4709160"/>
            <a:ext cx="3063240" cy="1051560"/>
          </a:xfrm>
          <a:prstGeom prst="rect">
            <a:avLst/>
          </a:prstGeom>
          <a:noFill/>
          <a:ln/>
        </p:spPr>
        <p:txBody>
          <a:bodyPr wrap="square" lIns="0" tIns="0" rIns="0" bIns="0" rtlCol="0" anchor="t"/>
          <a:lstStyle/>
          <a:p>
            <a:pPr indent="0" marL="0">
              <a:buNone/>
            </a:pPr>
            <a:r>
              <a:rPr lang="en-US" sz="1400" dirty="0">
                <a:solidFill>
                  <a:schemeClr val="bg2"/>
                </a:solidFill>
              </a:rPr>
              <a:t>Is the GPU exploration cluster still in active use? What keeps developers from auto-terminating?</a:t>
            </a:r>
            <a:endParaRPr lang="en-US" sz="1400" dirty="0"/>
          </a:p>
        </p:txBody>
      </p:sp>
      <p:sp>
        <p:nvSpPr>
          <p:cNvPr id="25" name="Slide Number Placeholder 0"/>
          <p:cNvSpPr>
            <a:spLocks noGrp="1"/>
          </p:cNvSpPr>
          <p:nvPr>
            <p:ph type="sldNum" sz="quarter" idx="4294967295"/>
          </p:nvPr>
        </p:nvSpPr>
        <p:spPr>
          <a:xfrm>
            <a:off x="11247120" y="63276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EXECUTIVE SUMMARY</a:t>
            </a:r>
            <a:endParaRPr lang="en-US" sz="1200" dirty="0"/>
          </a:p>
        </p:txBody>
      </p:sp>
      <p:sp>
        <p:nvSpPr>
          <p:cNvPr id="3" name="Text 1"/>
          <p:cNvSpPr/>
          <p:nvPr>
            <p:ph idx="103"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000" b="1" dirty="0">
                <a:solidFill>
                  <a:schemeClr val="bg2"/>
                </a:solidFill>
              </a:rPr>
              <a:t>The problem is real, but it's been mismeasured</a:t>
            </a:r>
            <a:endParaRPr lang="en-US" sz="3000" dirty="0"/>
          </a:p>
        </p:txBody>
      </p:sp>
      <p:sp>
        <p:nvSpPr>
          <p:cNvPr id="4" name="stat 1"/>
          <p:cNvSpPr/>
          <p:nvPr/>
        </p:nvSpPr>
        <p:spPr>
          <a:xfrm>
            <a:off x="548640" y="1600200"/>
            <a:ext cx="2606040" cy="2651760"/>
          </a:xfrm>
          <a:prstGeom prst="roundRect">
            <a:avLst>
              <a:gd name="adj" fmla="val 2807"/>
            </a:avLst>
          </a:prstGeom>
          <a:solidFill>
            <a:schemeClr val="accent6"/>
          </a:solidFill>
          <a:ln/>
        </p:spPr>
      </p:sp>
      <p:sp>
        <p:nvSpPr>
          <p:cNvPr id="5" name="Text 3"/>
          <p:cNvSpPr txBox="1"/>
          <p:nvPr/>
        </p:nvSpPr>
        <p:spPr>
          <a:xfrm>
            <a:off x="777240" y="1828800"/>
            <a:ext cx="2240280" cy="868680"/>
          </a:xfrm>
          <a:prstGeom prst="rect">
            <a:avLst/>
          </a:prstGeom>
          <a:noFill/>
          <a:ln/>
        </p:spPr>
        <p:txBody>
          <a:bodyPr wrap="square" lIns="0" tIns="0" rIns="0" bIns="0" rtlCol="0" anchor="ctr"/>
          <a:lstStyle/>
          <a:p>
            <a:pPr indent="0" marL="0">
              <a:buNone/>
            </a:pPr>
            <a:r>
              <a:rPr lang="en-US" sz="4400" b="1" dirty="0">
                <a:solidFill>
                  <a:schemeClr val="bg2"/>
                </a:solidFill>
              </a:rPr>
              <a:t>$162k</a:t>
            </a:r>
            <a:endParaRPr lang="en-US" sz="4400" dirty="0"/>
          </a:p>
        </p:txBody>
      </p:sp>
      <p:sp>
        <p:nvSpPr>
          <p:cNvPr id="6" name="Text 4"/>
          <p:cNvSpPr txBox="1"/>
          <p:nvPr/>
        </p:nvSpPr>
        <p:spPr>
          <a:xfrm>
            <a:off x="777240" y="2788920"/>
            <a:ext cx="2240280" cy="365760"/>
          </a:xfrm>
          <a:prstGeom prst="rect">
            <a:avLst/>
          </a:prstGeom>
          <a:noFill/>
          <a:ln/>
        </p:spPr>
        <p:txBody>
          <a:bodyPr wrap="square" lIns="0" tIns="0" rIns="0" bIns="0" rtlCol="0" anchor="t"/>
          <a:lstStyle/>
          <a:p>
            <a:pPr indent="0" marL="0">
              <a:buNone/>
            </a:pPr>
            <a:r>
              <a:rPr lang="en-US" sz="1500" b="1" dirty="0">
                <a:solidFill>
                  <a:schemeClr val="bg2"/>
                </a:solidFill>
              </a:rPr>
              <a:t>September actual spend</a:t>
            </a:r>
            <a:endParaRPr lang="en-US" sz="1500" dirty="0"/>
          </a:p>
        </p:txBody>
      </p:sp>
      <p:sp>
        <p:nvSpPr>
          <p:cNvPr id="7" name="Text 5"/>
          <p:cNvSpPr txBox="1"/>
          <p:nvPr/>
        </p:nvSpPr>
        <p:spPr>
          <a:xfrm>
            <a:off x="777240" y="3200400"/>
            <a:ext cx="2240280" cy="822960"/>
          </a:xfrm>
          <a:prstGeom prst="rect">
            <a:avLst/>
          </a:prstGeom>
          <a:noFill/>
          <a:ln/>
        </p:spPr>
        <p:txBody>
          <a:bodyPr wrap="square" lIns="0" tIns="0" rIns="0" bIns="0" rtlCol="0" anchor="t"/>
          <a:lstStyle/>
          <a:p>
            <a:pPr indent="0" marL="0">
              <a:buNone/>
            </a:pPr>
            <a:r>
              <a:rPr lang="en-US" sz="1300" dirty="0">
                <a:solidFill>
                  <a:schemeClr val="accent5"/>
                </a:solidFill>
              </a:rPr>
              <a:t>3.7× June. Finance's dashboard showed $220k</a:t>
            </a:r>
            <a:endParaRPr lang="en-US" sz="1300" dirty="0"/>
          </a:p>
        </p:txBody>
      </p:sp>
      <p:sp>
        <p:nvSpPr>
          <p:cNvPr id="8" name="stat 2"/>
          <p:cNvSpPr/>
          <p:nvPr/>
        </p:nvSpPr>
        <p:spPr>
          <a:xfrm>
            <a:off x="3364992" y="1600200"/>
            <a:ext cx="2606040" cy="2651760"/>
          </a:xfrm>
          <a:prstGeom prst="roundRect">
            <a:avLst>
              <a:gd name="adj" fmla="val 2807"/>
            </a:avLst>
          </a:prstGeom>
          <a:solidFill>
            <a:schemeClr val="accent6"/>
          </a:solidFill>
          <a:ln/>
        </p:spPr>
      </p:sp>
      <p:sp>
        <p:nvSpPr>
          <p:cNvPr id="9" name="Text 7"/>
          <p:cNvSpPr txBox="1"/>
          <p:nvPr/>
        </p:nvSpPr>
        <p:spPr>
          <a:xfrm>
            <a:off x="3593592" y="1828800"/>
            <a:ext cx="2240280" cy="868680"/>
          </a:xfrm>
          <a:prstGeom prst="rect">
            <a:avLst/>
          </a:prstGeom>
          <a:noFill/>
          <a:ln/>
        </p:spPr>
        <p:txBody>
          <a:bodyPr wrap="square" lIns="0" tIns="0" rIns="0" bIns="0" rtlCol="0" anchor="ctr"/>
          <a:lstStyle/>
          <a:p>
            <a:pPr indent="0" marL="0">
              <a:buNone/>
            </a:pPr>
            <a:r>
              <a:rPr lang="en-US" sz="4400" b="1" dirty="0">
                <a:solidFill>
                  <a:schemeClr val="bg2"/>
                </a:solidFill>
              </a:rPr>
              <a:t>$179k</a:t>
            </a:r>
            <a:endParaRPr lang="en-US" sz="4400" dirty="0"/>
          </a:p>
        </p:txBody>
      </p:sp>
      <p:sp>
        <p:nvSpPr>
          <p:cNvPr id="10" name="Text 8"/>
          <p:cNvSpPr txBox="1"/>
          <p:nvPr/>
        </p:nvSpPr>
        <p:spPr>
          <a:xfrm>
            <a:off x="3593592" y="2788920"/>
            <a:ext cx="2240280" cy="365760"/>
          </a:xfrm>
          <a:prstGeom prst="rect">
            <a:avLst/>
          </a:prstGeom>
          <a:noFill/>
          <a:ln/>
        </p:spPr>
        <p:txBody>
          <a:bodyPr wrap="square" lIns="0" tIns="0" rIns="0" bIns="0" rtlCol="0" anchor="t"/>
          <a:lstStyle/>
          <a:p>
            <a:pPr indent="0" marL="0">
              <a:buNone/>
            </a:pPr>
            <a:r>
              <a:rPr lang="en-US" sz="1500" b="1" dirty="0">
                <a:solidFill>
                  <a:schemeClr val="bg2"/>
                </a:solidFill>
              </a:rPr>
              <a:t>October monthly run-rate</a:t>
            </a:r>
            <a:endParaRPr lang="en-US" sz="1500" dirty="0"/>
          </a:p>
        </p:txBody>
      </p:sp>
      <p:sp>
        <p:nvSpPr>
          <p:cNvPr id="11" name="Text 9"/>
          <p:cNvSpPr txBox="1"/>
          <p:nvPr/>
        </p:nvSpPr>
        <p:spPr>
          <a:xfrm>
            <a:off x="3593592" y="3200400"/>
            <a:ext cx="2240280" cy="822960"/>
          </a:xfrm>
          <a:prstGeom prst="rect">
            <a:avLst/>
          </a:prstGeom>
          <a:noFill/>
          <a:ln/>
        </p:spPr>
        <p:txBody>
          <a:bodyPr wrap="square" lIns="0" tIns="0" rIns="0" bIns="0" rtlCol="0" anchor="t"/>
          <a:lstStyle/>
          <a:p>
            <a:pPr indent="0" marL="0">
              <a:buNone/>
            </a:pPr>
            <a:r>
              <a:rPr lang="en-US" sz="1300" dirty="0">
                <a:solidFill>
                  <a:schemeClr val="accent5"/>
                </a:solidFill>
              </a:rPr>
              <a:t>and still climbing on its current path</a:t>
            </a:r>
            <a:endParaRPr lang="en-US" sz="1300" dirty="0"/>
          </a:p>
        </p:txBody>
      </p:sp>
      <p:sp>
        <p:nvSpPr>
          <p:cNvPr id="12" name="stat 3"/>
          <p:cNvSpPr/>
          <p:nvPr/>
        </p:nvSpPr>
        <p:spPr>
          <a:xfrm>
            <a:off x="6181344" y="1600200"/>
            <a:ext cx="2606040" cy="2651760"/>
          </a:xfrm>
          <a:prstGeom prst="roundRect">
            <a:avLst>
              <a:gd name="adj" fmla="val 2807"/>
            </a:avLst>
          </a:prstGeom>
          <a:solidFill>
            <a:schemeClr val="accent6"/>
          </a:solidFill>
          <a:ln/>
        </p:spPr>
      </p:sp>
      <p:sp>
        <p:nvSpPr>
          <p:cNvPr id="13" name="Text 11"/>
          <p:cNvSpPr txBox="1"/>
          <p:nvPr/>
        </p:nvSpPr>
        <p:spPr>
          <a:xfrm>
            <a:off x="6409944" y="1828800"/>
            <a:ext cx="2240280" cy="868680"/>
          </a:xfrm>
          <a:prstGeom prst="rect">
            <a:avLst/>
          </a:prstGeom>
          <a:noFill/>
          <a:ln/>
        </p:spPr>
        <p:txBody>
          <a:bodyPr wrap="square" lIns="0" tIns="0" rIns="0" bIns="0" rtlCol="0" anchor="ctr"/>
          <a:lstStyle/>
          <a:p>
            <a:pPr indent="0" marL="0">
              <a:buNone/>
            </a:pPr>
            <a:r>
              <a:rPr lang="en-US" sz="3600" b="1" dirty="0">
                <a:solidFill>
                  <a:schemeClr val="accent1"/>
                </a:solidFill>
              </a:rPr>
              <a:t>$90–106k</a:t>
            </a:r>
            <a:endParaRPr lang="en-US" sz="3600" dirty="0"/>
          </a:p>
        </p:txBody>
      </p:sp>
      <p:sp>
        <p:nvSpPr>
          <p:cNvPr id="14" name="Text 12"/>
          <p:cNvSpPr txBox="1"/>
          <p:nvPr/>
        </p:nvSpPr>
        <p:spPr>
          <a:xfrm>
            <a:off x="6409944" y="2788920"/>
            <a:ext cx="2240280" cy="365760"/>
          </a:xfrm>
          <a:prstGeom prst="rect">
            <a:avLst/>
          </a:prstGeom>
          <a:noFill/>
          <a:ln/>
        </p:spPr>
        <p:txBody>
          <a:bodyPr wrap="square" lIns="0" tIns="0" rIns="0" bIns="0" rtlCol="0" anchor="t"/>
          <a:lstStyle/>
          <a:p>
            <a:pPr indent="0" marL="0">
              <a:buNone/>
            </a:pPr>
            <a:r>
              <a:rPr lang="en-US" sz="1500" b="1" dirty="0">
                <a:solidFill>
                  <a:schemeClr val="bg2"/>
                </a:solidFill>
              </a:rPr>
              <a:t>addressable per month</a:t>
            </a:r>
            <a:endParaRPr lang="en-US" sz="1500" dirty="0"/>
          </a:p>
        </p:txBody>
      </p:sp>
      <p:sp>
        <p:nvSpPr>
          <p:cNvPr id="15" name="Text 13"/>
          <p:cNvSpPr txBox="1"/>
          <p:nvPr/>
        </p:nvSpPr>
        <p:spPr>
          <a:xfrm>
            <a:off x="6409944" y="3200400"/>
            <a:ext cx="2240280" cy="822960"/>
          </a:xfrm>
          <a:prstGeom prst="rect">
            <a:avLst/>
          </a:prstGeom>
          <a:noFill/>
          <a:ln/>
        </p:spPr>
        <p:txBody>
          <a:bodyPr wrap="square" lIns="0" tIns="0" rIns="0" bIns="0" rtlCol="0" anchor="t"/>
          <a:lstStyle/>
          <a:p>
            <a:pPr indent="0" marL="0">
              <a:buNone/>
            </a:pPr>
            <a:r>
              <a:rPr lang="en-US" sz="1300" dirty="0">
                <a:solidFill>
                  <a:schemeClr val="accent5"/>
                </a:solidFill>
              </a:rPr>
              <a:t>mostly configuration fixes, doable this week</a:t>
            </a:r>
            <a:endParaRPr lang="en-US" sz="1300" dirty="0"/>
          </a:p>
        </p:txBody>
      </p:sp>
      <p:sp>
        <p:nvSpPr>
          <p:cNvPr id="16" name="stat 4"/>
          <p:cNvSpPr/>
          <p:nvPr/>
        </p:nvSpPr>
        <p:spPr>
          <a:xfrm>
            <a:off x="8997696" y="1600200"/>
            <a:ext cx="2606040" cy="2651760"/>
          </a:xfrm>
          <a:prstGeom prst="roundRect">
            <a:avLst>
              <a:gd name="adj" fmla="val 2807"/>
            </a:avLst>
          </a:prstGeom>
          <a:solidFill>
            <a:schemeClr val="accent6"/>
          </a:solidFill>
          <a:ln/>
        </p:spPr>
      </p:sp>
      <p:sp>
        <p:nvSpPr>
          <p:cNvPr id="17" name="Text 15"/>
          <p:cNvSpPr txBox="1"/>
          <p:nvPr/>
        </p:nvSpPr>
        <p:spPr>
          <a:xfrm>
            <a:off x="9226296" y="1828800"/>
            <a:ext cx="2240280" cy="868680"/>
          </a:xfrm>
          <a:prstGeom prst="rect">
            <a:avLst/>
          </a:prstGeom>
          <a:noFill/>
          <a:ln/>
        </p:spPr>
        <p:txBody>
          <a:bodyPr wrap="square" lIns="0" tIns="0" rIns="0" bIns="0" rtlCol="0" anchor="ctr"/>
          <a:lstStyle/>
          <a:p>
            <a:pPr indent="0" marL="0">
              <a:buNone/>
            </a:pPr>
            <a:r>
              <a:rPr lang="en-US" sz="4400" b="1" dirty="0">
                <a:solidFill>
                  <a:schemeClr val="accent3"/>
                </a:solidFill>
              </a:rPr>
              <a:t>76×</a:t>
            </a:r>
            <a:endParaRPr lang="en-US" sz="4400" dirty="0"/>
          </a:p>
        </p:txBody>
      </p:sp>
      <p:sp>
        <p:nvSpPr>
          <p:cNvPr id="18" name="Text 16"/>
          <p:cNvSpPr txBox="1"/>
          <p:nvPr/>
        </p:nvSpPr>
        <p:spPr>
          <a:xfrm>
            <a:off x="9226296" y="2788920"/>
            <a:ext cx="2240280" cy="365760"/>
          </a:xfrm>
          <a:prstGeom prst="rect">
            <a:avLst/>
          </a:prstGeom>
          <a:noFill/>
          <a:ln/>
        </p:spPr>
        <p:txBody>
          <a:bodyPr wrap="square" lIns="0" tIns="0" rIns="0" bIns="0" rtlCol="0" anchor="t"/>
          <a:lstStyle/>
          <a:p>
            <a:pPr indent="0" marL="0">
              <a:buNone/>
            </a:pPr>
            <a:r>
              <a:rPr lang="en-US" sz="1500" b="1" dirty="0">
                <a:solidFill>
                  <a:schemeClr val="bg2"/>
                </a:solidFill>
              </a:rPr>
              <a:t>Project Atlas return</a:t>
            </a:r>
            <a:endParaRPr lang="en-US" sz="1500" dirty="0"/>
          </a:p>
        </p:txBody>
      </p:sp>
      <p:sp>
        <p:nvSpPr>
          <p:cNvPr id="19" name="Text 17"/>
          <p:cNvSpPr txBox="1"/>
          <p:nvPr/>
        </p:nvSpPr>
        <p:spPr>
          <a:xfrm>
            <a:off x="9226296" y="3200400"/>
            <a:ext cx="2240280" cy="822960"/>
          </a:xfrm>
          <a:prstGeom prst="rect">
            <a:avLst/>
          </a:prstGeom>
          <a:noFill/>
          <a:ln/>
        </p:spPr>
        <p:txBody>
          <a:bodyPr wrap="square" lIns="0" tIns="0" rIns="0" bIns="0" rtlCol="0" anchor="t"/>
          <a:lstStyle/>
          <a:p>
            <a:pPr indent="0" marL="0">
              <a:buNone/>
            </a:pPr>
            <a:r>
              <a:rPr lang="en-US" sz="1300" dirty="0">
                <a:solidFill>
                  <a:schemeClr val="accent5"/>
                </a:solidFill>
              </a:rPr>
              <a:t>$1.27M/mo incremental revenue on $17k/mo</a:t>
            </a:r>
            <a:endParaRPr lang="en-US" sz="1300" dirty="0"/>
          </a:p>
        </p:txBody>
      </p:sp>
      <p:sp>
        <p:nvSpPr>
          <p:cNvPr id="20" name="so what"/>
          <p:cNvSpPr/>
          <p:nvPr/>
        </p:nvSpPr>
        <p:spPr>
          <a:xfrm>
            <a:off x="548640" y="4526280"/>
            <a:ext cx="11064240" cy="1508760"/>
          </a:xfrm>
          <a:prstGeom prst="roundRect">
            <a:avLst>
              <a:gd name="adj" fmla="val 4848"/>
            </a:avLst>
          </a:prstGeom>
          <a:solidFill>
            <a:schemeClr val="tx1"/>
          </a:solidFill>
          <a:ln/>
        </p:spPr>
      </p:sp>
      <p:pic>
        <p:nvPicPr>
          <p:cNvPr id="21" name="Image 0" descr="preencoded.png">    </p:cNvPr>
          <p:cNvPicPr>
            <a:picLocks noChangeAspect="1"/>
          </p:cNvPicPr>
          <p:nvPr/>
        </p:nvPicPr>
        <p:blipFill>
          <a:blip r:embed="rId1"/>
          <a:stretch>
            <a:fillRect/>
          </a:stretch>
        </p:blipFill>
        <p:spPr>
          <a:xfrm>
            <a:off x="868680" y="4937760"/>
            <a:ext cx="640080" cy="640080"/>
          </a:xfrm>
          <a:prstGeom prst="rect">
            <a:avLst/>
          </a:prstGeom>
        </p:spPr>
      </p:pic>
      <p:sp>
        <p:nvSpPr>
          <p:cNvPr id="22" name="Text 19"/>
          <p:cNvSpPr txBox="1"/>
          <p:nvPr/>
        </p:nvSpPr>
        <p:spPr>
          <a:xfrm>
            <a:off x="1783080" y="4754880"/>
            <a:ext cx="9601200" cy="1097280"/>
          </a:xfrm>
          <a:prstGeom prst="rect">
            <a:avLst/>
          </a:prstGeom>
          <a:noFill/>
          <a:ln/>
        </p:spPr>
        <p:txBody>
          <a:bodyPr wrap="square" lIns="0" tIns="0" rIns="0" bIns="0" rtlCol="0" anchor="ctr"/>
          <a:lstStyle/>
          <a:p>
            <a:pPr indent="0" marL="0">
              <a:buNone/>
            </a:pPr>
            <a:r>
              <a:rPr lang="en-US" sz="1600" b="1" dirty="0">
                <a:solidFill>
                  <a:schemeClr val="accent1"/>
                </a:solidFill>
              </a:rPr>
              <a:t>The so-what: </a:t>
            </a:r>
            <a:pPr indent="0" marL="0">
              <a:buNone/>
            </a:pPr>
            <a:r>
              <a:rPr lang="en-US" sz="1600" dirty="0">
                <a:solidFill>
                  <a:schemeClr val="bg2"/>
                </a:solidFill>
              </a:rPr>
              <a:t>about two-thirds of the run-rate is waste or inefficiency, created by reasonable decisions made without guardrails. Fix it this week and the run-rate falls to ~$75k. Cutting 40% across the board would hit the one initiative earning 76× its cost.</a:t>
            </a:r>
            <a:endParaRPr lang="en-US" sz="1600" dirty="0"/>
          </a:p>
        </p:txBody>
      </p:sp>
      <p:sp>
        <p:nvSpPr>
          <p:cNvPr id="25" name="Slide Number Placeholder 0"/>
          <p:cNvSpPr>
            <a:spLocks noGrp="1"/>
          </p:cNvSpPr>
          <p:nvPr>
            <p:ph type="sldNum" sz="quarter" idx="4294967295"/>
          </p:nvPr>
        </p:nvSpPr>
        <p:spPr>
          <a:xfrm>
            <a:off x="11247120" y="63276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TRUST THE NUMBERS FIRST</a:t>
            </a:r>
            <a:endParaRPr lang="en-US" sz="1200" dirty="0"/>
          </a:p>
        </p:txBody>
      </p:sp>
      <p:sp>
        <p:nvSpPr>
          <p:cNvPr id="3" name="Text 1"/>
          <p:cNvSpPr/>
          <p:nvPr>
            <p:ph idx="103"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000" b="1" dirty="0">
                <a:solidFill>
                  <a:schemeClr val="bg2"/>
                </a:solidFill>
              </a:rPr>
              <a:t>Finance has been looking at the wrong number</a:t>
            </a:r>
            <a:endParaRPr lang="en-US" sz="3000" dirty="0"/>
          </a:p>
        </p:txBody>
      </p:sp>
      <p:graphicFrame>
        <p:nvGraphicFramePr>
          <p:cNvPr id="4" name="Chart 0" descr=""/>
          <p:cNvGraphicFramePr/>
          <p:nvPr/>
        </p:nvGraphicFramePr>
        <p:xfrm>
          <a:off x="548640" y="1508760"/>
          <a:ext cx="6766560" cy="4526280"/>
        </p:xfrm>
        <a:graphic xmlns:a="http://schemas.openxmlformats.org/drawingml/2006/main">
          <a:graphicData uri="http://schemas.openxmlformats.org/drawingml/2006/chart">
            <c:chart xmlns:c="http://schemas.openxmlformats.org/drawingml/2006/chart" r:id="rId1"/>
          </a:graphicData>
        </a:graphic>
      </p:graphicFrame>
      <p:sp>
        <p:nvSpPr>
          <p:cNvPr id="5" name="evidence 1"/>
          <p:cNvSpPr/>
          <p:nvPr/>
        </p:nvSpPr>
        <p:spPr>
          <a:xfrm>
            <a:off x="7635240" y="1508760"/>
            <a:ext cx="3977640" cy="1371600"/>
          </a:xfrm>
          <a:prstGeom prst="roundRect">
            <a:avLst>
              <a:gd name="adj" fmla="val 5333"/>
            </a:avLst>
          </a:prstGeom>
          <a:solidFill>
            <a:schemeClr val="accent6"/>
          </a:solidFill>
          <a:ln/>
        </p:spPr>
      </p:sp>
      <p:sp>
        <p:nvSpPr>
          <p:cNvPr id="6" name="Text 3"/>
          <p:cNvSpPr txBox="1"/>
          <p:nvPr/>
        </p:nvSpPr>
        <p:spPr>
          <a:xfrm>
            <a:off x="7863840" y="1645920"/>
            <a:ext cx="3566160" cy="411480"/>
          </a:xfrm>
          <a:prstGeom prst="rect">
            <a:avLst/>
          </a:prstGeom>
          <a:noFill/>
          <a:ln/>
        </p:spPr>
        <p:txBody>
          <a:bodyPr wrap="square" lIns="0" tIns="0" rIns="0" bIns="0" rtlCol="0" anchor="t"/>
          <a:lstStyle/>
          <a:p>
            <a:pPr indent="0" marL="0">
              <a:buNone/>
            </a:pPr>
            <a:r>
              <a:rPr lang="en-US" sz="2200" b="1" dirty="0">
                <a:solidFill>
                  <a:schemeClr val="accent1"/>
                </a:solidFill>
              </a:rPr>
              <a:t>+35–58%</a:t>
            </a:r>
            <a:endParaRPr lang="en-US" sz="2200" dirty="0"/>
          </a:p>
        </p:txBody>
      </p:sp>
      <p:sp>
        <p:nvSpPr>
          <p:cNvPr id="7" name="Text 4"/>
          <p:cNvSpPr txBox="1"/>
          <p:nvPr/>
        </p:nvSpPr>
        <p:spPr>
          <a:xfrm>
            <a:off x="7863840" y="2039112"/>
            <a:ext cx="3566160" cy="274320"/>
          </a:xfrm>
          <a:prstGeom prst="rect">
            <a:avLst/>
          </a:prstGeom>
          <a:noFill/>
          <a:ln/>
        </p:spPr>
        <p:txBody>
          <a:bodyPr wrap="square" lIns="0" tIns="0" rIns="0" bIns="0" rtlCol="0" anchor="t"/>
          <a:lstStyle/>
          <a:p>
            <a:pPr indent="0" marL="0">
              <a:buNone/>
            </a:pPr>
            <a:r>
              <a:rPr lang="en-US" sz="1300" b="1" dirty="0">
                <a:solidFill>
                  <a:schemeClr val="bg2"/>
                </a:solidFill>
              </a:rPr>
              <a:t>overstated each month</a:t>
            </a:r>
            <a:endParaRPr lang="en-US" sz="1300" dirty="0"/>
          </a:p>
        </p:txBody>
      </p:sp>
      <p:sp>
        <p:nvSpPr>
          <p:cNvPr id="8" name="Text 5"/>
          <p:cNvSpPr txBox="1"/>
          <p:nvPr/>
        </p:nvSpPr>
        <p:spPr>
          <a:xfrm>
            <a:off x="7863840" y="2313432"/>
            <a:ext cx="3566160" cy="548640"/>
          </a:xfrm>
          <a:prstGeom prst="rect">
            <a:avLst/>
          </a:prstGeom>
          <a:noFill/>
          <a:ln/>
        </p:spPr>
        <p:txBody>
          <a:bodyPr wrap="square" lIns="0" tIns="0" rIns="0" bIns="0" rtlCol="0" anchor="t"/>
          <a:lstStyle/>
          <a:p>
            <a:pPr indent="0" marL="0">
              <a:buNone/>
            </a:pPr>
            <a:r>
              <a:rPr lang="en-US" sz="1100" dirty="0">
                <a:solidFill>
                  <a:schemeClr val="accent5"/>
                </a:solidFill>
              </a:rPr>
              <a:t>The cost table's price join ignored effective dates, so usage on any SKU with a price change was counted once per price version.</a:t>
            </a:r>
            <a:endParaRPr lang="en-US" sz="1100" dirty="0"/>
          </a:p>
        </p:txBody>
      </p:sp>
      <p:sp>
        <p:nvSpPr>
          <p:cNvPr id="9" name="evidence 2"/>
          <p:cNvSpPr/>
          <p:nvPr/>
        </p:nvSpPr>
        <p:spPr>
          <a:xfrm>
            <a:off x="7635240" y="3063240"/>
            <a:ext cx="3977640" cy="1371600"/>
          </a:xfrm>
          <a:prstGeom prst="roundRect">
            <a:avLst>
              <a:gd name="adj" fmla="val 5333"/>
            </a:avLst>
          </a:prstGeom>
          <a:solidFill>
            <a:schemeClr val="accent6"/>
          </a:solidFill>
          <a:ln/>
        </p:spPr>
      </p:sp>
      <p:sp>
        <p:nvSpPr>
          <p:cNvPr id="10" name="Text 7"/>
          <p:cNvSpPr txBox="1"/>
          <p:nvPr/>
        </p:nvSpPr>
        <p:spPr>
          <a:xfrm>
            <a:off x="7863840" y="3200400"/>
            <a:ext cx="3566160" cy="411480"/>
          </a:xfrm>
          <a:prstGeom prst="rect">
            <a:avLst/>
          </a:prstGeom>
          <a:noFill/>
          <a:ln/>
        </p:spPr>
        <p:txBody>
          <a:bodyPr wrap="square" lIns="0" tIns="0" rIns="0" bIns="0" rtlCol="0" anchor="t"/>
          <a:lstStyle/>
          <a:p>
            <a:pPr indent="0" marL="0">
              <a:buNone/>
            </a:pPr>
            <a:r>
              <a:rPr lang="en-US" sz="2200" b="1" dirty="0">
                <a:solidFill>
                  <a:schemeClr val="accent1"/>
                </a:solidFill>
              </a:rPr>
              <a:t>$350k</a:t>
            </a:r>
            <a:endParaRPr lang="en-US" sz="2200" dirty="0"/>
          </a:p>
        </p:txBody>
      </p:sp>
      <p:sp>
        <p:nvSpPr>
          <p:cNvPr id="11" name="Text 8"/>
          <p:cNvSpPr txBox="1"/>
          <p:nvPr/>
        </p:nvSpPr>
        <p:spPr>
          <a:xfrm>
            <a:off x="7863840" y="3593592"/>
            <a:ext cx="3566160" cy="274320"/>
          </a:xfrm>
          <a:prstGeom prst="rect">
            <a:avLst/>
          </a:prstGeom>
          <a:noFill/>
          <a:ln/>
        </p:spPr>
        <p:txBody>
          <a:bodyPr wrap="square" lIns="0" tIns="0" rIns="0" bIns="0" rtlCol="0" anchor="t"/>
          <a:lstStyle/>
          <a:p>
            <a:pPr indent="0" marL="0">
              <a:buNone/>
            </a:pPr>
            <a:r>
              <a:rPr lang="en-US" sz="1300" b="1" dirty="0">
                <a:solidFill>
                  <a:schemeClr val="bg2"/>
                </a:solidFill>
              </a:rPr>
              <a:t>Q3 actual vs $165k budget</a:t>
            </a:r>
            <a:endParaRPr lang="en-US" sz="1300" dirty="0"/>
          </a:p>
        </p:txBody>
      </p:sp>
      <p:sp>
        <p:nvSpPr>
          <p:cNvPr id="12" name="Text 9"/>
          <p:cNvSpPr txBox="1"/>
          <p:nvPr/>
        </p:nvSpPr>
        <p:spPr>
          <a:xfrm>
            <a:off x="7863840" y="3867912"/>
            <a:ext cx="3566160" cy="548640"/>
          </a:xfrm>
          <a:prstGeom prst="rect">
            <a:avLst/>
          </a:prstGeom>
          <a:noFill/>
          <a:ln/>
        </p:spPr>
        <p:txBody>
          <a:bodyPr wrap="square" lIns="0" tIns="0" rIns="0" bIns="0" rtlCol="0" anchor="t"/>
          <a:lstStyle/>
          <a:p>
            <a:pPr indent="0" marL="0">
              <a:buNone/>
            </a:pPr>
            <a:r>
              <a:rPr lang="en-US" sz="1100" dirty="0">
                <a:solidFill>
                  <a:schemeClr val="accent5"/>
                </a:solidFill>
              </a:rPr>
              <a:t>2.1× over budget. Serious, but not the 3.1× ($512k) Finance's view implies.</a:t>
            </a:r>
            <a:endParaRPr lang="en-US" sz="1100" dirty="0"/>
          </a:p>
        </p:txBody>
      </p:sp>
      <p:sp>
        <p:nvSpPr>
          <p:cNvPr id="13" name="evidence 3"/>
          <p:cNvSpPr/>
          <p:nvPr/>
        </p:nvSpPr>
        <p:spPr>
          <a:xfrm>
            <a:off x="7635240" y="4617720"/>
            <a:ext cx="3977640" cy="1371600"/>
          </a:xfrm>
          <a:prstGeom prst="roundRect">
            <a:avLst>
              <a:gd name="adj" fmla="val 5333"/>
            </a:avLst>
          </a:prstGeom>
          <a:solidFill>
            <a:schemeClr val="accent6"/>
          </a:solidFill>
          <a:ln/>
        </p:spPr>
      </p:sp>
      <p:sp>
        <p:nvSpPr>
          <p:cNvPr id="14" name="Text 11"/>
          <p:cNvSpPr txBox="1"/>
          <p:nvPr/>
        </p:nvSpPr>
        <p:spPr>
          <a:xfrm>
            <a:off x="7863840" y="4754880"/>
            <a:ext cx="3566160" cy="411480"/>
          </a:xfrm>
          <a:prstGeom prst="rect">
            <a:avLst/>
          </a:prstGeom>
          <a:noFill/>
          <a:ln/>
        </p:spPr>
        <p:txBody>
          <a:bodyPr wrap="square" lIns="0" tIns="0" rIns="0" bIns="0" rtlCol="0" anchor="t"/>
          <a:lstStyle/>
          <a:p>
            <a:pPr indent="0" marL="0">
              <a:buNone/>
            </a:pPr>
            <a:r>
              <a:rPr lang="en-US" sz="2200" b="1" dirty="0">
                <a:solidFill>
                  <a:schemeClr val="accent1"/>
                </a:solidFill>
              </a:rPr>
              <a:t>27,087 = 27,087</a:t>
            </a:r>
            <a:endParaRPr lang="en-US" sz="2200" dirty="0"/>
          </a:p>
        </p:txBody>
      </p:sp>
      <p:sp>
        <p:nvSpPr>
          <p:cNvPr id="15" name="Text 12"/>
          <p:cNvSpPr txBox="1"/>
          <p:nvPr/>
        </p:nvSpPr>
        <p:spPr>
          <a:xfrm>
            <a:off x="7863840" y="5148072"/>
            <a:ext cx="3566160" cy="274320"/>
          </a:xfrm>
          <a:prstGeom prst="rect">
            <a:avLst/>
          </a:prstGeom>
          <a:noFill/>
          <a:ln/>
        </p:spPr>
        <p:txBody>
          <a:bodyPr wrap="square" lIns="0" tIns="0" rIns="0" bIns="0" rtlCol="0" anchor="t"/>
          <a:lstStyle/>
          <a:p>
            <a:pPr indent="0" marL="0">
              <a:buNone/>
            </a:pPr>
            <a:r>
              <a:rPr lang="en-US" sz="1300" b="1" dirty="0">
                <a:solidFill>
                  <a:schemeClr val="bg2"/>
                </a:solidFill>
              </a:rPr>
              <a:t>records reconciled</a:t>
            </a:r>
            <a:endParaRPr lang="en-US" sz="1300" dirty="0"/>
          </a:p>
        </p:txBody>
      </p:sp>
      <p:sp>
        <p:nvSpPr>
          <p:cNvPr id="16" name="Text 13"/>
          <p:cNvSpPr txBox="1"/>
          <p:nvPr/>
        </p:nvSpPr>
        <p:spPr>
          <a:xfrm>
            <a:off x="7863840" y="5422392"/>
            <a:ext cx="3566160" cy="548640"/>
          </a:xfrm>
          <a:prstGeom prst="rect">
            <a:avLst/>
          </a:prstGeom>
          <a:noFill/>
          <a:ln/>
        </p:spPr>
        <p:txBody>
          <a:bodyPr wrap="square" lIns="0" tIns="0" rIns="0" bIns="0" rtlCol="0" anchor="t"/>
          <a:lstStyle/>
          <a:p>
            <a:pPr indent="0" marL="0">
              <a:buNone/>
            </a:pPr>
            <a:r>
              <a:rPr lang="en-US" sz="1100" dirty="0">
                <a:solidFill>
                  <a:schemeClr val="accent5"/>
                </a:solidFill>
              </a:rPr>
              <a:t>Fixed in code with point-in-time pricing. Row counts and DBUs now match the raw usage table exactly.</a:t>
            </a:r>
            <a:endParaRPr lang="en-US" sz="1100" dirty="0"/>
          </a:p>
        </p:txBody>
      </p:sp>
      <p:sp>
        <p:nvSpPr>
          <p:cNvPr id="25" name="Slide Number Placeholder 0"/>
          <p:cNvSpPr>
            <a:spLocks noGrp="1"/>
          </p:cNvSpPr>
          <p:nvPr>
            <p:ph type="sldNum" sz="quarter" idx="4294967295"/>
          </p:nvPr>
        </p:nvSpPr>
        <p:spPr>
          <a:xfrm>
            <a:off x="11247120" y="63276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WHAT CHANGED, AND WHEN</a:t>
            </a:r>
            <a:endParaRPr lang="en-US" sz="1200" dirty="0"/>
          </a:p>
        </p:txBody>
      </p:sp>
      <p:sp>
        <p:nvSpPr>
          <p:cNvPr id="3" name="Text 1"/>
          <p:cNvSpPr/>
          <p:nvPr>
            <p:ph idx="103"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000" b="1" dirty="0">
                <a:solidFill>
                  <a:schemeClr val="bg2"/>
                </a:solidFill>
              </a:rPr>
              <a:t>Six step changes explain most of the growth</a:t>
            </a:r>
            <a:endParaRPr lang="en-US" sz="3000" dirty="0"/>
          </a:p>
        </p:txBody>
      </p:sp>
      <p:sp>
        <p:nvSpPr>
          <p:cNvPr id="4" name="Shape 2"/>
          <p:cNvSpPr/>
          <p:nvPr/>
        </p:nvSpPr>
        <p:spPr>
          <a:xfrm>
            <a:off x="822960" y="2331720"/>
            <a:ext cx="10515600" cy="0"/>
          </a:xfrm>
          <a:prstGeom prst="line">
            <a:avLst/>
          </a:prstGeom>
          <a:noFill/>
          <a:ln w="19050">
            <a:solidFill>
              <a:srgbClr val="8FA3A8"/>
            </a:solidFill>
            <a:prstDash val="solid"/>
          </a:ln>
        </p:spPr>
      </p:sp>
      <p:sp>
        <p:nvSpPr>
          <p:cNvPr id="5" name="Shape 3"/>
          <p:cNvSpPr/>
          <p:nvPr/>
        </p:nvSpPr>
        <p:spPr>
          <a:xfrm>
            <a:off x="685800" y="2194560"/>
            <a:ext cx="274320" cy="274320"/>
          </a:xfrm>
          <a:prstGeom prst="ellipse">
            <a:avLst/>
          </a:prstGeom>
          <a:solidFill>
            <a:srgbClr val="FF3621"/>
          </a:solidFill>
          <a:ln w="25400">
            <a:solidFill>
              <a:srgbClr val="182C31"/>
            </a:solidFill>
            <a:prstDash val="solid"/>
          </a:ln>
        </p:spPr>
      </p:sp>
      <p:sp>
        <p:nvSpPr>
          <p:cNvPr id="6" name="Text 4"/>
          <p:cNvSpPr txBox="1"/>
          <p:nvPr/>
        </p:nvSpPr>
        <p:spPr>
          <a:xfrm>
            <a:off x="548640" y="1691640"/>
            <a:ext cx="1737360" cy="365760"/>
          </a:xfrm>
          <a:prstGeom prst="rect">
            <a:avLst/>
          </a:prstGeom>
          <a:noFill/>
          <a:ln/>
        </p:spPr>
        <p:txBody>
          <a:bodyPr wrap="square" lIns="0" tIns="0" rIns="0" bIns="0" rtlCol="0" anchor="t"/>
          <a:lstStyle/>
          <a:p>
            <a:pPr indent="0" marL="0">
              <a:buNone/>
            </a:pPr>
            <a:r>
              <a:rPr lang="en-US" sz="1600" b="1" dirty="0">
                <a:solidFill>
                  <a:schemeClr val="bg2"/>
                </a:solidFill>
              </a:rPr>
              <a:t>Jul 18</a:t>
            </a:r>
            <a:endParaRPr lang="en-US" sz="1600" dirty="0"/>
          </a:p>
        </p:txBody>
      </p:sp>
      <p:sp>
        <p:nvSpPr>
          <p:cNvPr id="7" name="event 1"/>
          <p:cNvSpPr/>
          <p:nvPr/>
        </p:nvSpPr>
        <p:spPr>
          <a:xfrm>
            <a:off x="548640" y="2697480"/>
            <a:ext cx="1737360" cy="1828800"/>
          </a:xfrm>
          <a:prstGeom prst="roundRect">
            <a:avLst>
              <a:gd name="adj" fmla="val 4211"/>
            </a:avLst>
          </a:prstGeom>
          <a:solidFill>
            <a:schemeClr val="accent6"/>
          </a:solidFill>
          <a:ln/>
        </p:spPr>
      </p:sp>
      <p:sp>
        <p:nvSpPr>
          <p:cNvPr id="8" name="Text 6"/>
          <p:cNvSpPr txBox="1"/>
          <p:nvPr/>
        </p:nvSpPr>
        <p:spPr>
          <a:xfrm>
            <a:off x="713232" y="2834640"/>
            <a:ext cx="1463040" cy="457200"/>
          </a:xfrm>
          <a:prstGeom prst="rect">
            <a:avLst/>
          </a:prstGeom>
          <a:noFill/>
          <a:ln/>
        </p:spPr>
        <p:txBody>
          <a:bodyPr wrap="square" lIns="0" tIns="0" rIns="0" bIns="0" rtlCol="0" anchor="t"/>
          <a:lstStyle/>
          <a:p>
            <a:pPr indent="0" marL="0">
              <a:buNone/>
            </a:pPr>
            <a:r>
              <a:rPr lang="en-US" sz="2400" b="1" dirty="0">
                <a:solidFill>
                  <a:srgbClr val="FF3621"/>
                </a:solidFill>
              </a:rPr>
              <a:t>+$24k</a:t>
            </a:r>
            <a:endParaRPr lang="en-US" sz="2400" dirty="0"/>
          </a:p>
        </p:txBody>
      </p:sp>
      <p:sp>
        <p:nvSpPr>
          <p:cNvPr id="9" name="Text 7"/>
          <p:cNvSpPr txBox="1"/>
          <p:nvPr/>
        </p:nvSpPr>
        <p:spPr>
          <a:xfrm>
            <a:off x="713232" y="3291840"/>
            <a:ext cx="1463040" cy="228600"/>
          </a:xfrm>
          <a:prstGeom prst="rect">
            <a:avLst/>
          </a:prstGeom>
          <a:noFill/>
          <a:ln/>
        </p:spPr>
        <p:txBody>
          <a:bodyPr wrap="square" lIns="0" tIns="0" rIns="0" bIns="0" rtlCol="0" anchor="t"/>
          <a:lstStyle/>
          <a:p>
            <a:pPr indent="0" marL="0">
              <a:buNone/>
            </a:pPr>
            <a:r>
              <a:rPr lang="en-US" sz="1100" dirty="0">
                <a:solidFill>
                  <a:schemeClr val="accent5"/>
                </a:solidFill>
              </a:rPr>
              <a:t>per month</a:t>
            </a:r>
            <a:endParaRPr lang="en-US" sz="1100" dirty="0"/>
          </a:p>
        </p:txBody>
      </p:sp>
      <p:sp>
        <p:nvSpPr>
          <p:cNvPr id="10" name="Text 8"/>
          <p:cNvSpPr txBox="1"/>
          <p:nvPr/>
        </p:nvSpPr>
        <p:spPr>
          <a:xfrm>
            <a:off x="713232" y="3611880"/>
            <a:ext cx="1463040" cy="1508760"/>
          </a:xfrm>
          <a:prstGeom prst="rect">
            <a:avLst/>
          </a:prstGeom>
          <a:noFill/>
          <a:ln/>
        </p:spPr>
        <p:txBody>
          <a:bodyPr wrap="square" lIns="0" tIns="0" rIns="0" bIns="0" rtlCol="0" anchor="t"/>
          <a:lstStyle/>
          <a:p>
            <a:pPr indent="0" marL="0">
              <a:buNone/>
            </a:pPr>
            <a:r>
              <a:rPr lang="en-US" sz="1300" dirty="0">
                <a:solidFill>
                  <a:schemeClr val="bg2"/>
                </a:solidFill>
              </a:rPr>
              <a:t>GPU exploration cluster created, auto-termination off</a:t>
            </a:r>
            <a:endParaRPr lang="en-US" sz="1300" dirty="0"/>
          </a:p>
        </p:txBody>
      </p:sp>
      <p:sp>
        <p:nvSpPr>
          <p:cNvPr id="11" name="Shape 9"/>
          <p:cNvSpPr/>
          <p:nvPr/>
        </p:nvSpPr>
        <p:spPr>
          <a:xfrm>
            <a:off x="2560320" y="2194560"/>
            <a:ext cx="274320" cy="274320"/>
          </a:xfrm>
          <a:prstGeom prst="ellipse">
            <a:avLst/>
          </a:prstGeom>
          <a:solidFill>
            <a:srgbClr val="FF3621"/>
          </a:solidFill>
          <a:ln w="25400">
            <a:solidFill>
              <a:srgbClr val="182C31"/>
            </a:solidFill>
            <a:prstDash val="solid"/>
          </a:ln>
        </p:spPr>
      </p:sp>
      <p:sp>
        <p:nvSpPr>
          <p:cNvPr id="12" name="Text 10"/>
          <p:cNvSpPr txBox="1"/>
          <p:nvPr/>
        </p:nvSpPr>
        <p:spPr>
          <a:xfrm>
            <a:off x="2423160" y="1691640"/>
            <a:ext cx="1737360" cy="365760"/>
          </a:xfrm>
          <a:prstGeom prst="rect">
            <a:avLst/>
          </a:prstGeom>
          <a:noFill/>
          <a:ln/>
        </p:spPr>
        <p:txBody>
          <a:bodyPr wrap="square" lIns="0" tIns="0" rIns="0" bIns="0" rtlCol="0" anchor="t"/>
          <a:lstStyle/>
          <a:p>
            <a:pPr indent="0" marL="0">
              <a:buNone/>
            </a:pPr>
            <a:r>
              <a:rPr lang="en-US" sz="1600" b="1" dirty="0">
                <a:solidFill>
                  <a:schemeClr val="bg2"/>
                </a:solidFill>
              </a:rPr>
              <a:t>Aug 1</a:t>
            </a:r>
            <a:endParaRPr lang="en-US" sz="1600" dirty="0"/>
          </a:p>
        </p:txBody>
      </p:sp>
      <p:sp>
        <p:nvSpPr>
          <p:cNvPr id="13" name="event 2"/>
          <p:cNvSpPr/>
          <p:nvPr/>
        </p:nvSpPr>
        <p:spPr>
          <a:xfrm>
            <a:off x="2423160" y="2697480"/>
            <a:ext cx="1737360" cy="1828800"/>
          </a:xfrm>
          <a:prstGeom prst="roundRect">
            <a:avLst>
              <a:gd name="adj" fmla="val 4211"/>
            </a:avLst>
          </a:prstGeom>
          <a:solidFill>
            <a:schemeClr val="accent6"/>
          </a:solidFill>
          <a:ln/>
        </p:spPr>
      </p:sp>
      <p:sp>
        <p:nvSpPr>
          <p:cNvPr id="14" name="Text 12"/>
          <p:cNvSpPr txBox="1"/>
          <p:nvPr/>
        </p:nvSpPr>
        <p:spPr>
          <a:xfrm>
            <a:off x="2587752" y="2834640"/>
            <a:ext cx="1463040" cy="457200"/>
          </a:xfrm>
          <a:prstGeom prst="rect">
            <a:avLst/>
          </a:prstGeom>
          <a:noFill/>
          <a:ln/>
        </p:spPr>
        <p:txBody>
          <a:bodyPr wrap="square" lIns="0" tIns="0" rIns="0" bIns="0" rtlCol="0" anchor="t"/>
          <a:lstStyle/>
          <a:p>
            <a:pPr indent="0" marL="0">
              <a:buNone/>
            </a:pPr>
            <a:r>
              <a:rPr lang="en-US" sz="2400" b="1" dirty="0">
                <a:solidFill>
                  <a:srgbClr val="FF3621"/>
                </a:solidFill>
              </a:rPr>
              <a:t>+$36k</a:t>
            </a:r>
            <a:endParaRPr lang="en-US" sz="2400" dirty="0"/>
          </a:p>
        </p:txBody>
      </p:sp>
      <p:sp>
        <p:nvSpPr>
          <p:cNvPr id="15" name="Text 13"/>
          <p:cNvSpPr txBox="1"/>
          <p:nvPr/>
        </p:nvSpPr>
        <p:spPr>
          <a:xfrm>
            <a:off x="2587752" y="3291840"/>
            <a:ext cx="1463040" cy="228600"/>
          </a:xfrm>
          <a:prstGeom prst="rect">
            <a:avLst/>
          </a:prstGeom>
          <a:noFill/>
          <a:ln/>
        </p:spPr>
        <p:txBody>
          <a:bodyPr wrap="square" lIns="0" tIns="0" rIns="0" bIns="0" rtlCol="0" anchor="t"/>
          <a:lstStyle/>
          <a:p>
            <a:pPr indent="0" marL="0">
              <a:buNone/>
            </a:pPr>
            <a:r>
              <a:rPr lang="en-US" sz="1100" dirty="0">
                <a:solidFill>
                  <a:schemeClr val="accent5"/>
                </a:solidFill>
              </a:rPr>
              <a:t>per month</a:t>
            </a:r>
            <a:endParaRPr lang="en-US" sz="1100" dirty="0"/>
          </a:p>
        </p:txBody>
      </p:sp>
      <p:sp>
        <p:nvSpPr>
          <p:cNvPr id="16" name="Text 14"/>
          <p:cNvSpPr txBox="1"/>
          <p:nvPr/>
        </p:nvSpPr>
        <p:spPr>
          <a:xfrm>
            <a:off x="2587752" y="3611880"/>
            <a:ext cx="1463040" cy="1508760"/>
          </a:xfrm>
          <a:prstGeom prst="rect">
            <a:avLst/>
          </a:prstGeom>
          <a:noFill/>
          <a:ln/>
        </p:spPr>
        <p:txBody>
          <a:bodyPr wrap="square" lIns="0" tIns="0" rIns="0" bIns="0" rtlCol="0" anchor="t"/>
          <a:lstStyle/>
          <a:p>
            <a:pPr indent="0" marL="0">
              <a:buNone/>
            </a:pPr>
            <a:r>
              <a:rPr lang="en-US" sz="1300" dirty="0">
                <a:solidFill>
                  <a:schemeClr val="bg2"/>
                </a:solidFill>
              </a:rPr>
              <a:t>Contractor clusters and a backfill job that fails 70% of the time</a:t>
            </a:r>
            <a:endParaRPr lang="en-US" sz="1300" dirty="0"/>
          </a:p>
        </p:txBody>
      </p:sp>
      <p:sp>
        <p:nvSpPr>
          <p:cNvPr id="17" name="Shape 15"/>
          <p:cNvSpPr/>
          <p:nvPr/>
        </p:nvSpPr>
        <p:spPr>
          <a:xfrm>
            <a:off x="4434840" y="2194560"/>
            <a:ext cx="274320" cy="274320"/>
          </a:xfrm>
          <a:prstGeom prst="ellipse">
            <a:avLst/>
          </a:prstGeom>
          <a:solidFill>
            <a:srgbClr val="F5A623"/>
          </a:solidFill>
          <a:ln w="25400">
            <a:solidFill>
              <a:srgbClr val="182C31"/>
            </a:solidFill>
            <a:prstDash val="solid"/>
          </a:ln>
        </p:spPr>
      </p:sp>
      <p:sp>
        <p:nvSpPr>
          <p:cNvPr id="18" name="Text 16"/>
          <p:cNvSpPr txBox="1"/>
          <p:nvPr/>
        </p:nvSpPr>
        <p:spPr>
          <a:xfrm>
            <a:off x="4297680" y="1691640"/>
            <a:ext cx="1737360" cy="365760"/>
          </a:xfrm>
          <a:prstGeom prst="rect">
            <a:avLst/>
          </a:prstGeom>
          <a:noFill/>
          <a:ln/>
        </p:spPr>
        <p:txBody>
          <a:bodyPr wrap="square" lIns="0" tIns="0" rIns="0" bIns="0" rtlCol="0" anchor="t"/>
          <a:lstStyle/>
          <a:p>
            <a:pPr indent="0" marL="0">
              <a:buNone/>
            </a:pPr>
            <a:r>
              <a:rPr lang="en-US" sz="1600" b="1" dirty="0">
                <a:solidFill>
                  <a:schemeClr val="bg2"/>
                </a:solidFill>
              </a:rPr>
              <a:t>Aug 5</a:t>
            </a:r>
            <a:endParaRPr lang="en-US" sz="1600" dirty="0"/>
          </a:p>
        </p:txBody>
      </p:sp>
      <p:sp>
        <p:nvSpPr>
          <p:cNvPr id="19" name="event 3"/>
          <p:cNvSpPr/>
          <p:nvPr/>
        </p:nvSpPr>
        <p:spPr>
          <a:xfrm>
            <a:off x="4297680" y="2697480"/>
            <a:ext cx="1737360" cy="1828800"/>
          </a:xfrm>
          <a:prstGeom prst="roundRect">
            <a:avLst>
              <a:gd name="adj" fmla="val 4211"/>
            </a:avLst>
          </a:prstGeom>
          <a:solidFill>
            <a:schemeClr val="accent6"/>
          </a:solidFill>
          <a:ln/>
        </p:spPr>
      </p:sp>
      <p:sp>
        <p:nvSpPr>
          <p:cNvPr id="20" name="Text 18"/>
          <p:cNvSpPr txBox="1"/>
          <p:nvPr/>
        </p:nvSpPr>
        <p:spPr>
          <a:xfrm>
            <a:off x="4462272" y="2834640"/>
            <a:ext cx="1463040" cy="457200"/>
          </a:xfrm>
          <a:prstGeom prst="rect">
            <a:avLst/>
          </a:prstGeom>
          <a:noFill/>
          <a:ln/>
        </p:spPr>
        <p:txBody>
          <a:bodyPr wrap="square" lIns="0" tIns="0" rIns="0" bIns="0" rtlCol="0" anchor="t"/>
          <a:lstStyle/>
          <a:p>
            <a:pPr indent="0" marL="0">
              <a:buNone/>
            </a:pPr>
            <a:r>
              <a:rPr lang="en-US" sz="2400" b="1" dirty="0">
                <a:solidFill>
                  <a:srgbClr val="F5A623"/>
                </a:solidFill>
              </a:rPr>
              <a:t>+$6k</a:t>
            </a:r>
            <a:endParaRPr lang="en-US" sz="2400" dirty="0"/>
          </a:p>
        </p:txBody>
      </p:sp>
      <p:sp>
        <p:nvSpPr>
          <p:cNvPr id="21" name="Text 19"/>
          <p:cNvSpPr txBox="1"/>
          <p:nvPr/>
        </p:nvSpPr>
        <p:spPr>
          <a:xfrm>
            <a:off x="4462272" y="3291840"/>
            <a:ext cx="1463040" cy="228600"/>
          </a:xfrm>
          <a:prstGeom prst="rect">
            <a:avLst/>
          </a:prstGeom>
          <a:noFill/>
          <a:ln/>
        </p:spPr>
        <p:txBody>
          <a:bodyPr wrap="square" lIns="0" tIns="0" rIns="0" bIns="0" rtlCol="0" anchor="t"/>
          <a:lstStyle/>
          <a:p>
            <a:pPr indent="0" marL="0">
              <a:buNone/>
            </a:pPr>
            <a:r>
              <a:rPr lang="en-US" sz="1100" dirty="0">
                <a:solidFill>
                  <a:schemeClr val="accent5"/>
                </a:solidFill>
              </a:rPr>
              <a:t>per month</a:t>
            </a:r>
            <a:endParaRPr lang="en-US" sz="1100" dirty="0"/>
          </a:p>
        </p:txBody>
      </p:sp>
      <p:sp>
        <p:nvSpPr>
          <p:cNvPr id="22" name="Text 20"/>
          <p:cNvSpPr txBox="1"/>
          <p:nvPr/>
        </p:nvSpPr>
        <p:spPr>
          <a:xfrm>
            <a:off x="4462272" y="3611880"/>
            <a:ext cx="1463040" cy="1508760"/>
          </a:xfrm>
          <a:prstGeom prst="rect">
            <a:avLst/>
          </a:prstGeom>
          <a:noFill/>
          <a:ln/>
        </p:spPr>
        <p:txBody>
          <a:bodyPr wrap="square" lIns="0" tIns="0" rIns="0" bIns="0" rtlCol="0" anchor="t"/>
          <a:lstStyle/>
          <a:p>
            <a:pPr indent="0" marL="0">
              <a:buNone/>
            </a:pPr>
            <a:r>
              <a:rPr lang="en-US" sz="1300" dirty="0">
                <a:solidFill>
                  <a:schemeClr val="bg2"/>
                </a:solidFill>
              </a:rPr>
              <a:t>Salesforce ingestion switched from daily to continuous</a:t>
            </a:r>
            <a:endParaRPr lang="en-US" sz="1300" dirty="0"/>
          </a:p>
        </p:txBody>
      </p:sp>
      <p:sp>
        <p:nvSpPr>
          <p:cNvPr id="23" name="Shape 21"/>
          <p:cNvSpPr/>
          <p:nvPr/>
        </p:nvSpPr>
        <p:spPr>
          <a:xfrm>
            <a:off x="6309360" y="2194560"/>
            <a:ext cx="274320" cy="274320"/>
          </a:xfrm>
          <a:prstGeom prst="ellipse">
            <a:avLst/>
          </a:prstGeom>
          <a:solidFill>
            <a:srgbClr val="FF3621"/>
          </a:solidFill>
          <a:ln w="25400">
            <a:solidFill>
              <a:srgbClr val="182C31"/>
            </a:solidFill>
            <a:prstDash val="solid"/>
          </a:ln>
        </p:spPr>
      </p:sp>
      <p:sp>
        <p:nvSpPr>
          <p:cNvPr id="24" name="Text 22"/>
          <p:cNvSpPr txBox="1"/>
          <p:nvPr/>
        </p:nvSpPr>
        <p:spPr>
          <a:xfrm>
            <a:off x="6172200" y="1691640"/>
            <a:ext cx="1737360" cy="365760"/>
          </a:xfrm>
          <a:prstGeom prst="rect">
            <a:avLst/>
          </a:prstGeom>
          <a:noFill/>
          <a:ln/>
        </p:spPr>
        <p:txBody>
          <a:bodyPr wrap="square" lIns="0" tIns="0" rIns="0" bIns="0" rtlCol="0" anchor="t"/>
          <a:lstStyle/>
          <a:p>
            <a:pPr indent="0" marL="0">
              <a:buNone/>
            </a:pPr>
            <a:r>
              <a:rPr lang="en-US" sz="1600" b="1" dirty="0">
                <a:solidFill>
                  <a:schemeClr val="bg2"/>
                </a:solidFill>
              </a:rPr>
              <a:t>Aug 25</a:t>
            </a:r>
            <a:endParaRPr lang="en-US" sz="1600" dirty="0"/>
          </a:p>
        </p:txBody>
      </p:sp>
      <p:sp>
        <p:nvSpPr>
          <p:cNvPr id="25" name="event 4"/>
          <p:cNvSpPr/>
          <p:nvPr/>
        </p:nvSpPr>
        <p:spPr>
          <a:xfrm>
            <a:off x="6172200" y="2697480"/>
            <a:ext cx="1737360" cy="1828800"/>
          </a:xfrm>
          <a:prstGeom prst="roundRect">
            <a:avLst>
              <a:gd name="adj" fmla="val 4211"/>
            </a:avLst>
          </a:prstGeom>
          <a:solidFill>
            <a:schemeClr val="accent6"/>
          </a:solidFill>
          <a:ln/>
        </p:spPr>
      </p:sp>
      <p:sp>
        <p:nvSpPr>
          <p:cNvPr id="26" name="Text 24"/>
          <p:cNvSpPr txBox="1"/>
          <p:nvPr/>
        </p:nvSpPr>
        <p:spPr>
          <a:xfrm>
            <a:off x="6336792" y="2834640"/>
            <a:ext cx="1463040" cy="457200"/>
          </a:xfrm>
          <a:prstGeom prst="rect">
            <a:avLst/>
          </a:prstGeom>
          <a:noFill/>
          <a:ln/>
        </p:spPr>
        <p:txBody>
          <a:bodyPr wrap="square" lIns="0" tIns="0" rIns="0" bIns="0" rtlCol="0" anchor="t"/>
          <a:lstStyle/>
          <a:p>
            <a:pPr indent="0" marL="0">
              <a:buNone/>
            </a:pPr>
            <a:r>
              <a:rPr lang="en-US" sz="2400" b="1" dirty="0">
                <a:solidFill>
                  <a:srgbClr val="FF3621"/>
                </a:solidFill>
              </a:rPr>
              <a:t>+$6k</a:t>
            </a:r>
            <a:endParaRPr lang="en-US" sz="2400" dirty="0"/>
          </a:p>
        </p:txBody>
      </p:sp>
      <p:sp>
        <p:nvSpPr>
          <p:cNvPr id="27" name="Text 25"/>
          <p:cNvSpPr txBox="1"/>
          <p:nvPr/>
        </p:nvSpPr>
        <p:spPr>
          <a:xfrm>
            <a:off x="6336792" y="3291840"/>
            <a:ext cx="1463040" cy="228600"/>
          </a:xfrm>
          <a:prstGeom prst="rect">
            <a:avLst/>
          </a:prstGeom>
          <a:noFill/>
          <a:ln/>
        </p:spPr>
        <p:txBody>
          <a:bodyPr wrap="square" lIns="0" tIns="0" rIns="0" bIns="0" rtlCol="0" anchor="t"/>
          <a:lstStyle/>
          <a:p>
            <a:pPr indent="0" marL="0">
              <a:buNone/>
            </a:pPr>
            <a:r>
              <a:rPr lang="en-US" sz="1100" dirty="0">
                <a:solidFill>
                  <a:schemeClr val="accent5"/>
                </a:solidFill>
              </a:rPr>
              <a:t>per month</a:t>
            </a:r>
            <a:endParaRPr lang="en-US" sz="1100" dirty="0"/>
          </a:p>
        </p:txBody>
      </p:sp>
      <p:sp>
        <p:nvSpPr>
          <p:cNvPr id="28" name="Text 26"/>
          <p:cNvSpPr txBox="1"/>
          <p:nvPr/>
        </p:nvSpPr>
        <p:spPr>
          <a:xfrm>
            <a:off x="6336792" y="3611880"/>
            <a:ext cx="1463040" cy="1508760"/>
          </a:xfrm>
          <a:prstGeom prst="rect">
            <a:avLst/>
          </a:prstGeom>
          <a:noFill/>
          <a:ln/>
        </p:spPr>
        <p:txBody>
          <a:bodyPr wrap="square" lIns="0" tIns="0" rIns="0" bIns="0" rtlCol="0" anchor="t"/>
          <a:lstStyle/>
          <a:p>
            <a:pPr indent="0" marL="0">
              <a:buNone/>
            </a:pPr>
            <a:r>
              <a:rPr lang="en-US" sz="1300" dirty="0">
                <a:solidFill>
                  <a:schemeClr val="bg2"/>
                </a:solidFill>
              </a:rPr>
              <a:t>Inventory forecast changed from daily to every 15 minutes</a:t>
            </a:r>
            <a:endParaRPr lang="en-US" sz="1300" dirty="0"/>
          </a:p>
        </p:txBody>
      </p:sp>
      <p:sp>
        <p:nvSpPr>
          <p:cNvPr id="29" name="Shape 27"/>
          <p:cNvSpPr/>
          <p:nvPr/>
        </p:nvSpPr>
        <p:spPr>
          <a:xfrm>
            <a:off x="8183880" y="2194560"/>
            <a:ext cx="274320" cy="274320"/>
          </a:xfrm>
          <a:prstGeom prst="ellipse">
            <a:avLst/>
          </a:prstGeom>
          <a:solidFill>
            <a:srgbClr val="8FA3A8"/>
          </a:solidFill>
          <a:ln w="25400">
            <a:solidFill>
              <a:srgbClr val="182C31"/>
            </a:solidFill>
            <a:prstDash val="solid"/>
          </a:ln>
        </p:spPr>
      </p:sp>
      <p:sp>
        <p:nvSpPr>
          <p:cNvPr id="30" name="Text 28"/>
          <p:cNvSpPr txBox="1"/>
          <p:nvPr/>
        </p:nvSpPr>
        <p:spPr>
          <a:xfrm>
            <a:off x="8046720" y="1691640"/>
            <a:ext cx="1737360" cy="365760"/>
          </a:xfrm>
          <a:prstGeom prst="rect">
            <a:avLst/>
          </a:prstGeom>
          <a:noFill/>
          <a:ln/>
        </p:spPr>
        <p:txBody>
          <a:bodyPr wrap="square" lIns="0" tIns="0" rIns="0" bIns="0" rtlCol="0" anchor="t"/>
          <a:lstStyle/>
          <a:p>
            <a:pPr indent="0" marL="0">
              <a:buNone/>
            </a:pPr>
            <a:r>
              <a:rPr lang="en-US" sz="1600" b="1" dirty="0">
                <a:solidFill>
                  <a:schemeClr val="bg2"/>
                </a:solidFill>
              </a:rPr>
              <a:t>Sep 1</a:t>
            </a:r>
            <a:endParaRPr lang="en-US" sz="1600" dirty="0"/>
          </a:p>
        </p:txBody>
      </p:sp>
      <p:sp>
        <p:nvSpPr>
          <p:cNvPr id="31" name="event 5"/>
          <p:cNvSpPr/>
          <p:nvPr/>
        </p:nvSpPr>
        <p:spPr>
          <a:xfrm>
            <a:off x="8046720" y="2697480"/>
            <a:ext cx="1737360" cy="1828800"/>
          </a:xfrm>
          <a:prstGeom prst="roundRect">
            <a:avLst>
              <a:gd name="adj" fmla="val 4211"/>
            </a:avLst>
          </a:prstGeom>
          <a:solidFill>
            <a:schemeClr val="accent6"/>
          </a:solidFill>
          <a:ln/>
        </p:spPr>
      </p:sp>
      <p:sp>
        <p:nvSpPr>
          <p:cNvPr id="32" name="Text 30"/>
          <p:cNvSpPr txBox="1"/>
          <p:nvPr/>
        </p:nvSpPr>
        <p:spPr>
          <a:xfrm>
            <a:off x="8211312" y="2834640"/>
            <a:ext cx="1463040" cy="457200"/>
          </a:xfrm>
          <a:prstGeom prst="rect">
            <a:avLst/>
          </a:prstGeom>
          <a:noFill/>
          <a:ln/>
        </p:spPr>
        <p:txBody>
          <a:bodyPr wrap="square" lIns="0" tIns="0" rIns="0" bIns="0" rtlCol="0" anchor="t"/>
          <a:lstStyle/>
          <a:p>
            <a:pPr indent="0" marL="0">
              <a:buNone/>
            </a:pPr>
            <a:r>
              <a:rPr lang="en-US" sz="2400" b="1" dirty="0">
                <a:solidFill>
                  <a:srgbClr val="8FA3A8"/>
                </a:solidFill>
              </a:rPr>
              <a:t>+$10k</a:t>
            </a:r>
            <a:endParaRPr lang="en-US" sz="2400" dirty="0"/>
          </a:p>
        </p:txBody>
      </p:sp>
      <p:sp>
        <p:nvSpPr>
          <p:cNvPr id="33" name="Text 31"/>
          <p:cNvSpPr txBox="1"/>
          <p:nvPr/>
        </p:nvSpPr>
        <p:spPr>
          <a:xfrm>
            <a:off x="8211312" y="3291840"/>
            <a:ext cx="1463040" cy="228600"/>
          </a:xfrm>
          <a:prstGeom prst="rect">
            <a:avLst/>
          </a:prstGeom>
          <a:noFill/>
          <a:ln/>
        </p:spPr>
        <p:txBody>
          <a:bodyPr wrap="square" lIns="0" tIns="0" rIns="0" bIns="0" rtlCol="0" anchor="t"/>
          <a:lstStyle/>
          <a:p>
            <a:pPr indent="0" marL="0">
              <a:buNone/>
            </a:pPr>
            <a:r>
              <a:rPr lang="en-US" sz="1100" dirty="0">
                <a:solidFill>
                  <a:schemeClr val="accent5"/>
                </a:solidFill>
              </a:rPr>
              <a:t>per month</a:t>
            </a:r>
            <a:endParaRPr lang="en-US" sz="1100" dirty="0"/>
          </a:p>
        </p:txBody>
      </p:sp>
      <p:sp>
        <p:nvSpPr>
          <p:cNvPr id="34" name="Text 32"/>
          <p:cNvSpPr txBox="1"/>
          <p:nvPr/>
        </p:nvSpPr>
        <p:spPr>
          <a:xfrm>
            <a:off x="8211312" y="3611880"/>
            <a:ext cx="1463040" cy="1508760"/>
          </a:xfrm>
          <a:prstGeom prst="rect">
            <a:avLst/>
          </a:prstGeom>
          <a:noFill/>
          <a:ln/>
        </p:spPr>
        <p:txBody>
          <a:bodyPr wrap="square" lIns="0" tIns="0" rIns="0" bIns="0" rtlCol="0" anchor="t"/>
          <a:lstStyle/>
          <a:p>
            <a:pPr indent="0" marL="0">
              <a:buNone/>
            </a:pPr>
            <a:r>
              <a:rPr lang="en-US" sz="1300" dirty="0">
                <a:solidFill>
                  <a:schemeClr val="bg2"/>
                </a:solidFill>
              </a:rPr>
              <a:t>All-purpose list price repriced, $0.55 to $0.65/DBU</a:t>
            </a:r>
            <a:endParaRPr lang="en-US" sz="1300" dirty="0"/>
          </a:p>
        </p:txBody>
      </p:sp>
      <p:sp>
        <p:nvSpPr>
          <p:cNvPr id="35" name="Shape 33"/>
          <p:cNvSpPr/>
          <p:nvPr/>
        </p:nvSpPr>
        <p:spPr>
          <a:xfrm>
            <a:off x="10058400" y="2194560"/>
            <a:ext cx="274320" cy="274320"/>
          </a:xfrm>
          <a:prstGeom prst="ellipse">
            <a:avLst/>
          </a:prstGeom>
          <a:solidFill>
            <a:srgbClr val="F5A623"/>
          </a:solidFill>
          <a:ln w="25400">
            <a:solidFill>
              <a:srgbClr val="182C31"/>
            </a:solidFill>
            <a:prstDash val="solid"/>
          </a:ln>
        </p:spPr>
      </p:sp>
      <p:sp>
        <p:nvSpPr>
          <p:cNvPr id="36" name="Text 34"/>
          <p:cNvSpPr txBox="1"/>
          <p:nvPr/>
        </p:nvSpPr>
        <p:spPr>
          <a:xfrm>
            <a:off x="9921240" y="1691640"/>
            <a:ext cx="1737360" cy="365760"/>
          </a:xfrm>
          <a:prstGeom prst="rect">
            <a:avLst/>
          </a:prstGeom>
          <a:noFill/>
          <a:ln/>
        </p:spPr>
        <p:txBody>
          <a:bodyPr wrap="square" lIns="0" tIns="0" rIns="0" bIns="0" rtlCol="0" anchor="t"/>
          <a:lstStyle/>
          <a:p>
            <a:pPr indent="0" marL="0">
              <a:buNone/>
            </a:pPr>
            <a:r>
              <a:rPr lang="en-US" sz="1600" b="1" dirty="0">
                <a:solidFill>
                  <a:schemeClr val="bg2"/>
                </a:solidFill>
              </a:rPr>
              <a:t>Sep 8</a:t>
            </a:r>
            <a:endParaRPr lang="en-US" sz="1600" dirty="0"/>
          </a:p>
        </p:txBody>
      </p:sp>
      <p:sp>
        <p:nvSpPr>
          <p:cNvPr id="37" name="event 6"/>
          <p:cNvSpPr/>
          <p:nvPr/>
        </p:nvSpPr>
        <p:spPr>
          <a:xfrm>
            <a:off x="9921240" y="2697480"/>
            <a:ext cx="1737360" cy="1828800"/>
          </a:xfrm>
          <a:prstGeom prst="roundRect">
            <a:avLst>
              <a:gd name="adj" fmla="val 4211"/>
            </a:avLst>
          </a:prstGeom>
          <a:solidFill>
            <a:schemeClr val="accent6"/>
          </a:solidFill>
          <a:ln/>
        </p:spPr>
      </p:sp>
      <p:sp>
        <p:nvSpPr>
          <p:cNvPr id="38" name="Text 36"/>
          <p:cNvSpPr txBox="1"/>
          <p:nvPr/>
        </p:nvSpPr>
        <p:spPr>
          <a:xfrm>
            <a:off x="10085832" y="2834640"/>
            <a:ext cx="1463040" cy="457200"/>
          </a:xfrm>
          <a:prstGeom prst="rect">
            <a:avLst/>
          </a:prstGeom>
          <a:noFill/>
          <a:ln/>
        </p:spPr>
        <p:txBody>
          <a:bodyPr wrap="square" lIns="0" tIns="0" rIns="0" bIns="0" rtlCol="0" anchor="t"/>
          <a:lstStyle/>
          <a:p>
            <a:pPr indent="0" marL="0">
              <a:buNone/>
            </a:pPr>
            <a:r>
              <a:rPr lang="en-US" sz="2400" b="1" dirty="0">
                <a:solidFill>
                  <a:srgbClr val="F5A623"/>
                </a:solidFill>
              </a:rPr>
              <a:t>+$27k</a:t>
            </a:r>
            <a:endParaRPr lang="en-US" sz="2400" dirty="0"/>
          </a:p>
        </p:txBody>
      </p:sp>
      <p:sp>
        <p:nvSpPr>
          <p:cNvPr id="39" name="Text 37"/>
          <p:cNvSpPr txBox="1"/>
          <p:nvPr/>
        </p:nvSpPr>
        <p:spPr>
          <a:xfrm>
            <a:off x="10085832" y="3291840"/>
            <a:ext cx="1463040" cy="228600"/>
          </a:xfrm>
          <a:prstGeom prst="rect">
            <a:avLst/>
          </a:prstGeom>
          <a:noFill/>
          <a:ln/>
        </p:spPr>
        <p:txBody>
          <a:bodyPr wrap="square" lIns="0" tIns="0" rIns="0" bIns="0" rtlCol="0" anchor="t"/>
          <a:lstStyle/>
          <a:p>
            <a:pPr indent="0" marL="0">
              <a:buNone/>
            </a:pPr>
            <a:r>
              <a:rPr lang="en-US" sz="1100" dirty="0">
                <a:solidFill>
                  <a:schemeClr val="accent5"/>
                </a:solidFill>
              </a:rPr>
              <a:t>per month</a:t>
            </a:r>
            <a:endParaRPr lang="en-US" sz="1100" dirty="0"/>
          </a:p>
        </p:txBody>
      </p:sp>
      <p:sp>
        <p:nvSpPr>
          <p:cNvPr id="40" name="Text 38"/>
          <p:cNvSpPr txBox="1"/>
          <p:nvPr/>
        </p:nvSpPr>
        <p:spPr>
          <a:xfrm>
            <a:off x="10085832" y="3611880"/>
            <a:ext cx="1463040" cy="1508760"/>
          </a:xfrm>
          <a:prstGeom prst="rect">
            <a:avLst/>
          </a:prstGeom>
          <a:noFill/>
          <a:ln/>
        </p:spPr>
        <p:txBody>
          <a:bodyPr wrap="square" lIns="0" tIns="0" rIns="0" bIns="0" rtlCol="0" anchor="t"/>
          <a:lstStyle/>
          <a:p>
            <a:pPr indent="0" marL="0">
              <a:buNone/>
            </a:pPr>
            <a:r>
              <a:rPr lang="en-US" sz="1300" dirty="0">
                <a:solidFill>
                  <a:schemeClr val="bg2"/>
                </a:solidFill>
              </a:rPr>
              <a:t>BI warehouse resized 3.3× plus a 15-minute dashboard refresh</a:t>
            </a:r>
            <a:endParaRPr lang="en-US" sz="1300" dirty="0"/>
          </a:p>
        </p:txBody>
      </p:sp>
      <p:sp>
        <p:nvSpPr>
          <p:cNvPr id="41" name="Text 39"/>
          <p:cNvSpPr txBox="1"/>
          <p:nvPr/>
        </p:nvSpPr>
        <p:spPr>
          <a:xfrm>
            <a:off x="548640" y="4846320"/>
            <a:ext cx="11064240" cy="640080"/>
          </a:xfrm>
          <a:prstGeom prst="rect">
            <a:avLst/>
          </a:prstGeom>
          <a:noFill/>
          <a:ln/>
        </p:spPr>
        <p:txBody>
          <a:bodyPr wrap="square" lIns="0" tIns="0" rIns="0" bIns="0" rtlCol="0" anchor="t"/>
          <a:lstStyle/>
          <a:p>
            <a:pPr indent="0" marL="0">
              <a:buNone/>
            </a:pPr>
            <a:r>
              <a:rPr lang="en-US" sz="1500" b="1" dirty="0">
                <a:solidFill>
                  <a:schemeClr val="accent1"/>
                </a:solidFill>
              </a:rPr>
              <a:t>How to read this: </a:t>
            </a:r>
            <a:pPr indent="0" marL="0">
              <a:buNone/>
            </a:pPr>
            <a:r>
              <a:rPr lang="en-US" sz="1500" dirty="0">
                <a:solidFill>
                  <a:schemeClr val="bg2"/>
                </a:solidFill>
              </a:rPr>
              <a:t>gradual growth is demand. A step change on a single date is a configuration change, and every step here has a config-history or audit-log trail. Figures are October run-rate.</a:t>
            </a:r>
            <a:endParaRPr lang="en-US" sz="1500" dirty="0"/>
          </a:p>
        </p:txBody>
      </p:sp>
      <p:sp>
        <p:nvSpPr>
          <p:cNvPr id="25" name="Slide Number Placeholder 0"/>
          <p:cNvSpPr>
            <a:spLocks noGrp="1"/>
          </p:cNvSpPr>
          <p:nvPr>
            <p:ph type="sldNum" sz="quarter" idx="4294967295"/>
          </p:nvPr>
        </p:nvSpPr>
        <p:spPr>
          <a:xfrm>
            <a:off x="11247120" y="63276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WASTE, INEFFICIENCY OR INVESTMENT</a:t>
            </a:r>
            <a:endParaRPr lang="en-US" sz="1200" dirty="0"/>
          </a:p>
        </p:txBody>
      </p:sp>
      <p:sp>
        <p:nvSpPr>
          <p:cNvPr id="3" name="Text 1"/>
          <p:cNvSpPr/>
          <p:nvPr>
            <p:ph idx="103"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000" b="1" dirty="0">
                <a:solidFill>
                  <a:schemeClr val="bg2"/>
                </a:solidFill>
              </a:rPr>
              <a:t>Where the $179k a month actually goes</a:t>
            </a:r>
            <a:endParaRPr lang="en-US" sz="3000" dirty="0"/>
          </a:p>
        </p:txBody>
      </p:sp>
      <p:graphicFrame>
        <p:nvGraphicFramePr>
          <p:cNvPr id="4" name="Chart 0" descr=""/>
          <p:cNvGraphicFramePr/>
          <p:nvPr/>
        </p:nvGraphicFramePr>
        <p:xfrm>
          <a:off x="548640" y="1463040"/>
          <a:ext cx="4754880" cy="45720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2011680" y="3337560"/>
            <a:ext cx="1828800" cy="548640"/>
          </a:xfrm>
          <a:prstGeom prst="rect">
            <a:avLst/>
          </a:prstGeom>
          <a:noFill/>
          <a:ln/>
        </p:spPr>
        <p:txBody>
          <a:bodyPr wrap="square" lIns="0" tIns="0" rIns="0" bIns="0" rtlCol="0" anchor="t"/>
          <a:lstStyle/>
          <a:p>
            <a:pPr algn="ctr" indent="0" marL="0">
              <a:buNone/>
            </a:pPr>
            <a:r>
              <a:rPr lang="en-US" sz="3000" b="1" dirty="0">
                <a:solidFill>
                  <a:schemeClr val="bg2"/>
                </a:solidFill>
              </a:rPr>
              <a:t>$179k</a:t>
            </a:r>
            <a:endParaRPr lang="en-US" sz="3000" dirty="0"/>
          </a:p>
        </p:txBody>
      </p:sp>
      <p:sp>
        <p:nvSpPr>
          <p:cNvPr id="6" name="Text 3"/>
          <p:cNvSpPr txBox="1"/>
          <p:nvPr/>
        </p:nvSpPr>
        <p:spPr>
          <a:xfrm>
            <a:off x="2011680" y="3886200"/>
            <a:ext cx="1828800" cy="274320"/>
          </a:xfrm>
          <a:prstGeom prst="rect">
            <a:avLst/>
          </a:prstGeom>
          <a:noFill/>
          <a:ln/>
        </p:spPr>
        <p:txBody>
          <a:bodyPr wrap="square" lIns="0" tIns="0" rIns="0" bIns="0" rtlCol="0" anchor="t"/>
          <a:lstStyle/>
          <a:p>
            <a:pPr algn="ctr" indent="0" marL="0">
              <a:buNone/>
            </a:pPr>
            <a:r>
              <a:rPr lang="en-US" sz="1200" dirty="0">
                <a:solidFill>
                  <a:schemeClr val="accent5"/>
                </a:solidFill>
              </a:rPr>
              <a:t>per month</a:t>
            </a:r>
            <a:endParaRPr lang="en-US" sz="1200" dirty="0"/>
          </a:p>
        </p:txBody>
      </p:sp>
      <p:sp>
        <p:nvSpPr>
          <p:cNvPr id="7" name="bucket 1"/>
          <p:cNvSpPr/>
          <p:nvPr/>
        </p:nvSpPr>
        <p:spPr>
          <a:xfrm>
            <a:off x="5669280" y="1463040"/>
            <a:ext cx="5943600" cy="1024128"/>
          </a:xfrm>
          <a:prstGeom prst="roundRect">
            <a:avLst>
              <a:gd name="adj" fmla="val 7143"/>
            </a:avLst>
          </a:prstGeom>
          <a:solidFill>
            <a:schemeClr val="accent6"/>
          </a:solidFill>
          <a:ln/>
        </p:spPr>
      </p:sp>
      <p:sp>
        <p:nvSpPr>
          <p:cNvPr id="8" name="Shape 5"/>
          <p:cNvSpPr/>
          <p:nvPr/>
        </p:nvSpPr>
        <p:spPr>
          <a:xfrm>
            <a:off x="5897880" y="1645920"/>
            <a:ext cx="274320" cy="274320"/>
          </a:xfrm>
          <a:prstGeom prst="ellipse">
            <a:avLst/>
          </a:prstGeom>
          <a:solidFill>
            <a:srgbClr val="FF3621"/>
          </a:solidFill>
          <a:ln/>
        </p:spPr>
      </p:sp>
      <p:sp>
        <p:nvSpPr>
          <p:cNvPr id="9" name="Text 6"/>
          <p:cNvSpPr txBox="1"/>
          <p:nvPr/>
        </p:nvSpPr>
        <p:spPr>
          <a:xfrm>
            <a:off x="6355080" y="1600200"/>
            <a:ext cx="3840480" cy="320040"/>
          </a:xfrm>
          <a:prstGeom prst="rect">
            <a:avLst/>
          </a:prstGeom>
          <a:noFill/>
          <a:ln/>
        </p:spPr>
        <p:txBody>
          <a:bodyPr wrap="square" lIns="0" tIns="0" rIns="0" bIns="0" rtlCol="0" anchor="t"/>
          <a:lstStyle/>
          <a:p>
            <a:pPr indent="0" marL="0">
              <a:buNone/>
            </a:pPr>
            <a:r>
              <a:rPr lang="en-US" sz="1500" b="1" dirty="0">
                <a:solidFill>
                  <a:schemeClr val="bg2"/>
                </a:solidFill>
              </a:rPr>
              <a:t>Waste: stop it</a:t>
            </a:r>
            <a:endParaRPr lang="en-US" sz="1500" dirty="0"/>
          </a:p>
        </p:txBody>
      </p:sp>
      <p:sp>
        <p:nvSpPr>
          <p:cNvPr id="10" name="Text 7"/>
          <p:cNvSpPr txBox="1"/>
          <p:nvPr/>
        </p:nvSpPr>
        <p:spPr>
          <a:xfrm>
            <a:off x="10241280" y="1572768"/>
            <a:ext cx="1188720" cy="365760"/>
          </a:xfrm>
          <a:prstGeom prst="rect">
            <a:avLst/>
          </a:prstGeom>
          <a:noFill/>
          <a:ln/>
        </p:spPr>
        <p:txBody>
          <a:bodyPr wrap="square" lIns="0" tIns="0" rIns="0" bIns="0" rtlCol="0" anchor="t"/>
          <a:lstStyle/>
          <a:p>
            <a:pPr algn="r" indent="0" marL="0">
              <a:buNone/>
            </a:pPr>
            <a:r>
              <a:rPr lang="en-US" sz="1800" b="1" dirty="0">
                <a:solidFill>
                  <a:srgbClr val="FF3621"/>
                </a:solidFill>
              </a:rPr>
              <a:t>$69k</a:t>
            </a:r>
            <a:endParaRPr lang="en-US" sz="1800" dirty="0"/>
          </a:p>
        </p:txBody>
      </p:sp>
      <p:sp>
        <p:nvSpPr>
          <p:cNvPr id="11" name="Text 8"/>
          <p:cNvSpPr txBox="1"/>
          <p:nvPr/>
        </p:nvSpPr>
        <p:spPr>
          <a:xfrm>
            <a:off x="6355080" y="1938528"/>
            <a:ext cx="5074920" cy="502920"/>
          </a:xfrm>
          <a:prstGeom prst="rect">
            <a:avLst/>
          </a:prstGeom>
          <a:noFill/>
          <a:ln/>
        </p:spPr>
        <p:txBody>
          <a:bodyPr wrap="square" lIns="0" tIns="0" rIns="0" bIns="0" rtlCol="0" anchor="t"/>
          <a:lstStyle/>
          <a:p>
            <a:pPr indent="0" marL="0">
              <a:buNone/>
            </a:pPr>
            <a:r>
              <a:rPr lang="en-US" sz="1100" dirty="0">
                <a:solidFill>
                  <a:schemeClr val="accent5"/>
                </a:solidFill>
              </a:rPr>
              <a:t>Idle GPU cluster, contractor resources, a failing backfill job and a forecast running 96 times a day.</a:t>
            </a:r>
            <a:endParaRPr lang="en-US" sz="1100" dirty="0"/>
          </a:p>
        </p:txBody>
      </p:sp>
      <p:sp>
        <p:nvSpPr>
          <p:cNvPr id="12" name="bucket 2"/>
          <p:cNvSpPr/>
          <p:nvPr/>
        </p:nvSpPr>
        <p:spPr>
          <a:xfrm>
            <a:off x="5669280" y="2624328"/>
            <a:ext cx="5943600" cy="1024128"/>
          </a:xfrm>
          <a:prstGeom prst="roundRect">
            <a:avLst>
              <a:gd name="adj" fmla="val 7143"/>
            </a:avLst>
          </a:prstGeom>
          <a:solidFill>
            <a:schemeClr val="accent6"/>
          </a:solidFill>
          <a:ln/>
        </p:spPr>
      </p:sp>
      <p:sp>
        <p:nvSpPr>
          <p:cNvPr id="13" name="Shape 10"/>
          <p:cNvSpPr/>
          <p:nvPr/>
        </p:nvSpPr>
        <p:spPr>
          <a:xfrm>
            <a:off x="5897880" y="2807208"/>
            <a:ext cx="274320" cy="274320"/>
          </a:xfrm>
          <a:prstGeom prst="ellipse">
            <a:avLst/>
          </a:prstGeom>
          <a:solidFill>
            <a:srgbClr val="F5A623"/>
          </a:solidFill>
          <a:ln/>
        </p:spPr>
      </p:sp>
      <p:sp>
        <p:nvSpPr>
          <p:cNvPr id="14" name="Text 11"/>
          <p:cNvSpPr txBox="1"/>
          <p:nvPr/>
        </p:nvSpPr>
        <p:spPr>
          <a:xfrm>
            <a:off x="6355080" y="2761488"/>
            <a:ext cx="3840480" cy="320040"/>
          </a:xfrm>
          <a:prstGeom prst="rect">
            <a:avLst/>
          </a:prstGeom>
          <a:noFill/>
          <a:ln/>
        </p:spPr>
        <p:txBody>
          <a:bodyPr wrap="square" lIns="0" tIns="0" rIns="0" bIns="0" rtlCol="0" anchor="t"/>
          <a:lstStyle/>
          <a:p>
            <a:pPr indent="0" marL="0">
              <a:buNone/>
            </a:pPr>
            <a:r>
              <a:rPr lang="en-US" sz="1500" b="1" dirty="0">
                <a:solidFill>
                  <a:schemeClr val="bg2"/>
                </a:solidFill>
              </a:rPr>
              <a:t>Inefficiency: right-size it</a:t>
            </a:r>
            <a:endParaRPr lang="en-US" sz="1500" dirty="0"/>
          </a:p>
        </p:txBody>
      </p:sp>
      <p:sp>
        <p:nvSpPr>
          <p:cNvPr id="15" name="Text 12"/>
          <p:cNvSpPr txBox="1"/>
          <p:nvPr/>
        </p:nvSpPr>
        <p:spPr>
          <a:xfrm>
            <a:off x="10241280" y="2734056"/>
            <a:ext cx="1188720" cy="365760"/>
          </a:xfrm>
          <a:prstGeom prst="rect">
            <a:avLst/>
          </a:prstGeom>
          <a:noFill/>
          <a:ln/>
        </p:spPr>
        <p:txBody>
          <a:bodyPr wrap="square" lIns="0" tIns="0" rIns="0" bIns="0" rtlCol="0" anchor="t"/>
          <a:lstStyle/>
          <a:p>
            <a:pPr algn="r" indent="0" marL="0">
              <a:buNone/>
            </a:pPr>
            <a:r>
              <a:rPr lang="en-US" sz="1800" b="1" dirty="0">
                <a:solidFill>
                  <a:srgbClr val="F5A623"/>
                </a:solidFill>
              </a:rPr>
              <a:t>$53k</a:t>
            </a:r>
            <a:endParaRPr lang="en-US" sz="1800" dirty="0"/>
          </a:p>
        </p:txBody>
      </p:sp>
      <p:sp>
        <p:nvSpPr>
          <p:cNvPr id="16" name="Text 13"/>
          <p:cNvSpPr txBox="1"/>
          <p:nvPr/>
        </p:nvSpPr>
        <p:spPr>
          <a:xfrm>
            <a:off x="6355080" y="3099816"/>
            <a:ext cx="5074920" cy="502920"/>
          </a:xfrm>
          <a:prstGeom prst="rect">
            <a:avLst/>
          </a:prstGeom>
          <a:noFill/>
          <a:ln/>
        </p:spPr>
        <p:txBody>
          <a:bodyPr wrap="square" lIns="0" tIns="0" rIns="0" bIns="0" rtlCol="0" anchor="t"/>
          <a:lstStyle/>
          <a:p>
            <a:pPr indent="0" marL="0">
              <a:buNone/>
            </a:pPr>
            <a:r>
              <a:rPr lang="en-US" sz="1100" dirty="0">
                <a:solidFill>
                  <a:schemeClr val="accent5"/>
                </a:solidFill>
              </a:rPr>
              <a:t>An oversized, always-warm BI warehouse, always-on ingestion, and dev clusters that never auto-terminate.</a:t>
            </a:r>
            <a:endParaRPr lang="en-US" sz="1100" dirty="0"/>
          </a:p>
        </p:txBody>
      </p:sp>
      <p:sp>
        <p:nvSpPr>
          <p:cNvPr id="17" name="bucket 3"/>
          <p:cNvSpPr/>
          <p:nvPr/>
        </p:nvSpPr>
        <p:spPr>
          <a:xfrm>
            <a:off x="5669280" y="3785616"/>
            <a:ext cx="5943600" cy="1024128"/>
          </a:xfrm>
          <a:prstGeom prst="roundRect">
            <a:avLst>
              <a:gd name="adj" fmla="val 7143"/>
            </a:avLst>
          </a:prstGeom>
          <a:solidFill>
            <a:schemeClr val="accent6"/>
          </a:solidFill>
          <a:ln/>
        </p:spPr>
      </p:sp>
      <p:sp>
        <p:nvSpPr>
          <p:cNvPr id="18" name="Shape 15"/>
          <p:cNvSpPr/>
          <p:nvPr/>
        </p:nvSpPr>
        <p:spPr>
          <a:xfrm>
            <a:off x="5897880" y="3968496"/>
            <a:ext cx="274320" cy="274320"/>
          </a:xfrm>
          <a:prstGeom prst="ellipse">
            <a:avLst/>
          </a:prstGeom>
          <a:solidFill>
            <a:srgbClr val="2BB673"/>
          </a:solidFill>
          <a:ln/>
        </p:spPr>
      </p:sp>
      <p:sp>
        <p:nvSpPr>
          <p:cNvPr id="19" name="Text 16"/>
          <p:cNvSpPr txBox="1"/>
          <p:nvPr/>
        </p:nvSpPr>
        <p:spPr>
          <a:xfrm>
            <a:off x="6355080" y="3922776"/>
            <a:ext cx="3840480" cy="320040"/>
          </a:xfrm>
          <a:prstGeom prst="rect">
            <a:avLst/>
          </a:prstGeom>
          <a:noFill/>
          <a:ln/>
        </p:spPr>
        <p:txBody>
          <a:bodyPr wrap="square" lIns="0" tIns="0" rIns="0" bIns="0" rtlCol="0" anchor="t"/>
          <a:lstStyle/>
          <a:p>
            <a:pPr indent="0" marL="0">
              <a:buNone/>
            </a:pPr>
            <a:r>
              <a:rPr lang="en-US" sz="1500" b="1" dirty="0">
                <a:solidFill>
                  <a:schemeClr val="bg2"/>
                </a:solidFill>
              </a:rPr>
              <a:t>Investment: protect it</a:t>
            </a:r>
            <a:endParaRPr lang="en-US" sz="1500" dirty="0"/>
          </a:p>
        </p:txBody>
      </p:sp>
      <p:sp>
        <p:nvSpPr>
          <p:cNvPr id="20" name="Text 17"/>
          <p:cNvSpPr txBox="1"/>
          <p:nvPr/>
        </p:nvSpPr>
        <p:spPr>
          <a:xfrm>
            <a:off x="10241280" y="3895344"/>
            <a:ext cx="1188720" cy="365760"/>
          </a:xfrm>
          <a:prstGeom prst="rect">
            <a:avLst/>
          </a:prstGeom>
          <a:noFill/>
          <a:ln/>
        </p:spPr>
        <p:txBody>
          <a:bodyPr wrap="square" lIns="0" tIns="0" rIns="0" bIns="0" rtlCol="0" anchor="t"/>
          <a:lstStyle/>
          <a:p>
            <a:pPr algn="r" indent="0" marL="0">
              <a:buNone/>
            </a:pPr>
            <a:r>
              <a:rPr lang="en-US" sz="1800" b="1" dirty="0">
                <a:solidFill>
                  <a:srgbClr val="2BB673"/>
                </a:solidFill>
              </a:rPr>
              <a:t>$18k</a:t>
            </a:r>
            <a:endParaRPr lang="en-US" sz="1800" dirty="0"/>
          </a:p>
        </p:txBody>
      </p:sp>
      <p:sp>
        <p:nvSpPr>
          <p:cNvPr id="21" name="Text 18"/>
          <p:cNvSpPr txBox="1"/>
          <p:nvPr/>
        </p:nvSpPr>
        <p:spPr>
          <a:xfrm>
            <a:off x="6355080" y="4261104"/>
            <a:ext cx="5074920" cy="502920"/>
          </a:xfrm>
          <a:prstGeom prst="rect">
            <a:avLst/>
          </a:prstGeom>
          <a:noFill/>
          <a:ln/>
        </p:spPr>
        <p:txBody>
          <a:bodyPr wrap="square" lIns="0" tIns="0" rIns="0" bIns="0" rtlCol="0" anchor="t"/>
          <a:lstStyle/>
          <a:p>
            <a:pPr indent="0" marL="0">
              <a:buNone/>
            </a:pPr>
            <a:r>
              <a:rPr lang="en-US" sz="1100" dirty="0">
                <a:solidFill>
                  <a:schemeClr val="accent5"/>
                </a:solidFill>
              </a:rPr>
              <a:t>Project Atlas recommendations: $1.27M a month in incremental revenue (A/B-measured).</a:t>
            </a:r>
            <a:endParaRPr lang="en-US" sz="1100" dirty="0"/>
          </a:p>
        </p:txBody>
      </p:sp>
      <p:sp>
        <p:nvSpPr>
          <p:cNvPr id="22" name="bucket 4"/>
          <p:cNvSpPr/>
          <p:nvPr/>
        </p:nvSpPr>
        <p:spPr>
          <a:xfrm>
            <a:off x="5669280" y="4946904"/>
            <a:ext cx="5943600" cy="1024128"/>
          </a:xfrm>
          <a:prstGeom prst="roundRect">
            <a:avLst>
              <a:gd name="adj" fmla="val 7143"/>
            </a:avLst>
          </a:prstGeom>
          <a:solidFill>
            <a:schemeClr val="accent6"/>
          </a:solidFill>
          <a:ln/>
        </p:spPr>
      </p:sp>
      <p:sp>
        <p:nvSpPr>
          <p:cNvPr id="23" name="Shape 20"/>
          <p:cNvSpPr/>
          <p:nvPr/>
        </p:nvSpPr>
        <p:spPr>
          <a:xfrm>
            <a:off x="5897880" y="5129784"/>
            <a:ext cx="274320" cy="274320"/>
          </a:xfrm>
          <a:prstGeom prst="ellipse">
            <a:avLst/>
          </a:prstGeom>
          <a:solidFill>
            <a:srgbClr val="8FA3A8"/>
          </a:solidFill>
          <a:ln/>
        </p:spPr>
      </p:sp>
      <p:sp>
        <p:nvSpPr>
          <p:cNvPr id="24" name="Text 21"/>
          <p:cNvSpPr txBox="1"/>
          <p:nvPr/>
        </p:nvSpPr>
        <p:spPr>
          <a:xfrm>
            <a:off x="6355080" y="5084064"/>
            <a:ext cx="3840480" cy="320040"/>
          </a:xfrm>
          <a:prstGeom prst="rect">
            <a:avLst/>
          </a:prstGeom>
          <a:noFill/>
          <a:ln/>
        </p:spPr>
        <p:txBody>
          <a:bodyPr wrap="square" lIns="0" tIns="0" rIns="0" bIns="0" rtlCol="0" anchor="t"/>
          <a:lstStyle/>
          <a:p>
            <a:pPr indent="0" marL="0">
              <a:buNone/>
            </a:pPr>
            <a:r>
              <a:rPr lang="en-US" sz="1500" b="1" dirty="0">
                <a:solidFill>
                  <a:schemeClr val="bg2"/>
                </a:solidFill>
              </a:rPr>
              <a:t>Healthy baseline: keep it</a:t>
            </a:r>
            <a:endParaRPr lang="en-US" sz="1500" dirty="0"/>
          </a:p>
        </p:txBody>
      </p:sp>
      <p:sp>
        <p:nvSpPr>
          <p:cNvPr id="25" name="Text 22"/>
          <p:cNvSpPr txBox="1"/>
          <p:nvPr/>
        </p:nvSpPr>
        <p:spPr>
          <a:xfrm>
            <a:off x="10241280" y="5056632"/>
            <a:ext cx="1188720" cy="365760"/>
          </a:xfrm>
          <a:prstGeom prst="rect">
            <a:avLst/>
          </a:prstGeom>
          <a:noFill/>
          <a:ln/>
        </p:spPr>
        <p:txBody>
          <a:bodyPr wrap="square" lIns="0" tIns="0" rIns="0" bIns="0" rtlCol="0" anchor="t"/>
          <a:lstStyle/>
          <a:p>
            <a:pPr algn="r" indent="0" marL="0">
              <a:buNone/>
            </a:pPr>
            <a:r>
              <a:rPr lang="en-US" sz="1800" b="1" dirty="0">
                <a:solidFill>
                  <a:srgbClr val="8FA3A8"/>
                </a:solidFill>
              </a:rPr>
              <a:t>$39k</a:t>
            </a:r>
            <a:endParaRPr lang="en-US" sz="1800" dirty="0"/>
          </a:p>
        </p:txBody>
      </p:sp>
      <p:sp>
        <p:nvSpPr>
          <p:cNvPr id="26" name="Text 23"/>
          <p:cNvSpPr txBox="1"/>
          <p:nvPr/>
        </p:nvSpPr>
        <p:spPr>
          <a:xfrm>
            <a:off x="6355080" y="5422392"/>
            <a:ext cx="5074920" cy="502920"/>
          </a:xfrm>
          <a:prstGeom prst="rect">
            <a:avLst/>
          </a:prstGeom>
          <a:noFill/>
          <a:ln/>
        </p:spPr>
        <p:txBody>
          <a:bodyPr wrap="square" lIns="0" tIns="0" rIns="0" bIns="0" rtlCol="0" anchor="t"/>
          <a:lstStyle/>
          <a:p>
            <a:pPr indent="0" marL="0">
              <a:buNone/>
            </a:pPr>
            <a:r>
              <a:rPr lang="en-US" sz="1100" dirty="0">
                <a:solidFill>
                  <a:schemeClr val="accent5"/>
                </a:solidFill>
              </a:rPr>
              <a:t>Orders ETL, customer 360, finance close, shared analytics. Shared analytics is what good looks like: policy, auto-termination and tags.</a:t>
            </a:r>
            <a:endParaRPr lang="en-US" sz="1100" dirty="0"/>
          </a:p>
        </p:txBody>
      </p:sp>
      <p:sp>
        <p:nvSpPr>
          <p:cNvPr id="25" name="Slide Number Placeholder 0"/>
          <p:cNvSpPr>
            <a:spLocks noGrp="1"/>
          </p:cNvSpPr>
          <p:nvPr>
            <p:ph type="sldNum" sz="quarter" idx="4294967295"/>
          </p:nvPr>
        </p:nvSpPr>
        <p:spPr>
          <a:xfrm>
            <a:off x="11247120" y="63276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FINDINGS AND SAVINGS</a:t>
            </a:r>
            <a:endParaRPr lang="en-US" sz="1200" dirty="0"/>
          </a:p>
        </p:txBody>
      </p:sp>
      <p:sp>
        <p:nvSpPr>
          <p:cNvPr id="3" name="Text 1"/>
          <p:cNvSpPr/>
          <p:nvPr>
            <p:ph idx="103"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000" b="1" dirty="0">
                <a:solidFill>
                  <a:schemeClr val="bg2"/>
                </a:solidFill>
              </a:rPr>
              <a:t>Six fixes, most of them configuration changes</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3383280"/>
                <a:gridCol w="1143000"/>
                <a:gridCol w="4160520"/>
                <a:gridCol w="1280160"/>
                <a:gridCol w="1097280"/>
              </a:tblGrid>
              <a:tr h="548640">
                <a:tc>
                  <a:txBody>
                    <a:bodyPr/>
                    <a:lstStyle/>
                    <a:p>
                      <a:pPr algn="l" indent="0" marL="0">
                        <a:buNone/>
                      </a:pPr>
                      <a:r>
                        <a:rPr lang="en-US" sz="1300" b="1" dirty="0">
                          <a:solidFill>
                            <a:srgbClr val="F2EEEC"/>
                          </a:solidFill>
                          <a:latin typeface="Calibri" pitchFamily="34" charset="0"/>
                          <a:ea typeface="Calibri" pitchFamily="34" charset="-122"/>
                          <a:cs typeface="Calibri" pitchFamily="34" charset="-120"/>
                        </a:rPr>
                        <a:t>Finding</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0B1D21"/>
                    </a:solidFill>
                  </a:tcPr>
                </a:tc>
                <a:tc>
                  <a:txBody>
                    <a:bodyPr/>
                    <a:lstStyle/>
                    <a:p>
                      <a:pPr algn="r" indent="0" marL="0">
                        <a:buNone/>
                      </a:pPr>
                      <a:r>
                        <a:rPr lang="en-US" sz="1300" b="1" dirty="0">
                          <a:solidFill>
                            <a:srgbClr val="F2EEEC"/>
                          </a:solidFill>
                          <a:latin typeface="Calibri" pitchFamily="34" charset="0"/>
                          <a:ea typeface="Calibri" pitchFamily="34" charset="-122"/>
                          <a:cs typeface="Calibri" pitchFamily="34" charset="-120"/>
                        </a:rPr>
                        <a:t>Run-rate</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0B1D21"/>
                    </a:solidFill>
                  </a:tcPr>
                </a:tc>
                <a:tc>
                  <a:txBody>
                    <a:bodyPr/>
                    <a:lstStyle/>
                    <a:p>
                      <a:pPr algn="l" indent="0" marL="0">
                        <a:buNone/>
                      </a:pPr>
                      <a:r>
                        <a:rPr lang="en-US" sz="1300" b="1" dirty="0">
                          <a:solidFill>
                            <a:srgbClr val="F2EEEC"/>
                          </a:solidFill>
                          <a:latin typeface="Calibri" pitchFamily="34" charset="0"/>
                          <a:ea typeface="Calibri" pitchFamily="34" charset="-122"/>
                          <a:cs typeface="Calibri" pitchFamily="34" charset="-120"/>
                        </a:rPr>
                        <a:t>Fix</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0B1D21"/>
                    </a:solidFill>
                  </a:tcPr>
                </a:tc>
                <a:tc>
                  <a:txBody>
                    <a:bodyPr/>
                    <a:lstStyle/>
                    <a:p>
                      <a:pPr algn="r" indent="0" marL="0">
                        <a:buNone/>
                      </a:pPr>
                      <a:r>
                        <a:rPr lang="en-US" sz="1300" b="1" dirty="0">
                          <a:solidFill>
                            <a:srgbClr val="F2EEEC"/>
                          </a:solidFill>
                          <a:latin typeface="Calibri" pitchFamily="34" charset="0"/>
                          <a:ea typeface="Calibri" pitchFamily="34" charset="-122"/>
                          <a:cs typeface="Calibri" pitchFamily="34" charset="-120"/>
                        </a:rPr>
                        <a:t>Saving/mo</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0B1D21"/>
                    </a:solidFill>
                  </a:tcPr>
                </a:tc>
                <a:tc>
                  <a:txBody>
                    <a:bodyPr/>
                    <a:lstStyle/>
                    <a:p>
                      <a:pPr algn="l" indent="0" marL="0">
                        <a:buNone/>
                      </a:pPr>
                      <a:r>
                        <a:rPr lang="en-US" sz="1300" b="1" dirty="0">
                          <a:solidFill>
                            <a:srgbClr val="F2EEEC"/>
                          </a:solidFill>
                          <a:latin typeface="Calibri" pitchFamily="34" charset="0"/>
                          <a:ea typeface="Calibri" pitchFamily="34" charset="-122"/>
                          <a:cs typeface="Calibri" pitchFamily="34" charset="-120"/>
                        </a:rPr>
                        <a:t>Effort</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0B1D21"/>
                    </a:solidFill>
                  </a:tcPr>
                </a:tc>
              </a:tr>
              <a:tr h="548640">
                <a:tc>
                  <a:txBody>
                    <a:bodyPr/>
                    <a:lstStyle/>
                    <a:p>
                      <a:pPr algn="l" indent="0" marL="0">
                        <a:buNone/>
                      </a:pPr>
                      <a:r>
                        <a:rPr lang="en-US" sz="1300" dirty="0">
                          <a:solidFill>
                            <a:srgbClr val="F2EEEC"/>
                          </a:solidFill>
                          <a:latin typeface="Calibri" pitchFamily="34" charset="0"/>
                          <a:ea typeface="Calibri" pitchFamily="34" charset="-122"/>
                          <a:cs typeface="Calibri" pitchFamily="34" charset="-120"/>
                        </a:rPr>
                        <a:t>BI warehouse resized 3.3× with a 15-minute refresh</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algn="r" indent="0" marL="0">
                        <a:buNone/>
                      </a:pPr>
                      <a:r>
                        <a:rPr lang="en-US" sz="1300" dirty="0">
                          <a:solidFill>
                            <a:srgbClr val="F2EEEC"/>
                          </a:solidFill>
                          <a:latin typeface="Calibri" pitchFamily="34" charset="0"/>
                          <a:ea typeface="Calibri" pitchFamily="34" charset="-122"/>
                          <a:cs typeface="Calibri" pitchFamily="34" charset="-120"/>
                        </a:rPr>
                        <a:t>$30.7k</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algn="l" indent="0" marL="0">
                        <a:buNone/>
                      </a:pPr>
                      <a:r>
                        <a:rPr lang="en-US" sz="1300" dirty="0">
                          <a:solidFill>
                            <a:srgbClr val="F2EEEC"/>
                          </a:solidFill>
                          <a:latin typeface="Calibri" pitchFamily="34" charset="0"/>
                          <a:ea typeface="Calibri" pitchFamily="34" charset="-122"/>
                          <a:cs typeface="Calibri" pitchFamily="34" charset="-120"/>
                        </a:rPr>
                        <a:t>Medium size, 10-min auto-stop, refresh once each morning</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algn="r" indent="0" marL="0">
                        <a:buNone/>
                      </a:pPr>
                      <a:r>
                        <a:rPr lang="en-US" sz="1300" b="1" dirty="0">
                          <a:solidFill>
                            <a:srgbClr val="FF3621"/>
                          </a:solidFill>
                          <a:latin typeface="Calibri" pitchFamily="34" charset="0"/>
                          <a:ea typeface="Calibri" pitchFamily="34" charset="-122"/>
                          <a:cs typeface="Calibri" pitchFamily="34" charset="-120"/>
                        </a:rPr>
                        <a:t>$27k</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algn="l" indent="0" marL="0">
                        <a:buNone/>
                      </a:pPr>
                      <a:r>
                        <a:rPr lang="en-US" sz="1300" dirty="0">
                          <a:solidFill>
                            <a:srgbClr val="F2EEEC"/>
                          </a:solidFill>
                          <a:latin typeface="Calibri" pitchFamily="34" charset="0"/>
                          <a:ea typeface="Calibri" pitchFamily="34" charset="-122"/>
                          <a:cs typeface="Calibri" pitchFamily="34" charset="-120"/>
                        </a:rPr>
                        <a:t>Minutes</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r>
              <a:tr h="548640">
                <a:tc>
                  <a:txBody>
                    <a:bodyPr/>
                    <a:lstStyle/>
                    <a:p>
                      <a:pPr algn="l" indent="0" marL="0">
                        <a:buNone/>
                      </a:pPr>
                      <a:r>
                        <a:rPr lang="en-US" sz="1300" dirty="0">
                          <a:solidFill>
                            <a:srgbClr val="F2EEEC"/>
                          </a:solidFill>
                          <a:latin typeface="Calibri" pitchFamily="34" charset="0"/>
                          <a:ea typeface="Calibri" pitchFamily="34" charset="-122"/>
                          <a:cs typeface="Calibri" pitchFamily="34" charset="-120"/>
                        </a:rPr>
                        <a:t>GPU exploration cluster running 24×7</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algn="r" indent="0" marL="0">
                        <a:buNone/>
                      </a:pPr>
                      <a:r>
                        <a:rPr lang="en-US" sz="1300" dirty="0">
                          <a:solidFill>
                            <a:srgbClr val="F2EEEC"/>
                          </a:solidFill>
                          <a:latin typeface="Calibri" pitchFamily="34" charset="0"/>
                          <a:ea typeface="Calibri" pitchFamily="34" charset="-122"/>
                          <a:cs typeface="Calibri" pitchFamily="34" charset="-120"/>
                        </a:rPr>
                        <a:t>$24.0k</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algn="l" indent="0" marL="0">
                        <a:buNone/>
                      </a:pPr>
                      <a:r>
                        <a:rPr lang="en-US" sz="1300" dirty="0">
                          <a:solidFill>
                            <a:srgbClr val="F2EEEC"/>
                          </a:solidFill>
                          <a:latin typeface="Calibri" pitchFamily="34" charset="0"/>
                          <a:ea typeface="Calibri" pitchFamily="34" charset="-122"/>
                          <a:cs typeface="Calibri" pitchFamily="34" charset="-120"/>
                        </a:rPr>
                        <a:t>60-min auto-termination; on demand only</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algn="r" indent="0" marL="0">
                        <a:buNone/>
                      </a:pPr>
                      <a:r>
                        <a:rPr lang="en-US" sz="1300" b="1" dirty="0">
                          <a:solidFill>
                            <a:srgbClr val="FF3621"/>
                          </a:solidFill>
                          <a:latin typeface="Calibri" pitchFamily="34" charset="0"/>
                          <a:ea typeface="Calibri" pitchFamily="34" charset="-122"/>
                          <a:cs typeface="Calibri" pitchFamily="34" charset="-120"/>
                        </a:rPr>
                        <a:t>$22k</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algn="l" indent="0" marL="0">
                        <a:buNone/>
                      </a:pPr>
                      <a:r>
                        <a:rPr lang="en-US" sz="1300" dirty="0">
                          <a:solidFill>
                            <a:srgbClr val="F2EEEC"/>
                          </a:solidFill>
                          <a:latin typeface="Calibri" pitchFamily="34" charset="0"/>
                          <a:ea typeface="Calibri" pitchFamily="34" charset="-122"/>
                          <a:cs typeface="Calibri" pitchFamily="34" charset="-120"/>
                        </a:rPr>
                        <a:t>Minutes</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r>
              <a:tr h="548640">
                <a:tc>
                  <a:txBody>
                    <a:bodyPr/>
                    <a:lstStyle/>
                    <a:p>
                      <a:pPr algn="l" indent="0" marL="0">
                        <a:buNone/>
                      </a:pPr>
                      <a:r>
                        <a:rPr lang="en-US" sz="1300" dirty="0">
                          <a:solidFill>
                            <a:srgbClr val="F2EEEC"/>
                          </a:solidFill>
                          <a:latin typeface="Calibri" pitchFamily="34" charset="0"/>
                          <a:ea typeface="Calibri" pitchFamily="34" charset="-122"/>
                          <a:cs typeface="Calibri" pitchFamily="34" charset="-120"/>
                        </a:rPr>
                        <a:t>3 contractor clusters + backfill job (70% failures)</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algn="r" indent="0" marL="0">
                        <a:buNone/>
                      </a:pPr>
                      <a:r>
                        <a:rPr lang="en-US" sz="1300" dirty="0">
                          <a:solidFill>
                            <a:srgbClr val="F2EEEC"/>
                          </a:solidFill>
                          <a:latin typeface="Calibri" pitchFamily="34" charset="0"/>
                          <a:ea typeface="Calibri" pitchFamily="34" charset="-122"/>
                          <a:cs typeface="Calibri" pitchFamily="34" charset="-120"/>
                        </a:rPr>
                        <a:t>$36.3k</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algn="l" indent="0" marL="0">
                        <a:buNone/>
                      </a:pPr>
                      <a:r>
                        <a:rPr lang="en-US" sz="1300" dirty="0">
                          <a:solidFill>
                            <a:srgbClr val="F2EEEC"/>
                          </a:solidFill>
                          <a:latin typeface="Calibri" pitchFamily="34" charset="0"/>
                          <a:ea typeface="Calibri" pitchFamily="34" charset="-122"/>
                          <a:cs typeface="Calibri" pitchFamily="34" charset="-120"/>
                        </a:rPr>
                        <a:t>Stop and offboard, once the SOW status is confirmed</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algn="r" indent="0" marL="0">
                        <a:buNone/>
                      </a:pPr>
                      <a:r>
                        <a:rPr lang="en-US" sz="1300" b="1" dirty="0">
                          <a:solidFill>
                            <a:srgbClr val="FF3621"/>
                          </a:solidFill>
                          <a:latin typeface="Calibri" pitchFamily="34" charset="0"/>
                          <a:ea typeface="Calibri" pitchFamily="34" charset="-122"/>
                          <a:cs typeface="Calibri" pitchFamily="34" charset="-120"/>
                        </a:rPr>
                        <a:t>up to $36k</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algn="l" indent="0" marL="0">
                        <a:buNone/>
                      </a:pPr>
                      <a:r>
                        <a:rPr lang="en-US" sz="1300" dirty="0">
                          <a:solidFill>
                            <a:srgbClr val="F2EEEC"/>
                          </a:solidFill>
                          <a:latin typeface="Calibri" pitchFamily="34" charset="0"/>
                          <a:ea typeface="Calibri" pitchFamily="34" charset="-122"/>
                          <a:cs typeface="Calibri" pitchFamily="34" charset="-120"/>
                        </a:rPr>
                        <a:t>Minutes</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r>
              <a:tr h="548640">
                <a:tc>
                  <a:txBody>
                    <a:bodyPr/>
                    <a:lstStyle/>
                    <a:p>
                      <a:pPr algn="l" indent="0" marL="0">
                        <a:buNone/>
                      </a:pPr>
                      <a:r>
                        <a:rPr lang="en-US" sz="1300" dirty="0">
                          <a:solidFill>
                            <a:srgbClr val="F2EEEC"/>
                          </a:solidFill>
                          <a:latin typeface="Calibri" pitchFamily="34" charset="0"/>
                          <a:ea typeface="Calibri" pitchFamily="34" charset="-122"/>
                          <a:cs typeface="Calibri" pitchFamily="34" charset="-120"/>
                        </a:rPr>
                        <a:t>Inventory forecast every 15 minutes</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algn="r" indent="0" marL="0">
                        <a:buNone/>
                      </a:pPr>
                      <a:r>
                        <a:rPr lang="en-US" sz="1300" dirty="0">
                          <a:solidFill>
                            <a:srgbClr val="F2EEEC"/>
                          </a:solidFill>
                          <a:latin typeface="Calibri" pitchFamily="34" charset="0"/>
                          <a:ea typeface="Calibri" pitchFamily="34" charset="-122"/>
                          <a:cs typeface="Calibri" pitchFamily="34" charset="-120"/>
                        </a:rPr>
                        <a:t>$8.6k</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algn="l" indent="0" marL="0">
                        <a:buNone/>
                      </a:pPr>
                      <a:r>
                        <a:rPr lang="en-US" sz="1300" dirty="0">
                          <a:solidFill>
                            <a:srgbClr val="F2EEEC"/>
                          </a:solidFill>
                          <a:latin typeface="Calibri" pitchFamily="34" charset="0"/>
                          <a:ea typeface="Calibri" pitchFamily="34" charset="-122"/>
                          <a:cs typeface="Calibri" pitchFamily="34" charset="-120"/>
                        </a:rPr>
                        <a:t>Daily now; 4× a day for peak, as code</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algn="r" indent="0" marL="0">
                        <a:buNone/>
                      </a:pPr>
                      <a:r>
                        <a:rPr lang="en-US" sz="1300" b="1" dirty="0">
                          <a:solidFill>
                            <a:srgbClr val="FF3621"/>
                          </a:solidFill>
                          <a:latin typeface="Calibri" pitchFamily="34" charset="0"/>
                          <a:ea typeface="Calibri" pitchFamily="34" charset="-122"/>
                          <a:cs typeface="Calibri" pitchFamily="34" charset="-120"/>
                        </a:rPr>
                        <a:t>$6k</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algn="l" indent="0" marL="0">
                        <a:buNone/>
                      </a:pPr>
                      <a:r>
                        <a:rPr lang="en-US" sz="1300" dirty="0">
                          <a:solidFill>
                            <a:srgbClr val="F2EEEC"/>
                          </a:solidFill>
                          <a:latin typeface="Calibri" pitchFamily="34" charset="0"/>
                          <a:ea typeface="Calibri" pitchFamily="34" charset="-122"/>
                          <a:cs typeface="Calibri" pitchFamily="34" charset="-120"/>
                        </a:rPr>
                        <a:t>Minutes</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r>
              <a:tr h="548640">
                <a:tc>
                  <a:txBody>
                    <a:bodyPr/>
                    <a:lstStyle/>
                    <a:p>
                      <a:pPr algn="l" indent="0" marL="0">
                        <a:buNone/>
                      </a:pPr>
                      <a:r>
                        <a:rPr lang="en-US" sz="1300" dirty="0">
                          <a:solidFill>
                            <a:srgbClr val="F2EEEC"/>
                          </a:solidFill>
                          <a:latin typeface="Calibri" pitchFamily="34" charset="0"/>
                          <a:ea typeface="Calibri" pitchFamily="34" charset="-122"/>
                          <a:cs typeface="Calibri" pitchFamily="34" charset="-120"/>
                        </a:rPr>
                        <a:t>Salesforce ingestion always on</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algn="r" indent="0" marL="0">
                        <a:buNone/>
                      </a:pPr>
                      <a:r>
                        <a:rPr lang="en-US" sz="1300" dirty="0">
                          <a:solidFill>
                            <a:srgbClr val="F2EEEC"/>
                          </a:solidFill>
                          <a:latin typeface="Calibri" pitchFamily="34" charset="0"/>
                          <a:ea typeface="Calibri" pitchFamily="34" charset="-122"/>
                          <a:cs typeface="Calibri" pitchFamily="34" charset="-120"/>
                        </a:rPr>
                        <a:t>$6.2k</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algn="l" indent="0" marL="0">
                        <a:buNone/>
                      </a:pPr>
                      <a:r>
                        <a:rPr lang="en-US" sz="1300" dirty="0">
                          <a:solidFill>
                            <a:srgbClr val="F2EEEC"/>
                          </a:solidFill>
                          <a:latin typeface="Calibri" pitchFamily="34" charset="0"/>
                          <a:ea typeface="Calibri" pitchFamily="34" charset="-122"/>
                          <a:cs typeface="Calibri" pitchFamily="34" charset="-120"/>
                        </a:rPr>
                        <a:t>Triggered: hourly in business hours, or daily</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algn="r" indent="0" marL="0">
                        <a:buNone/>
                      </a:pPr>
                      <a:r>
                        <a:rPr lang="en-US" sz="1300" b="1" dirty="0">
                          <a:solidFill>
                            <a:srgbClr val="FF3621"/>
                          </a:solidFill>
                          <a:latin typeface="Calibri" pitchFamily="34" charset="0"/>
                          <a:ea typeface="Calibri" pitchFamily="34" charset="-122"/>
                          <a:cs typeface="Calibri" pitchFamily="34" charset="-120"/>
                        </a:rPr>
                        <a:t>$6k</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algn="l" indent="0" marL="0">
                        <a:buNone/>
                      </a:pPr>
                      <a:r>
                        <a:rPr lang="en-US" sz="1300" dirty="0">
                          <a:solidFill>
                            <a:srgbClr val="F2EEEC"/>
                          </a:solidFill>
                          <a:latin typeface="Calibri" pitchFamily="34" charset="0"/>
                          <a:ea typeface="Calibri" pitchFamily="34" charset="-122"/>
                          <a:cs typeface="Calibri" pitchFamily="34" charset="-120"/>
                        </a:rPr>
                        <a:t>Minutes</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r>
              <a:tr h="548640">
                <a:tc>
                  <a:txBody>
                    <a:bodyPr/>
                    <a:lstStyle/>
                    <a:p>
                      <a:pPr algn="l" indent="0" marL="0">
                        <a:buNone/>
                      </a:pPr>
                      <a:r>
                        <a:rPr lang="en-US" sz="1300" dirty="0">
                          <a:solidFill>
                            <a:srgbClr val="F2EEEC"/>
                          </a:solidFill>
                          <a:latin typeface="Calibri" pitchFamily="34" charset="0"/>
                          <a:ea typeface="Calibri" pitchFamily="34" charset="-122"/>
                          <a:cs typeface="Calibri" pitchFamily="34" charset="-120"/>
                        </a:rPr>
                        <a:t>Dev clusters that never auto-terminate</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algn="r" indent="0" marL="0">
                        <a:buNone/>
                      </a:pPr>
                      <a:r>
                        <a:rPr lang="en-US" sz="1300" dirty="0">
                          <a:solidFill>
                            <a:srgbClr val="F2EEEC"/>
                          </a:solidFill>
                          <a:latin typeface="Calibri" pitchFamily="34" charset="0"/>
                          <a:ea typeface="Calibri" pitchFamily="34" charset="-122"/>
                          <a:cs typeface="Calibri" pitchFamily="34" charset="-120"/>
                        </a:rPr>
                        <a:t>$16.1k</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algn="l" indent="0" marL="0">
                        <a:buNone/>
                      </a:pPr>
                      <a:r>
                        <a:rPr lang="en-US" sz="1300" dirty="0">
                          <a:solidFill>
                            <a:srgbClr val="F2EEEC"/>
                          </a:solidFill>
                          <a:latin typeface="Calibri" pitchFamily="34" charset="0"/>
                          <a:ea typeface="Calibri" pitchFamily="34" charset="-122"/>
                          <a:cs typeface="Calibri" pitchFamily="34" charset="-120"/>
                        </a:rPr>
                        <a:t>Dev compute policy: 60-min auto-termination</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algn="r" indent="0" marL="0">
                        <a:buNone/>
                      </a:pPr>
                      <a:r>
                        <a:rPr lang="en-US" sz="1300" b="1" dirty="0">
                          <a:solidFill>
                            <a:srgbClr val="FF3621"/>
                          </a:solidFill>
                          <a:latin typeface="Calibri" pitchFamily="34" charset="0"/>
                          <a:ea typeface="Calibri" pitchFamily="34" charset="-122"/>
                          <a:cs typeface="Calibri" pitchFamily="34" charset="-120"/>
                        </a:rPr>
                        <a:t>$9k</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algn="l" indent="0" marL="0">
                        <a:buNone/>
                      </a:pPr>
                      <a:r>
                        <a:rPr lang="en-US" sz="1300" dirty="0">
                          <a:solidFill>
                            <a:srgbClr val="F2EEEC"/>
                          </a:solidFill>
                          <a:latin typeface="Calibri" pitchFamily="34" charset="0"/>
                          <a:ea typeface="Calibri" pitchFamily="34" charset="-122"/>
                          <a:cs typeface="Calibri" pitchFamily="34" charset="-120"/>
                        </a:rPr>
                        <a:t>Days</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r>
              <a:tr h="548640">
                <a:tc>
                  <a:txBody>
                    <a:bodyPr/>
                    <a:lstStyle/>
                    <a:p>
                      <a:pPr indent="0" marL="0">
                        <a:buNone/>
                      </a:pPr>
                      <a:r>
                        <a:rPr lang="en-US" sz="1400" b="1" dirty="0">
                          <a:solidFill>
                            <a:srgbClr val="F2EEEC"/>
                          </a:solidFill>
                          <a:latin typeface="Calibri" pitchFamily="34" charset="0"/>
                          <a:ea typeface="Calibri" pitchFamily="34" charset="-122"/>
                          <a:cs typeface="Calibri" pitchFamily="34" charset="-120"/>
                        </a:rPr>
                        <a:t>Total addressable</a:t>
                      </a:r>
                      <a:endParaRPr lang="en-US" sz="14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0B1D21"/>
                    </a:solidFill>
                  </a:tcPr>
                </a:tc>
                <a:tc>
                  <a:txBody>
                    <a:bodyPr/>
                    <a:lstStyle/>
                    <a:p>
                      <a:pPr algn="r" indent="0" marL="0">
                        <a:buNone/>
                      </a:pPr>
                      <a:r>
                        <a:rPr lang="en-US" sz="1400" b="1" dirty="0">
                          <a:solidFill>
                            <a:srgbClr val="F2EEEC"/>
                          </a:solidFill>
                          <a:latin typeface="Calibri" pitchFamily="34" charset="0"/>
                          <a:ea typeface="Calibri" pitchFamily="34" charset="-122"/>
                          <a:cs typeface="Calibri" pitchFamily="34" charset="-120"/>
                        </a:rPr>
                        <a:t>$122k</a:t>
                      </a:r>
                      <a:endParaRPr lang="en-US" sz="14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0B1D21"/>
                    </a:solidFill>
                  </a:tcPr>
                </a:tc>
                <a:tc>
                  <a:txBody>
                    <a:bodyPr/>
                    <a:lstStyle/>
                    <a:p>
                      <a:pPr indent="0" marL="0">
                        <a:buNone/>
                      </a:pPr>
                      <a:r>
                        <a:rPr lang="en-US" sz="1200" dirty="0">
                          <a:solidFill>
                            <a:srgbClr val="A9B8BB"/>
                          </a:solidFill>
                          <a:latin typeface="Calibri" pitchFamily="34" charset="0"/>
                          <a:ea typeface="Calibri" pitchFamily="34" charset="-122"/>
                          <a:cs typeface="Calibri" pitchFamily="34" charset="-120"/>
                        </a:rPr>
                        <a:t>Range reflects open discovery items</a:t>
                      </a:r>
                      <a:endParaRPr lang="en-US" sz="12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0B1D21"/>
                    </a:solidFill>
                  </a:tcPr>
                </a:tc>
                <a:tc>
                  <a:txBody>
                    <a:bodyPr/>
                    <a:lstStyle/>
                    <a:p>
                      <a:pPr algn="r" indent="0" marL="0">
                        <a:buNone/>
                      </a:pPr>
                      <a:r>
                        <a:rPr lang="en-US" sz="1400" b="1" dirty="0">
                          <a:solidFill>
                            <a:srgbClr val="FF3621"/>
                          </a:solidFill>
                          <a:latin typeface="Calibri" pitchFamily="34" charset="0"/>
                          <a:ea typeface="Calibri" pitchFamily="34" charset="-122"/>
                          <a:cs typeface="Calibri" pitchFamily="34" charset="-120"/>
                        </a:rPr>
                        <a:t>$90–106k</a:t>
                      </a:r>
                      <a:endParaRPr lang="en-US" sz="14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0B1D21"/>
                    </a:solidFill>
                  </a:tcPr>
                </a:tc>
                <a:tc>
                  <a:txBody>
                    <a:bodyPr/>
                    <a:lstStyle/>
                    <a:p>
                      <a:pPr indent="0" marL="0">
                        <a:buNone/>
                      </a:pPr>
                      <a:endParaRPr lang="en-US" sz="12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0B1D21"/>
                    </a:solidFill>
                  </a:tcPr>
                </a:tc>
              </a:tr>
            </a:tbl>
          </a:graphicData>
        </a:graphic>
      </p:graphicFrame>
      <p:sp>
        <p:nvSpPr>
          <p:cNvPr id="25" name="Slide Number Placeholder 0"/>
          <p:cNvSpPr>
            <a:spLocks noGrp="1"/>
          </p:cNvSpPr>
          <p:nvPr>
            <p:ph type="sldNum" sz="quarter" idx="4294967295"/>
          </p:nvPr>
        </p:nvSpPr>
        <p:spPr>
          <a:xfrm>
            <a:off x="11247120" y="63276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ROOT CAUSES</a:t>
            </a:r>
            <a:endParaRPr lang="en-US" sz="1200" dirty="0"/>
          </a:p>
        </p:txBody>
      </p:sp>
      <p:sp>
        <p:nvSpPr>
          <p:cNvPr id="3" name="Text 1"/>
          <p:cNvSpPr/>
          <p:nvPr>
            <p:ph idx="103"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000" b="1" dirty="0">
                <a:solidFill>
                  <a:schemeClr val="bg2"/>
                </a:solidFill>
              </a:rPr>
              <a:t>It's a process gap, not a people problem</a:t>
            </a:r>
            <a:endParaRPr lang="en-US" sz="3000" dirty="0"/>
          </a:p>
        </p:txBody>
      </p:sp>
      <p:sp>
        <p:nvSpPr>
          <p:cNvPr id="4" name="cause 1"/>
          <p:cNvSpPr/>
          <p:nvPr/>
        </p:nvSpPr>
        <p:spPr>
          <a:xfrm>
            <a:off x="548640" y="1554480"/>
            <a:ext cx="5440680" cy="1645920"/>
          </a:xfrm>
          <a:prstGeom prst="roundRect">
            <a:avLst>
              <a:gd name="adj" fmla="val 4444"/>
            </a:avLst>
          </a:prstGeom>
          <a:solidFill>
            <a:schemeClr val="accent6"/>
          </a:solidFill>
          <a:ln/>
        </p:spPr>
      </p:sp>
      <p:sp>
        <p:nvSpPr>
          <p:cNvPr id="5" name="Shape 3"/>
          <p:cNvSpPr/>
          <p:nvPr/>
        </p:nvSpPr>
        <p:spPr>
          <a:xfrm>
            <a:off x="822960" y="1965960"/>
            <a:ext cx="777240" cy="77724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1017270" y="2160270"/>
            <a:ext cx="388620" cy="388620"/>
          </a:xfrm>
          <a:prstGeom prst="rect">
            <a:avLst/>
          </a:prstGeom>
        </p:spPr>
      </p:pic>
      <p:sp>
        <p:nvSpPr>
          <p:cNvPr id="7" name="Text 4"/>
          <p:cNvSpPr txBox="1"/>
          <p:nvPr/>
        </p:nvSpPr>
        <p:spPr>
          <a:xfrm>
            <a:off x="1874520" y="1828800"/>
            <a:ext cx="3886200" cy="365760"/>
          </a:xfrm>
          <a:prstGeom prst="rect">
            <a:avLst/>
          </a:prstGeom>
          <a:noFill/>
          <a:ln/>
        </p:spPr>
        <p:txBody>
          <a:bodyPr wrap="square" lIns="0" tIns="0" rIns="0" bIns="0" rtlCol="0" anchor="t"/>
          <a:lstStyle/>
          <a:p>
            <a:pPr indent="0" marL="0">
              <a:buNone/>
            </a:pPr>
            <a:r>
              <a:rPr lang="en-US" sz="1800" b="1" dirty="0">
                <a:solidFill>
                  <a:schemeClr val="bg2"/>
                </a:solidFill>
              </a:rPr>
              <a:t>No guardrails</a:t>
            </a:r>
            <a:endParaRPr lang="en-US" sz="1800" dirty="0"/>
          </a:p>
        </p:txBody>
      </p:sp>
      <p:sp>
        <p:nvSpPr>
          <p:cNvPr id="8" name="Text 5"/>
          <p:cNvSpPr txBox="1"/>
          <p:nvPr/>
        </p:nvSpPr>
        <p:spPr>
          <a:xfrm>
            <a:off x="1874520" y="2240280"/>
            <a:ext cx="3886200" cy="868680"/>
          </a:xfrm>
          <a:prstGeom prst="rect">
            <a:avLst/>
          </a:prstGeom>
          <a:noFill/>
          <a:ln/>
        </p:spPr>
        <p:txBody>
          <a:bodyPr wrap="square" lIns="0" tIns="0" rIns="0" bIns="0" rtlCol="0" anchor="t"/>
          <a:lstStyle/>
          <a:p>
            <a:pPr indent="0" marL="0">
              <a:buNone/>
            </a:pPr>
            <a:r>
              <a:rPr lang="en-US" sz="1300" dirty="0">
                <a:solidFill>
                  <a:schemeClr val="accent5"/>
                </a:solidFill>
              </a:rPr>
              <a:t>Compute policies exist on only one shared cluster. Seven clusters run with auto-termination off.</a:t>
            </a:r>
            <a:endParaRPr lang="en-US" sz="1300" dirty="0"/>
          </a:p>
        </p:txBody>
      </p:sp>
      <p:sp>
        <p:nvSpPr>
          <p:cNvPr id="9" name="cause 2"/>
          <p:cNvSpPr/>
          <p:nvPr/>
        </p:nvSpPr>
        <p:spPr>
          <a:xfrm>
            <a:off x="6172200" y="1554480"/>
            <a:ext cx="5440680" cy="1645920"/>
          </a:xfrm>
          <a:prstGeom prst="roundRect">
            <a:avLst>
              <a:gd name="adj" fmla="val 4444"/>
            </a:avLst>
          </a:prstGeom>
          <a:solidFill>
            <a:schemeClr val="accent6"/>
          </a:solidFill>
          <a:ln/>
        </p:spPr>
      </p:sp>
      <p:sp>
        <p:nvSpPr>
          <p:cNvPr id="10" name="Shape 7"/>
          <p:cNvSpPr/>
          <p:nvPr/>
        </p:nvSpPr>
        <p:spPr>
          <a:xfrm>
            <a:off x="6446520" y="1965960"/>
            <a:ext cx="777240" cy="77724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6640830" y="2160270"/>
            <a:ext cx="388620" cy="388620"/>
          </a:xfrm>
          <a:prstGeom prst="rect">
            <a:avLst/>
          </a:prstGeom>
        </p:spPr>
      </p:pic>
      <p:sp>
        <p:nvSpPr>
          <p:cNvPr id="12" name="Text 8"/>
          <p:cNvSpPr txBox="1"/>
          <p:nvPr/>
        </p:nvSpPr>
        <p:spPr>
          <a:xfrm>
            <a:off x="7498080" y="1828800"/>
            <a:ext cx="3886200" cy="365760"/>
          </a:xfrm>
          <a:prstGeom prst="rect">
            <a:avLst/>
          </a:prstGeom>
          <a:noFill/>
          <a:ln/>
        </p:spPr>
        <p:txBody>
          <a:bodyPr wrap="square" lIns="0" tIns="0" rIns="0" bIns="0" rtlCol="0" anchor="t"/>
          <a:lstStyle/>
          <a:p>
            <a:pPr indent="0" marL="0">
              <a:buNone/>
            </a:pPr>
            <a:r>
              <a:rPr lang="en-US" sz="1800" b="1" dirty="0">
                <a:solidFill>
                  <a:schemeClr val="bg2"/>
                </a:solidFill>
              </a:rPr>
              <a:t>No visibility</a:t>
            </a:r>
            <a:endParaRPr lang="en-US" sz="1800" dirty="0"/>
          </a:p>
        </p:txBody>
      </p:sp>
      <p:sp>
        <p:nvSpPr>
          <p:cNvPr id="13" name="Text 9"/>
          <p:cNvSpPr txBox="1"/>
          <p:nvPr/>
        </p:nvSpPr>
        <p:spPr>
          <a:xfrm>
            <a:off x="7498080" y="2240280"/>
            <a:ext cx="3886200" cy="868680"/>
          </a:xfrm>
          <a:prstGeom prst="rect">
            <a:avLst/>
          </a:prstGeom>
          <a:noFill/>
          <a:ln/>
        </p:spPr>
        <p:txBody>
          <a:bodyPr wrap="square" lIns="0" tIns="0" rIns="0" bIns="0" rtlCol="0" anchor="t"/>
          <a:lstStyle/>
          <a:p>
            <a:pPr indent="0" marL="0">
              <a:buNone/>
            </a:pPr>
            <a:r>
              <a:rPr lang="en-US" sz="1300" dirty="0">
                <a:solidFill>
                  <a:schemeClr val="accent5"/>
                </a:solidFill>
              </a:rPr>
              <a:t>No budgets or alerts. Finance's cost table was wrong, and 18% of September spend can't be attributed to any team.</a:t>
            </a:r>
            <a:endParaRPr lang="en-US" sz="1300" dirty="0"/>
          </a:p>
        </p:txBody>
      </p:sp>
      <p:sp>
        <p:nvSpPr>
          <p:cNvPr id="14" name="cause 3"/>
          <p:cNvSpPr/>
          <p:nvPr/>
        </p:nvSpPr>
        <p:spPr>
          <a:xfrm>
            <a:off x="548640" y="3383280"/>
            <a:ext cx="5440680" cy="1645920"/>
          </a:xfrm>
          <a:prstGeom prst="roundRect">
            <a:avLst>
              <a:gd name="adj" fmla="val 4444"/>
            </a:avLst>
          </a:prstGeom>
          <a:solidFill>
            <a:schemeClr val="accent6"/>
          </a:solidFill>
          <a:ln/>
        </p:spPr>
      </p:sp>
      <p:sp>
        <p:nvSpPr>
          <p:cNvPr id="15" name="Shape 11"/>
          <p:cNvSpPr/>
          <p:nvPr/>
        </p:nvSpPr>
        <p:spPr>
          <a:xfrm>
            <a:off x="822960" y="3794760"/>
            <a:ext cx="777240" cy="777240"/>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1017270" y="3989070"/>
            <a:ext cx="388620" cy="388620"/>
          </a:xfrm>
          <a:prstGeom prst="rect">
            <a:avLst/>
          </a:prstGeom>
        </p:spPr>
      </p:pic>
      <p:sp>
        <p:nvSpPr>
          <p:cNvPr id="17" name="Text 12"/>
          <p:cNvSpPr txBox="1"/>
          <p:nvPr/>
        </p:nvSpPr>
        <p:spPr>
          <a:xfrm>
            <a:off x="1874520" y="3657600"/>
            <a:ext cx="3886200" cy="365760"/>
          </a:xfrm>
          <a:prstGeom prst="rect">
            <a:avLst/>
          </a:prstGeom>
          <a:noFill/>
          <a:ln/>
        </p:spPr>
        <p:txBody>
          <a:bodyPr wrap="square" lIns="0" tIns="0" rIns="0" bIns="0" rtlCol="0" anchor="t"/>
          <a:lstStyle/>
          <a:p>
            <a:pPr indent="0" marL="0">
              <a:buNone/>
            </a:pPr>
            <a:r>
              <a:rPr lang="en-US" sz="1800" b="1" dirty="0">
                <a:solidFill>
                  <a:schemeClr val="bg2"/>
                </a:solidFill>
              </a:rPr>
              <a:t>No offboarding</a:t>
            </a:r>
            <a:endParaRPr lang="en-US" sz="1800" dirty="0"/>
          </a:p>
        </p:txBody>
      </p:sp>
      <p:sp>
        <p:nvSpPr>
          <p:cNvPr id="18" name="Text 13"/>
          <p:cNvSpPr txBox="1"/>
          <p:nvPr/>
        </p:nvSpPr>
        <p:spPr>
          <a:xfrm>
            <a:off x="1874520" y="4069080"/>
            <a:ext cx="3886200" cy="868680"/>
          </a:xfrm>
          <a:prstGeom prst="rect">
            <a:avLst/>
          </a:prstGeom>
          <a:noFill/>
          <a:ln/>
        </p:spPr>
        <p:txBody>
          <a:bodyPr wrap="square" lIns="0" tIns="0" rIns="0" bIns="0" rtlCol="0" anchor="t"/>
          <a:lstStyle/>
          <a:p>
            <a:pPr indent="0" marL="0">
              <a:buNone/>
            </a:pPr>
            <a:r>
              <a:rPr lang="en-US" sz="1300" dirty="0">
                <a:solidFill>
                  <a:schemeClr val="accent5"/>
                </a:solidFill>
              </a:rPr>
              <a:t>Contractor accounts and compute kept running with no owner in the team directory.</a:t>
            </a:r>
            <a:endParaRPr lang="en-US" sz="1300" dirty="0"/>
          </a:p>
        </p:txBody>
      </p:sp>
      <p:sp>
        <p:nvSpPr>
          <p:cNvPr id="19" name="cause 4"/>
          <p:cNvSpPr/>
          <p:nvPr/>
        </p:nvSpPr>
        <p:spPr>
          <a:xfrm>
            <a:off x="6172200" y="3383280"/>
            <a:ext cx="5440680" cy="1645920"/>
          </a:xfrm>
          <a:prstGeom prst="roundRect">
            <a:avLst>
              <a:gd name="adj" fmla="val 4444"/>
            </a:avLst>
          </a:prstGeom>
          <a:solidFill>
            <a:schemeClr val="accent6"/>
          </a:solidFill>
          <a:ln/>
        </p:spPr>
      </p:sp>
      <p:sp>
        <p:nvSpPr>
          <p:cNvPr id="20" name="Shape 15"/>
          <p:cNvSpPr/>
          <p:nvPr/>
        </p:nvSpPr>
        <p:spPr>
          <a:xfrm>
            <a:off x="6446520" y="3794760"/>
            <a:ext cx="777240" cy="777240"/>
          </a:xfrm>
          <a:prstGeom prst="ellipse">
            <a:avLst/>
          </a:prstGeom>
          <a:solidFill>
            <a:schemeClr val="accent1"/>
          </a:solidFill>
          <a:ln/>
        </p:spPr>
      </p:sp>
      <p:pic>
        <p:nvPicPr>
          <p:cNvPr id="21" name="Image 3" descr="preencoded.png">    </p:cNvPr>
          <p:cNvPicPr>
            <a:picLocks noChangeAspect="1"/>
          </p:cNvPicPr>
          <p:nvPr/>
        </p:nvPicPr>
        <p:blipFill>
          <a:blip r:embed="rId4"/>
          <a:stretch>
            <a:fillRect/>
          </a:stretch>
        </p:blipFill>
        <p:spPr>
          <a:xfrm>
            <a:off x="6640830" y="3989070"/>
            <a:ext cx="388620" cy="388620"/>
          </a:xfrm>
          <a:prstGeom prst="rect">
            <a:avLst/>
          </a:prstGeom>
        </p:spPr>
      </p:pic>
      <p:sp>
        <p:nvSpPr>
          <p:cNvPr id="22" name="Text 16"/>
          <p:cNvSpPr txBox="1"/>
          <p:nvPr/>
        </p:nvSpPr>
        <p:spPr>
          <a:xfrm>
            <a:off x="7498080" y="3657600"/>
            <a:ext cx="3886200" cy="365760"/>
          </a:xfrm>
          <a:prstGeom prst="rect">
            <a:avLst/>
          </a:prstGeom>
          <a:noFill/>
          <a:ln/>
        </p:spPr>
        <p:txBody>
          <a:bodyPr wrap="square" lIns="0" tIns="0" rIns="0" bIns="0" rtlCol="0" anchor="t"/>
          <a:lstStyle/>
          <a:p>
            <a:pPr indent="0" marL="0">
              <a:buNone/>
            </a:pPr>
            <a:r>
              <a:rPr lang="en-US" sz="1800" b="1" dirty="0">
                <a:solidFill>
                  <a:schemeClr val="bg2"/>
                </a:solidFill>
              </a:rPr>
              <a:t>No change control</a:t>
            </a:r>
            <a:endParaRPr lang="en-US" sz="1800" dirty="0"/>
          </a:p>
        </p:txBody>
      </p:sp>
      <p:sp>
        <p:nvSpPr>
          <p:cNvPr id="23" name="Text 17"/>
          <p:cNvSpPr txBox="1"/>
          <p:nvPr/>
        </p:nvSpPr>
        <p:spPr>
          <a:xfrm>
            <a:off x="7498080" y="4069080"/>
            <a:ext cx="3886200" cy="868680"/>
          </a:xfrm>
          <a:prstGeom prst="rect">
            <a:avLst/>
          </a:prstGeom>
          <a:noFill/>
          <a:ln/>
        </p:spPr>
        <p:txBody>
          <a:bodyPr wrap="square" lIns="0" tIns="0" rIns="0" bIns="0" rtlCol="0" anchor="t"/>
          <a:lstStyle/>
          <a:p>
            <a:pPr indent="0" marL="0">
              <a:buNone/>
            </a:pPr>
            <a:r>
              <a:rPr lang="en-US" sz="1300" dirty="0">
                <a:solidFill>
                  <a:schemeClr val="accent5"/>
                </a:solidFill>
              </a:rPr>
              <a:t>Schedule, size and refresh changes were made directly in the UI, with no review and no cost check.</a:t>
            </a:r>
            <a:endParaRPr lang="en-US" sz="1300" dirty="0"/>
          </a:p>
        </p:txBody>
      </p:sp>
      <p:sp>
        <p:nvSpPr>
          <p:cNvPr id="24" name="principle"/>
          <p:cNvSpPr/>
          <p:nvPr/>
        </p:nvSpPr>
        <p:spPr>
          <a:xfrm>
            <a:off x="548640" y="5349240"/>
            <a:ext cx="11064240" cy="731520"/>
          </a:xfrm>
          <a:prstGeom prst="roundRect">
            <a:avLst>
              <a:gd name="adj" fmla="val 10000"/>
            </a:avLst>
          </a:prstGeom>
          <a:solidFill>
            <a:schemeClr val="tx1"/>
          </a:solidFill>
          <a:ln/>
        </p:spPr>
      </p:sp>
      <p:sp>
        <p:nvSpPr>
          <p:cNvPr id="25" name="Text 19"/>
          <p:cNvSpPr txBox="1"/>
          <p:nvPr/>
        </p:nvSpPr>
        <p:spPr>
          <a:xfrm>
            <a:off x="822960" y="5349240"/>
            <a:ext cx="10515600" cy="731520"/>
          </a:xfrm>
          <a:prstGeom prst="rect">
            <a:avLst/>
          </a:prstGeom>
          <a:noFill/>
          <a:ln/>
        </p:spPr>
        <p:txBody>
          <a:bodyPr wrap="square" lIns="0" tIns="0" rIns="0" bIns="0" rtlCol="0" anchor="ctr"/>
          <a:lstStyle/>
          <a:p>
            <a:pPr indent="0" marL="0">
              <a:buNone/>
            </a:pPr>
            <a:r>
              <a:rPr lang="en-US" sz="1700" i="1" dirty="0">
                <a:solidFill>
                  <a:schemeClr val="bg2"/>
                </a:solidFill>
              </a:rPr>
              <a:t>Every one of these was a reasonable decision made without a guardrail. Fix the system, not the people.</a:t>
            </a:r>
            <a:endParaRPr lang="en-US" sz="1700" dirty="0"/>
          </a:p>
        </p:txBody>
      </p:sp>
      <p:sp>
        <p:nvSpPr>
          <p:cNvPr id="25" name="Slide Number Placeholder 0"/>
          <p:cNvSpPr>
            <a:spLocks noGrp="1"/>
          </p:cNvSpPr>
          <p:nvPr>
            <p:ph type="sldNum" sz="quarter" idx="4294967295"/>
          </p:nvPr>
        </p:nvSpPr>
        <p:spPr>
          <a:xfrm>
            <a:off x="11247120" y="63276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LIVE DEMO</a:t>
            </a:r>
            <a:endParaRPr lang="en-US" sz="1200" dirty="0"/>
          </a:p>
        </p:txBody>
      </p:sp>
      <p:sp>
        <p:nvSpPr>
          <p:cNvPr id="3" name="Text 1"/>
          <p:cNvSpPr/>
          <p:nvPr>
            <p:ph idx="103"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000" b="1" dirty="0">
                <a:solidFill>
                  <a:schemeClr val="bg2"/>
                </a:solidFill>
              </a:rPr>
              <a:t>Cascade FinOps: Workload Cost Review</a:t>
            </a:r>
            <a:endParaRPr lang="en-US" sz="3000" dirty="0"/>
          </a:p>
        </p:txBody>
      </p:sp>
      <p:sp>
        <p:nvSpPr>
          <p:cNvPr id="4" name="Shape 2"/>
          <p:cNvSpPr/>
          <p:nvPr/>
        </p:nvSpPr>
        <p:spPr>
          <a:xfrm>
            <a:off x="548640" y="1645920"/>
            <a:ext cx="566928" cy="566928"/>
          </a:xfrm>
          <a:prstGeom prst="ellipse">
            <a:avLst/>
          </a:prstGeom>
          <a:solidFill>
            <a:schemeClr val="accent1"/>
          </a:solidFill>
          <a:ln/>
        </p:spPr>
      </p:sp>
      <p:sp>
        <p:nvSpPr>
          <p:cNvPr id="5" name="Text 3"/>
          <p:cNvSpPr txBox="1"/>
          <p:nvPr/>
        </p:nvSpPr>
        <p:spPr>
          <a:xfrm>
            <a:off x="548640" y="1645920"/>
            <a:ext cx="566928" cy="566928"/>
          </a:xfrm>
          <a:prstGeom prst="rect">
            <a:avLst/>
          </a:prstGeom>
          <a:noFill/>
          <a:ln/>
        </p:spPr>
        <p:txBody>
          <a:bodyPr wrap="square" lIns="0" tIns="0" rIns="0" bIns="0" rtlCol="0" anchor="ctr"/>
          <a:lstStyle/>
          <a:p>
            <a:pPr algn="ctr" indent="0" marL="0">
              <a:buNone/>
            </a:pPr>
            <a:r>
              <a:rPr lang="en-US" sz="1800" b="1" dirty="0">
                <a:solidFill>
                  <a:schemeClr val="bg2"/>
                </a:solidFill>
              </a:rPr>
              <a:t>1</a:t>
            </a:r>
            <a:endParaRPr lang="en-US" sz="1800" dirty="0"/>
          </a:p>
        </p:txBody>
      </p:sp>
      <p:sp>
        <p:nvSpPr>
          <p:cNvPr id="6" name="Text 4"/>
          <p:cNvSpPr txBox="1"/>
          <p:nvPr/>
        </p:nvSpPr>
        <p:spPr>
          <a:xfrm>
            <a:off x="1325880" y="1600200"/>
            <a:ext cx="4937760" cy="365760"/>
          </a:xfrm>
          <a:prstGeom prst="rect">
            <a:avLst/>
          </a:prstGeom>
          <a:noFill/>
          <a:ln/>
        </p:spPr>
        <p:txBody>
          <a:bodyPr wrap="square" lIns="0" tIns="0" rIns="0" bIns="0" rtlCol="0" anchor="t"/>
          <a:lstStyle/>
          <a:p>
            <a:pPr indent="0" marL="0">
              <a:buNone/>
            </a:pPr>
            <a:r>
              <a:rPr lang="en-US" sz="1700" b="1" dirty="0">
                <a:solidFill>
                  <a:schemeClr val="bg2"/>
                </a:solidFill>
              </a:rPr>
              <a:t>Corrected monthly trend</a:t>
            </a:r>
            <a:endParaRPr lang="en-US" sz="1700" dirty="0"/>
          </a:p>
        </p:txBody>
      </p:sp>
      <p:sp>
        <p:nvSpPr>
          <p:cNvPr id="7" name="Text 5"/>
          <p:cNvSpPr txBox="1"/>
          <p:nvPr/>
        </p:nvSpPr>
        <p:spPr>
          <a:xfrm>
            <a:off x="1325880" y="1984248"/>
            <a:ext cx="4937760" cy="365760"/>
          </a:xfrm>
          <a:prstGeom prst="rect">
            <a:avLst/>
          </a:prstGeom>
          <a:noFill/>
          <a:ln/>
        </p:spPr>
        <p:txBody>
          <a:bodyPr wrap="square" lIns="0" tIns="0" rIns="0" bIns="0" rtlCol="0" anchor="t"/>
          <a:lstStyle/>
          <a:p>
            <a:pPr indent="0" marL="0">
              <a:buNone/>
            </a:pPr>
            <a:r>
              <a:rPr lang="en-US" sz="1300" dirty="0">
                <a:solidFill>
                  <a:schemeClr val="accent5"/>
                </a:solidFill>
              </a:rPr>
              <a:t>Next to Finance's version, so the gap is visible</a:t>
            </a:r>
            <a:endParaRPr lang="en-US" sz="1300" dirty="0"/>
          </a:p>
        </p:txBody>
      </p:sp>
      <p:sp>
        <p:nvSpPr>
          <p:cNvPr id="8" name="Shape 6"/>
          <p:cNvSpPr/>
          <p:nvPr/>
        </p:nvSpPr>
        <p:spPr>
          <a:xfrm>
            <a:off x="548640" y="2724912"/>
            <a:ext cx="566928" cy="566928"/>
          </a:xfrm>
          <a:prstGeom prst="ellipse">
            <a:avLst/>
          </a:prstGeom>
          <a:solidFill>
            <a:schemeClr val="accent1"/>
          </a:solidFill>
          <a:ln/>
        </p:spPr>
      </p:sp>
      <p:sp>
        <p:nvSpPr>
          <p:cNvPr id="9" name="Text 7"/>
          <p:cNvSpPr txBox="1"/>
          <p:nvPr/>
        </p:nvSpPr>
        <p:spPr>
          <a:xfrm>
            <a:off x="548640" y="2724912"/>
            <a:ext cx="566928" cy="566928"/>
          </a:xfrm>
          <a:prstGeom prst="rect">
            <a:avLst/>
          </a:prstGeom>
          <a:noFill/>
          <a:ln/>
        </p:spPr>
        <p:txBody>
          <a:bodyPr wrap="square" lIns="0" tIns="0" rIns="0" bIns="0" rtlCol="0" anchor="ctr"/>
          <a:lstStyle/>
          <a:p>
            <a:pPr algn="ctr" indent="0" marL="0">
              <a:buNone/>
            </a:pPr>
            <a:r>
              <a:rPr lang="en-US" sz="1800" b="1" dirty="0">
                <a:solidFill>
                  <a:schemeClr val="bg2"/>
                </a:solidFill>
              </a:rPr>
              <a:t>2</a:t>
            </a:r>
            <a:endParaRPr lang="en-US" sz="1800" dirty="0"/>
          </a:p>
        </p:txBody>
      </p:sp>
      <p:sp>
        <p:nvSpPr>
          <p:cNvPr id="10" name="Text 8"/>
          <p:cNvSpPr txBox="1"/>
          <p:nvPr/>
        </p:nvSpPr>
        <p:spPr>
          <a:xfrm>
            <a:off x="1325880" y="2679192"/>
            <a:ext cx="4937760" cy="365760"/>
          </a:xfrm>
          <a:prstGeom prst="rect">
            <a:avLst/>
          </a:prstGeom>
          <a:noFill/>
          <a:ln/>
        </p:spPr>
        <p:txBody>
          <a:bodyPr wrap="square" lIns="0" tIns="0" rIns="0" bIns="0" rtlCol="0" anchor="t"/>
          <a:lstStyle/>
          <a:p>
            <a:pPr indent="0" marL="0">
              <a:buNone/>
            </a:pPr>
            <a:r>
              <a:rPr lang="en-US" sz="1700" b="1" dirty="0">
                <a:solidFill>
                  <a:schemeClr val="bg2"/>
                </a:solidFill>
              </a:rPr>
              <a:t>Top workloads by run-rate</a:t>
            </a:r>
            <a:endParaRPr lang="en-US" sz="1700" dirty="0"/>
          </a:p>
        </p:txBody>
      </p:sp>
      <p:sp>
        <p:nvSpPr>
          <p:cNvPr id="11" name="Text 9"/>
          <p:cNvSpPr txBox="1"/>
          <p:nvPr/>
        </p:nvSpPr>
        <p:spPr>
          <a:xfrm>
            <a:off x="1325880" y="3063240"/>
            <a:ext cx="4937760" cy="365760"/>
          </a:xfrm>
          <a:prstGeom prst="rect">
            <a:avLst/>
          </a:prstGeom>
          <a:noFill/>
          <a:ln/>
        </p:spPr>
        <p:txBody>
          <a:bodyPr wrap="square" lIns="0" tIns="0" rIns="0" bIns="0" rtlCol="0" anchor="t"/>
          <a:lstStyle/>
          <a:p>
            <a:pPr indent="0" marL="0">
              <a:buNone/>
            </a:pPr>
            <a:r>
              <a:rPr lang="en-US" sz="1300" dirty="0">
                <a:solidFill>
                  <a:schemeClr val="accent5"/>
                </a:solidFill>
              </a:rPr>
              <a:t>Coloured by waste, inefficiency, investment and baseline</a:t>
            </a:r>
            <a:endParaRPr lang="en-US" sz="1300" dirty="0"/>
          </a:p>
        </p:txBody>
      </p:sp>
      <p:sp>
        <p:nvSpPr>
          <p:cNvPr id="12" name="Shape 10"/>
          <p:cNvSpPr/>
          <p:nvPr/>
        </p:nvSpPr>
        <p:spPr>
          <a:xfrm>
            <a:off x="548640" y="3803904"/>
            <a:ext cx="566928" cy="566928"/>
          </a:xfrm>
          <a:prstGeom prst="ellipse">
            <a:avLst/>
          </a:prstGeom>
          <a:solidFill>
            <a:schemeClr val="accent1"/>
          </a:solidFill>
          <a:ln/>
        </p:spPr>
      </p:sp>
      <p:sp>
        <p:nvSpPr>
          <p:cNvPr id="13" name="Text 11"/>
          <p:cNvSpPr txBox="1"/>
          <p:nvPr/>
        </p:nvSpPr>
        <p:spPr>
          <a:xfrm>
            <a:off x="548640" y="3803904"/>
            <a:ext cx="566928" cy="566928"/>
          </a:xfrm>
          <a:prstGeom prst="rect">
            <a:avLst/>
          </a:prstGeom>
          <a:noFill/>
          <a:ln/>
        </p:spPr>
        <p:txBody>
          <a:bodyPr wrap="square" lIns="0" tIns="0" rIns="0" bIns="0" rtlCol="0" anchor="ctr"/>
          <a:lstStyle/>
          <a:p>
            <a:pPr algn="ctr" indent="0" marL="0">
              <a:buNone/>
            </a:pPr>
            <a:r>
              <a:rPr lang="en-US" sz="1800" b="1" dirty="0">
                <a:solidFill>
                  <a:schemeClr val="bg2"/>
                </a:solidFill>
              </a:rPr>
              <a:t>3</a:t>
            </a:r>
            <a:endParaRPr lang="en-US" sz="1800" dirty="0"/>
          </a:p>
        </p:txBody>
      </p:sp>
      <p:sp>
        <p:nvSpPr>
          <p:cNvPr id="14" name="Text 12"/>
          <p:cNvSpPr txBox="1"/>
          <p:nvPr/>
        </p:nvSpPr>
        <p:spPr>
          <a:xfrm>
            <a:off x="1325880" y="3758184"/>
            <a:ext cx="4937760" cy="365760"/>
          </a:xfrm>
          <a:prstGeom prst="rect">
            <a:avLst/>
          </a:prstGeom>
          <a:noFill/>
          <a:ln/>
        </p:spPr>
        <p:txBody>
          <a:bodyPr wrap="square" lIns="0" tIns="0" rIns="0" bIns="0" rtlCol="0" anchor="t"/>
          <a:lstStyle/>
          <a:p>
            <a:pPr indent="0" marL="0">
              <a:buNone/>
            </a:pPr>
            <a:r>
              <a:rPr lang="en-US" sz="1700" b="1" dirty="0">
                <a:solidFill>
                  <a:schemeClr val="bg2"/>
                </a:solidFill>
              </a:rPr>
              <a:t>Findings and savings plan</a:t>
            </a:r>
            <a:endParaRPr lang="en-US" sz="1700" dirty="0"/>
          </a:p>
        </p:txBody>
      </p:sp>
      <p:sp>
        <p:nvSpPr>
          <p:cNvPr id="15" name="Text 13"/>
          <p:cNvSpPr txBox="1"/>
          <p:nvPr/>
        </p:nvSpPr>
        <p:spPr>
          <a:xfrm>
            <a:off x="1325880" y="4142232"/>
            <a:ext cx="4937760" cy="365760"/>
          </a:xfrm>
          <a:prstGeom prst="rect">
            <a:avLst/>
          </a:prstGeom>
          <a:noFill/>
          <a:ln/>
        </p:spPr>
        <p:txBody>
          <a:bodyPr wrap="square" lIns="0" tIns="0" rIns="0" bIns="0" rtlCol="0" anchor="t"/>
          <a:lstStyle/>
          <a:p>
            <a:pPr indent="0" marL="0">
              <a:buNone/>
            </a:pPr>
            <a:r>
              <a:rPr lang="en-US" sz="1300" dirty="0">
                <a:solidFill>
                  <a:schemeClr val="accent5"/>
                </a:solidFill>
              </a:rPr>
              <a:t>Every row traceable to config history and the audit log</a:t>
            </a:r>
            <a:endParaRPr lang="en-US" sz="1300" dirty="0"/>
          </a:p>
        </p:txBody>
      </p:sp>
      <p:sp>
        <p:nvSpPr>
          <p:cNvPr id="16" name="Shape 14"/>
          <p:cNvSpPr/>
          <p:nvPr/>
        </p:nvSpPr>
        <p:spPr>
          <a:xfrm>
            <a:off x="548640" y="4882896"/>
            <a:ext cx="566928" cy="566928"/>
          </a:xfrm>
          <a:prstGeom prst="ellipse">
            <a:avLst/>
          </a:prstGeom>
          <a:solidFill>
            <a:schemeClr val="accent1"/>
          </a:solidFill>
          <a:ln/>
        </p:spPr>
      </p:sp>
      <p:sp>
        <p:nvSpPr>
          <p:cNvPr id="17" name="Text 15"/>
          <p:cNvSpPr txBox="1"/>
          <p:nvPr/>
        </p:nvSpPr>
        <p:spPr>
          <a:xfrm>
            <a:off x="548640" y="4882896"/>
            <a:ext cx="566928" cy="566928"/>
          </a:xfrm>
          <a:prstGeom prst="rect">
            <a:avLst/>
          </a:prstGeom>
          <a:noFill/>
          <a:ln/>
        </p:spPr>
        <p:txBody>
          <a:bodyPr wrap="square" lIns="0" tIns="0" rIns="0" bIns="0" rtlCol="0" anchor="ctr"/>
          <a:lstStyle/>
          <a:p>
            <a:pPr algn="ctr" indent="0" marL="0">
              <a:buNone/>
            </a:pPr>
            <a:r>
              <a:rPr lang="en-US" sz="1800" b="1" dirty="0">
                <a:solidFill>
                  <a:schemeClr val="bg2"/>
                </a:solidFill>
              </a:rPr>
              <a:t>4</a:t>
            </a:r>
            <a:endParaRPr lang="en-US" sz="1800" dirty="0"/>
          </a:p>
        </p:txBody>
      </p:sp>
      <p:sp>
        <p:nvSpPr>
          <p:cNvPr id="18" name="Text 16"/>
          <p:cNvSpPr txBox="1"/>
          <p:nvPr/>
        </p:nvSpPr>
        <p:spPr>
          <a:xfrm>
            <a:off x="1325880" y="4837176"/>
            <a:ext cx="4937760" cy="365760"/>
          </a:xfrm>
          <a:prstGeom prst="rect">
            <a:avLst/>
          </a:prstGeom>
          <a:noFill/>
          <a:ln/>
        </p:spPr>
        <p:txBody>
          <a:bodyPr wrap="square" lIns="0" tIns="0" rIns="0" bIns="0" rtlCol="0" anchor="t"/>
          <a:lstStyle/>
          <a:p>
            <a:pPr indent="0" marL="0">
              <a:buNone/>
            </a:pPr>
            <a:r>
              <a:rPr lang="en-US" sz="1700" b="1" dirty="0">
                <a:solidFill>
                  <a:schemeClr val="bg2"/>
                </a:solidFill>
              </a:rPr>
              <a:t>Cost by cost center</a:t>
            </a:r>
            <a:endParaRPr lang="en-US" sz="1700" dirty="0"/>
          </a:p>
        </p:txBody>
      </p:sp>
      <p:sp>
        <p:nvSpPr>
          <p:cNvPr id="19" name="Text 17"/>
          <p:cNvSpPr txBox="1"/>
          <p:nvPr/>
        </p:nvSpPr>
        <p:spPr>
          <a:xfrm>
            <a:off x="1325880" y="5221224"/>
            <a:ext cx="4937760" cy="365760"/>
          </a:xfrm>
          <a:prstGeom prst="rect">
            <a:avLst/>
          </a:prstGeom>
          <a:noFill/>
          <a:ln/>
        </p:spPr>
        <p:txBody>
          <a:bodyPr wrap="square" lIns="0" tIns="0" rIns="0" bIns="0" rtlCol="0" anchor="t"/>
          <a:lstStyle/>
          <a:p>
            <a:pPr indent="0" marL="0">
              <a:buNone/>
            </a:pPr>
            <a:r>
              <a:rPr lang="en-US" sz="1300" dirty="0">
                <a:solidFill>
                  <a:schemeClr val="accent5"/>
                </a:solidFill>
              </a:rPr>
              <a:t>Including the 18% nobody owns today</a:t>
            </a:r>
            <a:endParaRPr lang="en-US" sz="1300" dirty="0"/>
          </a:p>
        </p:txBody>
      </p:sp>
      <p:sp>
        <p:nvSpPr>
          <p:cNvPr id="20" name="ask it live"/>
          <p:cNvSpPr/>
          <p:nvPr/>
        </p:nvSpPr>
        <p:spPr>
          <a:xfrm>
            <a:off x="6675120" y="1554480"/>
            <a:ext cx="4937760" cy="2331720"/>
          </a:xfrm>
          <a:prstGeom prst="roundRect">
            <a:avLst>
              <a:gd name="adj" fmla="val 3137"/>
            </a:avLst>
          </a:prstGeom>
          <a:solidFill>
            <a:schemeClr val="accent6"/>
          </a:solidFill>
          <a:ln/>
        </p:spPr>
      </p:sp>
      <p:sp>
        <p:nvSpPr>
          <p:cNvPr id="21" name="Shape 19"/>
          <p:cNvSpPr/>
          <p:nvPr/>
        </p:nvSpPr>
        <p:spPr>
          <a:xfrm>
            <a:off x="6903720" y="1783080"/>
            <a:ext cx="548640" cy="548640"/>
          </a:xfrm>
          <a:prstGeom prst="ellipse">
            <a:avLst/>
          </a:prstGeom>
          <a:solidFill>
            <a:schemeClr val="accent1"/>
          </a:solidFill>
          <a:ln/>
        </p:spPr>
      </p:sp>
      <p:pic>
        <p:nvPicPr>
          <p:cNvPr id="22" name="Image 0" descr="preencoded.png">    </p:cNvPr>
          <p:cNvPicPr>
            <a:picLocks noChangeAspect="1"/>
          </p:cNvPicPr>
          <p:nvPr/>
        </p:nvPicPr>
        <p:blipFill>
          <a:blip r:embed="rId1"/>
          <a:stretch>
            <a:fillRect/>
          </a:stretch>
        </p:blipFill>
        <p:spPr>
          <a:xfrm>
            <a:off x="7040880" y="1920240"/>
            <a:ext cx="274320" cy="274320"/>
          </a:xfrm>
          <a:prstGeom prst="rect">
            <a:avLst/>
          </a:prstGeom>
        </p:spPr>
      </p:pic>
      <p:sp>
        <p:nvSpPr>
          <p:cNvPr id="23" name="Text 20"/>
          <p:cNvSpPr txBox="1"/>
          <p:nvPr/>
        </p:nvSpPr>
        <p:spPr>
          <a:xfrm>
            <a:off x="7635240" y="1874520"/>
            <a:ext cx="3749040" cy="365760"/>
          </a:xfrm>
          <a:prstGeom prst="rect">
            <a:avLst/>
          </a:prstGeom>
          <a:noFill/>
          <a:ln/>
        </p:spPr>
        <p:txBody>
          <a:bodyPr wrap="square" lIns="0" tIns="0" rIns="0" bIns="0" rtlCol="0" anchor="t"/>
          <a:lstStyle/>
          <a:p>
            <a:pPr indent="0" marL="0">
              <a:buNone/>
            </a:pPr>
            <a:r>
              <a:rPr lang="en-US" sz="1700" b="1" dirty="0">
                <a:solidFill>
                  <a:schemeClr val="bg2"/>
                </a:solidFill>
              </a:rPr>
              <a:t>Ask it live</a:t>
            </a:r>
            <a:endParaRPr lang="en-US" sz="1700" dirty="0"/>
          </a:p>
        </p:txBody>
      </p:sp>
      <p:sp>
        <p:nvSpPr>
          <p:cNvPr id="24" name="Text 21"/>
          <p:cNvSpPr txBox="1"/>
          <p:nvPr/>
        </p:nvSpPr>
        <p:spPr>
          <a:xfrm>
            <a:off x="6949440" y="2468880"/>
            <a:ext cx="4480560"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2"/>
                </a:solidFill>
              </a:rPr>
              <a:t>What did Finance BI spend last month?</a:t>
            </a:r>
            <a:endParaRPr lang="en-US" sz="1400" dirty="0"/>
          </a:p>
          <a:p>
            <a:pPr marL="342900" indent="-342900">
              <a:spcAft>
                <a:spcPts val="600"/>
              </a:spcAft>
              <a:buSzPct val="100000"/>
              <a:buChar char="•"/>
            </a:pPr>
            <a:r>
              <a:rPr lang="en-US" sz="1400" dirty="0">
                <a:solidFill>
                  <a:schemeClr val="bg2"/>
                </a:solidFill>
              </a:rPr>
              <a:t>Which clusters ran over the weekend?</a:t>
            </a:r>
            <a:endParaRPr lang="en-US" sz="1400" dirty="0"/>
          </a:p>
          <a:p>
            <a:pPr marL="342900" indent="-342900">
              <a:spcAft>
                <a:spcPts val="600"/>
              </a:spcAft>
              <a:buSzPct val="100000"/>
              <a:buChar char="•"/>
            </a:pPr>
            <a:r>
              <a:rPr lang="en-US" sz="1400" dirty="0">
                <a:solidFill>
                  <a:schemeClr val="bg2"/>
                </a:solidFill>
              </a:rPr>
              <a:t>What is unattributed spend by owner?</a:t>
            </a:r>
            <a:endParaRPr lang="en-US" sz="1400" dirty="0"/>
          </a:p>
        </p:txBody>
      </p:sp>
      <p:sp>
        <p:nvSpPr>
          <p:cNvPr id="25" name="built as code"/>
          <p:cNvSpPr/>
          <p:nvPr/>
        </p:nvSpPr>
        <p:spPr>
          <a:xfrm>
            <a:off x="6675120" y="4069080"/>
            <a:ext cx="4937760" cy="1783080"/>
          </a:xfrm>
          <a:prstGeom prst="roundRect">
            <a:avLst>
              <a:gd name="adj" fmla="val 4103"/>
            </a:avLst>
          </a:prstGeom>
          <a:solidFill>
            <a:schemeClr val="accent6"/>
          </a:solidFill>
          <a:ln/>
        </p:spPr>
      </p:sp>
      <p:sp>
        <p:nvSpPr>
          <p:cNvPr id="26" name="Shape 23"/>
          <p:cNvSpPr/>
          <p:nvPr/>
        </p:nvSpPr>
        <p:spPr>
          <a:xfrm>
            <a:off x="6903720" y="4297680"/>
            <a:ext cx="548640" cy="548640"/>
          </a:xfrm>
          <a:prstGeom prst="ellipse">
            <a:avLst/>
          </a:prstGeom>
          <a:solidFill>
            <a:schemeClr val="accent4"/>
          </a:solidFill>
          <a:ln/>
        </p:spPr>
      </p:sp>
      <p:pic>
        <p:nvPicPr>
          <p:cNvPr id="27" name="Image 1" descr="preencoded.png">    </p:cNvPr>
          <p:cNvPicPr>
            <a:picLocks noChangeAspect="1"/>
          </p:cNvPicPr>
          <p:nvPr/>
        </p:nvPicPr>
        <p:blipFill>
          <a:blip r:embed="rId2"/>
          <a:stretch>
            <a:fillRect/>
          </a:stretch>
        </p:blipFill>
        <p:spPr>
          <a:xfrm>
            <a:off x="7040880" y="4434840"/>
            <a:ext cx="274320" cy="274320"/>
          </a:xfrm>
          <a:prstGeom prst="rect">
            <a:avLst/>
          </a:prstGeom>
        </p:spPr>
      </p:pic>
      <p:sp>
        <p:nvSpPr>
          <p:cNvPr id="28" name="Text 24"/>
          <p:cNvSpPr txBox="1"/>
          <p:nvPr/>
        </p:nvSpPr>
        <p:spPr>
          <a:xfrm>
            <a:off x="7635240" y="4389120"/>
            <a:ext cx="3749040" cy="365760"/>
          </a:xfrm>
          <a:prstGeom prst="rect">
            <a:avLst/>
          </a:prstGeom>
          <a:noFill/>
          <a:ln/>
        </p:spPr>
        <p:txBody>
          <a:bodyPr wrap="square" lIns="0" tIns="0" rIns="0" bIns="0" rtlCol="0" anchor="t"/>
          <a:lstStyle/>
          <a:p>
            <a:pPr indent="0" marL="0">
              <a:buNone/>
            </a:pPr>
            <a:r>
              <a:rPr lang="en-US" sz="1700" b="1" dirty="0">
                <a:solidFill>
                  <a:schemeClr val="bg2"/>
                </a:solidFill>
              </a:rPr>
              <a:t>Built as code, yours to keep</a:t>
            </a:r>
            <a:endParaRPr lang="en-US" sz="1700" dirty="0"/>
          </a:p>
        </p:txBody>
      </p:sp>
      <p:sp>
        <p:nvSpPr>
          <p:cNvPr id="29" name="Text 25"/>
          <p:cNvSpPr txBox="1"/>
          <p:nvPr/>
        </p:nvSpPr>
        <p:spPr>
          <a:xfrm>
            <a:off x="6949440" y="4892040"/>
            <a:ext cx="4480560" cy="914400"/>
          </a:xfrm>
          <a:prstGeom prst="rect">
            <a:avLst/>
          </a:prstGeom>
          <a:noFill/>
          <a:ln/>
        </p:spPr>
        <p:txBody>
          <a:bodyPr wrap="square" lIns="0" tIns="0" rIns="0" bIns="0" rtlCol="0" anchor="t"/>
          <a:lstStyle/>
          <a:p>
            <a:pPr indent="0" marL="0">
              <a:buNone/>
            </a:pPr>
            <a:r>
              <a:rPr lang="en-US" sz="1300" dirty="0">
                <a:solidFill>
                  <a:schemeClr val="accent5"/>
                </a:solidFill>
              </a:rPr>
              <a:t>Deployed with Declarative Automation Bundles on Unity Catalog. Your platform team can re-run it in any workspace, including the new EU workspaces.</a:t>
            </a:r>
            <a:endParaRPr lang="en-US" sz="1300" dirty="0"/>
          </a:p>
        </p:txBody>
      </p:sp>
      <p:sp>
        <p:nvSpPr>
          <p:cNvPr id="25" name="Slide Number Placeholder 0"/>
          <p:cNvSpPr>
            <a:spLocks noGrp="1"/>
          </p:cNvSpPr>
          <p:nvPr>
            <p:ph type="sldNum" sz="quarter" idx="4294967295"/>
          </p:nvPr>
        </p:nvSpPr>
        <p:spPr>
          <a:xfrm>
            <a:off x="11247120" y="63276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THE PLAN</a:t>
            </a:r>
            <a:endParaRPr lang="en-US" sz="1200" dirty="0"/>
          </a:p>
        </p:txBody>
      </p:sp>
      <p:sp>
        <p:nvSpPr>
          <p:cNvPr id="3" name="Text 1"/>
          <p:cNvSpPr/>
          <p:nvPr>
            <p:ph idx="103"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000" b="1" dirty="0">
                <a:solidFill>
                  <a:schemeClr val="bg2"/>
                </a:solidFill>
              </a:rPr>
              <a:t>Three phases, sequenced around your Nov 1 freeze</a:t>
            </a:r>
            <a:endParaRPr lang="en-US" sz="3000" dirty="0"/>
          </a:p>
        </p:txBody>
      </p:sp>
      <p:sp>
        <p:nvSpPr>
          <p:cNvPr id="4" name="phase 1"/>
          <p:cNvSpPr/>
          <p:nvPr/>
        </p:nvSpPr>
        <p:spPr>
          <a:xfrm>
            <a:off x="548640" y="1508760"/>
            <a:ext cx="3520440" cy="4572000"/>
          </a:xfrm>
          <a:prstGeom prst="roundRect">
            <a:avLst>
              <a:gd name="adj" fmla="val 2078"/>
            </a:avLst>
          </a:prstGeom>
          <a:solidFill>
            <a:schemeClr val="accent6"/>
          </a:solidFill>
          <a:ln/>
        </p:spPr>
      </p:sp>
      <p:sp>
        <p:nvSpPr>
          <p:cNvPr id="5" name="Shape 3"/>
          <p:cNvSpPr/>
          <p:nvPr/>
        </p:nvSpPr>
        <p:spPr>
          <a:xfrm>
            <a:off x="777240" y="1737360"/>
            <a:ext cx="548640" cy="548640"/>
          </a:xfrm>
          <a:prstGeom prst="ellipse">
            <a:avLst/>
          </a:prstGeom>
          <a:solidFill>
            <a:srgbClr val="FF3621"/>
          </a:solidFill>
          <a:ln/>
        </p:spPr>
      </p:sp>
      <p:pic>
        <p:nvPicPr>
          <p:cNvPr id="6" name="Image 0" descr="preencoded.png">    </p:cNvPr>
          <p:cNvPicPr>
            <a:picLocks noChangeAspect="1"/>
          </p:cNvPicPr>
          <p:nvPr/>
        </p:nvPicPr>
        <p:blipFill>
          <a:blip r:embed="rId1"/>
          <a:stretch>
            <a:fillRect/>
          </a:stretch>
        </p:blipFill>
        <p:spPr>
          <a:xfrm>
            <a:off x="914400" y="1874520"/>
            <a:ext cx="274320" cy="274320"/>
          </a:xfrm>
          <a:prstGeom prst="rect">
            <a:avLst/>
          </a:prstGeom>
        </p:spPr>
      </p:pic>
      <p:sp>
        <p:nvSpPr>
          <p:cNvPr id="7" name="Text 4"/>
          <p:cNvSpPr txBox="1"/>
          <p:nvPr/>
        </p:nvSpPr>
        <p:spPr>
          <a:xfrm>
            <a:off x="1463040" y="1755648"/>
            <a:ext cx="2468880" cy="274320"/>
          </a:xfrm>
          <a:prstGeom prst="rect">
            <a:avLst/>
          </a:prstGeom>
          <a:noFill/>
          <a:ln/>
        </p:spPr>
        <p:txBody>
          <a:bodyPr wrap="square" lIns="0" tIns="0" rIns="0" bIns="0" rtlCol="0" anchor="t"/>
          <a:lstStyle/>
          <a:p>
            <a:pPr indent="0" marL="0">
              <a:buNone/>
            </a:pPr>
            <a:r>
              <a:rPr lang="en-US" sz="1500" b="1" spc="100" kern="0" dirty="0">
                <a:solidFill>
                  <a:srgbClr val="FF3621"/>
                </a:solidFill>
              </a:rPr>
              <a:t>THIS WEEK</a:t>
            </a:r>
            <a:endParaRPr lang="en-US" sz="1500" dirty="0"/>
          </a:p>
        </p:txBody>
      </p:sp>
      <p:sp>
        <p:nvSpPr>
          <p:cNvPr id="8" name="Text 5"/>
          <p:cNvSpPr txBox="1"/>
          <p:nvPr/>
        </p:nvSpPr>
        <p:spPr>
          <a:xfrm>
            <a:off x="1463040" y="2029968"/>
            <a:ext cx="2468880" cy="274320"/>
          </a:xfrm>
          <a:prstGeom prst="rect">
            <a:avLst/>
          </a:prstGeom>
          <a:noFill/>
          <a:ln/>
        </p:spPr>
        <p:txBody>
          <a:bodyPr wrap="square" lIns="0" tIns="0" rIns="0" bIns="0" rtlCol="0" anchor="t"/>
          <a:lstStyle/>
          <a:p>
            <a:pPr indent="0" marL="0">
              <a:buNone/>
            </a:pPr>
            <a:r>
              <a:rPr lang="en-US" sz="1200" dirty="0">
                <a:solidFill>
                  <a:schemeClr val="accent5"/>
                </a:solidFill>
              </a:rPr>
              <a:t>Config only, no freeze risk</a:t>
            </a:r>
            <a:endParaRPr lang="en-US" sz="1200" dirty="0"/>
          </a:p>
        </p:txBody>
      </p:sp>
      <p:sp>
        <p:nvSpPr>
          <p:cNvPr id="9" name="Text 6"/>
          <p:cNvSpPr txBox="1"/>
          <p:nvPr/>
        </p:nvSpPr>
        <p:spPr>
          <a:xfrm>
            <a:off x="777240" y="2514600"/>
            <a:ext cx="3108960" cy="233172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bg2"/>
                </a:solidFill>
              </a:rPr>
              <a:t>Right-size BI warehouse and refresh</a:t>
            </a:r>
            <a:endParaRPr lang="en-US" sz="1300" dirty="0"/>
          </a:p>
          <a:p>
            <a:pPr marL="342900" indent="-342900">
              <a:spcAft>
                <a:spcPts val="500"/>
              </a:spcAft>
              <a:buSzPct val="100000"/>
              <a:buChar char="•"/>
            </a:pPr>
            <a:r>
              <a:rPr lang="en-US" sz="1300" dirty="0">
                <a:solidFill>
                  <a:schemeClr val="bg2"/>
                </a:solidFill>
              </a:rPr>
              <a:t>Auto-terminate the GPU cluster</a:t>
            </a:r>
            <a:endParaRPr lang="en-US" sz="1300" dirty="0"/>
          </a:p>
          <a:p>
            <a:pPr marL="342900" indent="-342900">
              <a:spcAft>
                <a:spcPts val="500"/>
              </a:spcAft>
              <a:buSzPct val="100000"/>
              <a:buChar char="•"/>
            </a:pPr>
            <a:r>
              <a:rPr lang="en-US" sz="1300" dirty="0">
                <a:solidFill>
                  <a:schemeClr val="bg2"/>
                </a:solidFill>
              </a:rPr>
              <a:t>Stop contractor resources and revoke access</a:t>
            </a:r>
            <a:endParaRPr lang="en-US" sz="1300" dirty="0"/>
          </a:p>
          <a:p>
            <a:pPr marL="342900" indent="-342900">
              <a:spcAft>
                <a:spcPts val="500"/>
              </a:spcAft>
              <a:buSzPct val="100000"/>
              <a:buChar char="•"/>
            </a:pPr>
            <a:r>
              <a:rPr lang="en-US" sz="1300" dirty="0">
                <a:solidFill>
                  <a:schemeClr val="bg2"/>
                </a:solidFill>
              </a:rPr>
              <a:t>Revert inventory schedule; Salesforce to triggered</a:t>
            </a:r>
            <a:endParaRPr lang="en-US" sz="1300" dirty="0"/>
          </a:p>
          <a:p>
            <a:pPr marL="342900" indent="-342900">
              <a:spcAft>
                <a:spcPts val="500"/>
              </a:spcAft>
              <a:buSzPct val="100000"/>
              <a:buChar char="•"/>
            </a:pPr>
            <a:r>
              <a:rPr lang="en-US" sz="1300" dirty="0">
                <a:solidFill>
                  <a:schemeClr val="bg2"/>
                </a:solidFill>
              </a:rPr>
              <a:t>Fix Finance's cost table</a:t>
            </a:r>
            <a:endParaRPr lang="en-US" sz="1300" dirty="0"/>
          </a:p>
        </p:txBody>
      </p:sp>
      <p:sp>
        <p:nvSpPr>
          <p:cNvPr id="10" name="Text 7"/>
          <p:cNvSpPr txBox="1"/>
          <p:nvPr/>
        </p:nvSpPr>
        <p:spPr>
          <a:xfrm>
            <a:off x="777240" y="4983480"/>
            <a:ext cx="3108960" cy="365760"/>
          </a:xfrm>
          <a:prstGeom prst="rect">
            <a:avLst/>
          </a:prstGeom>
          <a:noFill/>
          <a:ln/>
        </p:spPr>
        <p:txBody>
          <a:bodyPr wrap="square" lIns="0" tIns="0" rIns="0" bIns="0" rtlCol="0" anchor="t"/>
          <a:lstStyle/>
          <a:p>
            <a:pPr indent="0" marL="0">
              <a:buNone/>
            </a:pPr>
            <a:r>
              <a:rPr lang="en-US" sz="1800" b="1" dirty="0">
                <a:solidFill>
                  <a:srgbClr val="FF3621"/>
                </a:solidFill>
              </a:rPr>
              <a:t>Up to ~$97k/mo</a:t>
            </a:r>
            <a:endParaRPr lang="en-US" sz="1800" dirty="0"/>
          </a:p>
        </p:txBody>
      </p:sp>
      <p:sp>
        <p:nvSpPr>
          <p:cNvPr id="11" name="Text 8"/>
          <p:cNvSpPr txBox="1"/>
          <p:nvPr/>
        </p:nvSpPr>
        <p:spPr>
          <a:xfrm>
            <a:off x="777240" y="5394960"/>
            <a:ext cx="3108960" cy="457200"/>
          </a:xfrm>
          <a:prstGeom prst="rect">
            <a:avLst/>
          </a:prstGeom>
          <a:noFill/>
          <a:ln/>
        </p:spPr>
        <p:txBody>
          <a:bodyPr wrap="square" lIns="0" tIns="0" rIns="0" bIns="0" rtlCol="0" anchor="t"/>
          <a:lstStyle/>
          <a:p>
            <a:pPr indent="0" marL="0">
              <a:buNone/>
            </a:pPr>
            <a:r>
              <a:rPr lang="en-US" sz="1200" dirty="0">
                <a:solidFill>
                  <a:schemeClr val="accent5"/>
                </a:solidFill>
              </a:rPr>
              <a:t>Owner: Platform team + Finance BI</a:t>
            </a:r>
            <a:endParaRPr lang="en-US" sz="1200" dirty="0"/>
          </a:p>
        </p:txBody>
      </p:sp>
      <p:sp>
        <p:nvSpPr>
          <p:cNvPr id="12" name="phase 2"/>
          <p:cNvSpPr/>
          <p:nvPr/>
        </p:nvSpPr>
        <p:spPr>
          <a:xfrm>
            <a:off x="4297680" y="1508760"/>
            <a:ext cx="3520440" cy="4572000"/>
          </a:xfrm>
          <a:prstGeom prst="roundRect">
            <a:avLst>
              <a:gd name="adj" fmla="val 2078"/>
            </a:avLst>
          </a:prstGeom>
          <a:solidFill>
            <a:schemeClr val="accent6"/>
          </a:solidFill>
          <a:ln/>
        </p:spPr>
      </p:sp>
      <p:sp>
        <p:nvSpPr>
          <p:cNvPr id="13" name="Shape 10"/>
          <p:cNvSpPr/>
          <p:nvPr/>
        </p:nvSpPr>
        <p:spPr>
          <a:xfrm>
            <a:off x="4526280" y="1737360"/>
            <a:ext cx="548640" cy="548640"/>
          </a:xfrm>
          <a:prstGeom prst="ellipse">
            <a:avLst/>
          </a:prstGeom>
          <a:solidFill>
            <a:srgbClr val="F5A623"/>
          </a:solidFill>
          <a:ln/>
        </p:spPr>
      </p:sp>
      <p:pic>
        <p:nvPicPr>
          <p:cNvPr id="14" name="Image 1" descr="preencoded.png">    </p:cNvPr>
          <p:cNvPicPr>
            <a:picLocks noChangeAspect="1"/>
          </p:cNvPicPr>
          <p:nvPr/>
        </p:nvPicPr>
        <p:blipFill>
          <a:blip r:embed="rId2"/>
          <a:stretch>
            <a:fillRect/>
          </a:stretch>
        </p:blipFill>
        <p:spPr>
          <a:xfrm>
            <a:off x="4663440" y="1874520"/>
            <a:ext cx="274320" cy="274320"/>
          </a:xfrm>
          <a:prstGeom prst="rect">
            <a:avLst/>
          </a:prstGeom>
        </p:spPr>
      </p:pic>
      <p:sp>
        <p:nvSpPr>
          <p:cNvPr id="15" name="Text 11"/>
          <p:cNvSpPr txBox="1"/>
          <p:nvPr/>
        </p:nvSpPr>
        <p:spPr>
          <a:xfrm>
            <a:off x="5212080" y="1755648"/>
            <a:ext cx="2468880" cy="274320"/>
          </a:xfrm>
          <a:prstGeom prst="rect">
            <a:avLst/>
          </a:prstGeom>
          <a:noFill/>
          <a:ln/>
        </p:spPr>
        <p:txBody>
          <a:bodyPr wrap="square" lIns="0" tIns="0" rIns="0" bIns="0" rtlCol="0" anchor="t"/>
          <a:lstStyle/>
          <a:p>
            <a:pPr indent="0" marL="0">
              <a:buNone/>
            </a:pPr>
            <a:r>
              <a:rPr lang="en-US" sz="1500" b="1" spc="100" kern="0" dirty="0">
                <a:solidFill>
                  <a:srgbClr val="F5A623"/>
                </a:solidFill>
              </a:rPr>
              <a:t>BEFORE NOV 1</a:t>
            </a:r>
            <a:endParaRPr lang="en-US" sz="1500" dirty="0"/>
          </a:p>
        </p:txBody>
      </p:sp>
      <p:sp>
        <p:nvSpPr>
          <p:cNvPr id="16" name="Text 12"/>
          <p:cNvSpPr txBox="1"/>
          <p:nvPr/>
        </p:nvSpPr>
        <p:spPr>
          <a:xfrm>
            <a:off x="5212080" y="2029968"/>
            <a:ext cx="2468880" cy="274320"/>
          </a:xfrm>
          <a:prstGeom prst="rect">
            <a:avLst/>
          </a:prstGeom>
          <a:noFill/>
          <a:ln/>
        </p:spPr>
        <p:txBody>
          <a:bodyPr wrap="square" lIns="0" tIns="0" rIns="0" bIns="0" rtlCol="0" anchor="t"/>
          <a:lstStyle/>
          <a:p>
            <a:pPr indent="0" marL="0">
              <a:buNone/>
            </a:pPr>
            <a:r>
              <a:rPr lang="en-US" sz="1200" dirty="0">
                <a:solidFill>
                  <a:schemeClr val="accent5"/>
                </a:solidFill>
              </a:rPr>
              <a:t>Dev workspace only</a:t>
            </a:r>
            <a:endParaRPr lang="en-US" sz="1200" dirty="0"/>
          </a:p>
        </p:txBody>
      </p:sp>
      <p:sp>
        <p:nvSpPr>
          <p:cNvPr id="17" name="Text 13"/>
          <p:cNvSpPr txBox="1"/>
          <p:nvPr/>
        </p:nvSpPr>
        <p:spPr>
          <a:xfrm>
            <a:off x="4526280" y="2514600"/>
            <a:ext cx="3108960" cy="233172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bg2"/>
                </a:solidFill>
              </a:rPr>
              <a:t>Dev compute policy: 60-min auto-termination, size caps, mandatory cost-center tag</a:t>
            </a:r>
            <a:endParaRPr lang="en-US" sz="1300" dirty="0"/>
          </a:p>
          <a:p>
            <a:pPr marL="342900" indent="-342900">
              <a:spcAft>
                <a:spcPts val="500"/>
              </a:spcAft>
              <a:buSzPct val="100000"/>
              <a:buChar char="•"/>
            </a:pPr>
            <a:r>
              <a:rPr lang="en-US" sz="1300" dirty="0">
                <a:solidFill>
                  <a:schemeClr val="bg2"/>
                </a:solidFill>
              </a:rPr>
              <a:t>Exception path for long jobs</a:t>
            </a:r>
            <a:endParaRPr lang="en-US" sz="1300" dirty="0"/>
          </a:p>
          <a:p>
            <a:pPr marL="342900" indent="-342900">
              <a:spcAft>
                <a:spcPts val="500"/>
              </a:spcAft>
              <a:buSzPct val="100000"/>
              <a:buChar char="•"/>
            </a:pPr>
            <a:r>
              <a:rPr lang="en-US" sz="1300" dirty="0">
                <a:solidFill>
                  <a:schemeClr val="bg2"/>
                </a:solidFill>
              </a:rPr>
              <a:t>Budgets and alerts per cost center</a:t>
            </a:r>
            <a:endParaRPr lang="en-US" sz="1300" dirty="0"/>
          </a:p>
          <a:p>
            <a:pPr marL="342900" indent="-342900">
              <a:spcAft>
                <a:spcPts val="500"/>
              </a:spcAft>
              <a:buSzPct val="100000"/>
              <a:buChar char="•"/>
            </a:pPr>
            <a:r>
              <a:rPr lang="en-US" sz="1300" dirty="0">
                <a:solidFill>
                  <a:schemeClr val="bg2"/>
                </a:solidFill>
              </a:rPr>
              <a:t>Peak schedule (4× a day, Nov 15–Dec 31) as code</a:t>
            </a:r>
            <a:endParaRPr lang="en-US" sz="1300" dirty="0"/>
          </a:p>
        </p:txBody>
      </p:sp>
      <p:sp>
        <p:nvSpPr>
          <p:cNvPr id="18" name="Text 14"/>
          <p:cNvSpPr txBox="1"/>
          <p:nvPr/>
        </p:nvSpPr>
        <p:spPr>
          <a:xfrm>
            <a:off x="4526280" y="4983480"/>
            <a:ext cx="3108960" cy="365760"/>
          </a:xfrm>
          <a:prstGeom prst="rect">
            <a:avLst/>
          </a:prstGeom>
          <a:noFill/>
          <a:ln/>
        </p:spPr>
        <p:txBody>
          <a:bodyPr wrap="square" lIns="0" tIns="0" rIns="0" bIns="0" rtlCol="0" anchor="t"/>
          <a:lstStyle/>
          <a:p>
            <a:pPr indent="0" marL="0">
              <a:buNone/>
            </a:pPr>
            <a:r>
              <a:rPr lang="en-US" sz="1800" b="1" dirty="0">
                <a:solidFill>
                  <a:srgbClr val="F5A623"/>
                </a:solidFill>
              </a:rPr>
              <a:t>~$9k/mo + no recurrence</a:t>
            </a:r>
            <a:endParaRPr lang="en-US" sz="1800" dirty="0"/>
          </a:p>
        </p:txBody>
      </p:sp>
      <p:sp>
        <p:nvSpPr>
          <p:cNvPr id="19" name="Text 15"/>
          <p:cNvSpPr txBox="1"/>
          <p:nvPr/>
        </p:nvSpPr>
        <p:spPr>
          <a:xfrm>
            <a:off x="4526280" y="5394960"/>
            <a:ext cx="3108960" cy="457200"/>
          </a:xfrm>
          <a:prstGeom prst="rect">
            <a:avLst/>
          </a:prstGeom>
          <a:noFill/>
          <a:ln/>
        </p:spPr>
        <p:txBody>
          <a:bodyPr wrap="square" lIns="0" tIns="0" rIns="0" bIns="0" rtlCol="0" anchor="t"/>
          <a:lstStyle/>
          <a:p>
            <a:pPr indent="0" marL="0">
              <a:buNone/>
            </a:pPr>
            <a:r>
              <a:rPr lang="en-US" sz="1200" dirty="0">
                <a:solidFill>
                  <a:schemeClr val="accent5"/>
                </a:solidFill>
              </a:rPr>
              <a:t>Owner: Eng leads + Platform</a:t>
            </a:r>
            <a:endParaRPr lang="en-US" sz="1200" dirty="0"/>
          </a:p>
        </p:txBody>
      </p:sp>
      <p:sp>
        <p:nvSpPr>
          <p:cNvPr id="20" name="phase 3"/>
          <p:cNvSpPr/>
          <p:nvPr/>
        </p:nvSpPr>
        <p:spPr>
          <a:xfrm>
            <a:off x="8046720" y="1508760"/>
            <a:ext cx="3520440" cy="4572000"/>
          </a:xfrm>
          <a:prstGeom prst="roundRect">
            <a:avLst>
              <a:gd name="adj" fmla="val 2078"/>
            </a:avLst>
          </a:prstGeom>
          <a:solidFill>
            <a:schemeClr val="accent6"/>
          </a:solidFill>
          <a:ln/>
        </p:spPr>
      </p:sp>
      <p:sp>
        <p:nvSpPr>
          <p:cNvPr id="21" name="Shape 17"/>
          <p:cNvSpPr/>
          <p:nvPr/>
        </p:nvSpPr>
        <p:spPr>
          <a:xfrm>
            <a:off x="8275320" y="1737360"/>
            <a:ext cx="548640" cy="548640"/>
          </a:xfrm>
          <a:prstGeom prst="ellipse">
            <a:avLst/>
          </a:prstGeom>
          <a:solidFill>
            <a:srgbClr val="2BB673"/>
          </a:solidFill>
          <a:ln/>
        </p:spPr>
      </p:sp>
      <p:pic>
        <p:nvPicPr>
          <p:cNvPr id="22" name="Image 2" descr="preencoded.png">    </p:cNvPr>
          <p:cNvPicPr>
            <a:picLocks noChangeAspect="1"/>
          </p:cNvPicPr>
          <p:nvPr/>
        </p:nvPicPr>
        <p:blipFill>
          <a:blip r:embed="rId3"/>
          <a:stretch>
            <a:fillRect/>
          </a:stretch>
        </p:blipFill>
        <p:spPr>
          <a:xfrm>
            <a:off x="8412480" y="1874520"/>
            <a:ext cx="274320" cy="274320"/>
          </a:xfrm>
          <a:prstGeom prst="rect">
            <a:avLst/>
          </a:prstGeom>
        </p:spPr>
      </p:pic>
      <p:sp>
        <p:nvSpPr>
          <p:cNvPr id="23" name="Text 18"/>
          <p:cNvSpPr txBox="1"/>
          <p:nvPr/>
        </p:nvSpPr>
        <p:spPr>
          <a:xfrm>
            <a:off x="8961120" y="1755648"/>
            <a:ext cx="2468880" cy="274320"/>
          </a:xfrm>
          <a:prstGeom prst="rect">
            <a:avLst/>
          </a:prstGeom>
          <a:noFill/>
          <a:ln/>
        </p:spPr>
        <p:txBody>
          <a:bodyPr wrap="square" lIns="0" tIns="0" rIns="0" bIns="0" rtlCol="0" anchor="t"/>
          <a:lstStyle/>
          <a:p>
            <a:pPr indent="0" marL="0">
              <a:buNone/>
            </a:pPr>
            <a:r>
              <a:rPr lang="en-US" sz="1500" b="1" spc="100" kern="0" dirty="0">
                <a:solidFill>
                  <a:srgbClr val="2BB673"/>
                </a:solidFill>
              </a:rPr>
              <a:t>Q1, AFTER PEAK</a:t>
            </a:r>
            <a:endParaRPr lang="en-US" sz="1500" dirty="0"/>
          </a:p>
        </p:txBody>
      </p:sp>
      <p:sp>
        <p:nvSpPr>
          <p:cNvPr id="24" name="Text 19"/>
          <p:cNvSpPr txBox="1"/>
          <p:nvPr/>
        </p:nvSpPr>
        <p:spPr>
          <a:xfrm>
            <a:off x="8961120" y="2029968"/>
            <a:ext cx="2468880" cy="274320"/>
          </a:xfrm>
          <a:prstGeom prst="rect">
            <a:avLst/>
          </a:prstGeom>
          <a:noFill/>
          <a:ln/>
        </p:spPr>
        <p:txBody>
          <a:bodyPr wrap="square" lIns="0" tIns="0" rIns="0" bIns="0" rtlCol="0" anchor="t"/>
          <a:lstStyle/>
          <a:p>
            <a:pPr indent="0" marL="0">
              <a:buNone/>
            </a:pPr>
            <a:r>
              <a:rPr lang="en-US" sz="1200" dirty="0">
                <a:solidFill>
                  <a:schemeClr val="accent5"/>
                </a:solidFill>
              </a:rPr>
              <a:t>Make it permanent</a:t>
            </a:r>
            <a:endParaRPr lang="en-US" sz="1200" dirty="0"/>
          </a:p>
        </p:txBody>
      </p:sp>
      <p:sp>
        <p:nvSpPr>
          <p:cNvPr id="25" name="Text 20"/>
          <p:cNvSpPr txBox="1"/>
          <p:nvPr/>
        </p:nvSpPr>
        <p:spPr>
          <a:xfrm>
            <a:off x="8275320" y="2514600"/>
            <a:ext cx="3108960" cy="233172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bg2"/>
                </a:solidFill>
              </a:rPr>
              <a:t>Policies in production</a:t>
            </a:r>
            <a:endParaRPr lang="en-US" sz="1300" dirty="0"/>
          </a:p>
          <a:p>
            <a:pPr marL="342900" indent="-342900">
              <a:spcAft>
                <a:spcPts val="500"/>
              </a:spcAft>
              <a:buSzPct val="100000"/>
              <a:buChar char="•"/>
            </a:pPr>
            <a:r>
              <a:rPr lang="en-US" sz="1300" dirty="0">
                <a:solidFill>
                  <a:schemeClr val="bg2"/>
                </a:solidFill>
              </a:rPr>
              <a:t>Serverless budget policies for attribution</a:t>
            </a:r>
            <a:endParaRPr lang="en-US" sz="1300" dirty="0"/>
          </a:p>
          <a:p>
            <a:pPr marL="342900" indent="-342900">
              <a:spcAft>
                <a:spcPts val="500"/>
              </a:spcAft>
              <a:buSzPct val="100000"/>
              <a:buChar char="•"/>
            </a:pPr>
            <a:r>
              <a:rPr lang="en-US" sz="1300" dirty="0">
                <a:solidFill>
                  <a:schemeClr val="bg2"/>
                </a:solidFill>
              </a:rPr>
              <a:t>Chargeback dashboard and monthly FinOps review</a:t>
            </a:r>
            <a:endParaRPr lang="en-US" sz="1300" dirty="0"/>
          </a:p>
          <a:p>
            <a:pPr marL="342900" indent="-342900">
              <a:spcAft>
                <a:spcPts val="500"/>
              </a:spcAft>
              <a:buSzPct val="100000"/>
              <a:buChar char="•"/>
            </a:pPr>
            <a:r>
              <a:rPr lang="en-US" sz="1300" dirty="0">
                <a:solidFill>
                  <a:schemeClr val="bg2"/>
                </a:solidFill>
              </a:rPr>
              <a:t>Governance as code with PR review and CI deploy</a:t>
            </a:r>
            <a:endParaRPr lang="en-US" sz="1300" dirty="0"/>
          </a:p>
          <a:p>
            <a:pPr marL="342900" indent="-342900">
              <a:spcAft>
                <a:spcPts val="500"/>
              </a:spcAft>
              <a:buSzPct val="100000"/>
              <a:buChar char="•"/>
            </a:pPr>
            <a:r>
              <a:rPr lang="en-US" sz="1300" dirty="0">
                <a:solidFill>
                  <a:schemeClr val="bg2"/>
                </a:solidFill>
              </a:rPr>
              <a:t>Offboarding runbook; EU workspaces inherit it all</a:t>
            </a:r>
            <a:endParaRPr lang="en-US" sz="1300" dirty="0"/>
          </a:p>
        </p:txBody>
      </p:sp>
      <p:sp>
        <p:nvSpPr>
          <p:cNvPr id="26" name="Text 21"/>
          <p:cNvSpPr txBox="1"/>
          <p:nvPr/>
        </p:nvSpPr>
        <p:spPr>
          <a:xfrm>
            <a:off x="8275320" y="4983480"/>
            <a:ext cx="3108960" cy="365760"/>
          </a:xfrm>
          <a:prstGeom prst="rect">
            <a:avLst/>
          </a:prstGeom>
          <a:noFill/>
          <a:ln/>
        </p:spPr>
        <p:txBody>
          <a:bodyPr wrap="square" lIns="0" tIns="0" rIns="0" bIns="0" rtlCol="0" anchor="t"/>
          <a:lstStyle/>
          <a:p>
            <a:pPr indent="0" marL="0">
              <a:buNone/>
            </a:pPr>
            <a:r>
              <a:rPr lang="en-US" sz="1800" b="1" dirty="0">
                <a:solidFill>
                  <a:srgbClr val="2BB673"/>
                </a:solidFill>
              </a:rPr>
              <a:t>Predictable spend</a:t>
            </a:r>
            <a:endParaRPr lang="en-US" sz="1800" dirty="0"/>
          </a:p>
        </p:txBody>
      </p:sp>
      <p:sp>
        <p:nvSpPr>
          <p:cNvPr id="27" name="Text 22"/>
          <p:cNvSpPr txBox="1"/>
          <p:nvPr/>
        </p:nvSpPr>
        <p:spPr>
          <a:xfrm>
            <a:off x="8275320" y="5394960"/>
            <a:ext cx="3108960" cy="457200"/>
          </a:xfrm>
          <a:prstGeom prst="rect">
            <a:avLst/>
          </a:prstGeom>
          <a:noFill/>
          <a:ln/>
        </p:spPr>
        <p:txBody>
          <a:bodyPr wrap="square" lIns="0" tIns="0" rIns="0" bIns="0" rtlCol="0" anchor="t"/>
          <a:lstStyle/>
          <a:p>
            <a:pPr indent="0" marL="0">
              <a:buNone/>
            </a:pPr>
            <a:r>
              <a:rPr lang="en-US" sz="1200" dirty="0">
                <a:solidFill>
                  <a:schemeClr val="accent5"/>
                </a:solidFill>
              </a:rPr>
              <a:t>Owner: CTO office + Finance</a:t>
            </a:r>
            <a:endParaRPr lang="en-US" sz="1200" dirty="0"/>
          </a:p>
        </p:txBody>
      </p:sp>
      <p:sp>
        <p:nvSpPr>
          <p:cNvPr id="25" name="Slide Number Placeholder 0"/>
          <p:cNvSpPr>
            <a:spLocks noGrp="1"/>
          </p:cNvSpPr>
          <p:nvPr>
            <p:ph type="sldNum" sz="quarter" idx="4294967295"/>
          </p:nvPr>
        </p:nvSpPr>
        <p:spPr>
          <a:xfrm>
            <a:off x="11247120" y="63276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THE NUMBER FOR THE BOARD</a:t>
            </a:r>
            <a:endParaRPr lang="en-US" sz="1200" dirty="0"/>
          </a:p>
        </p:txBody>
      </p:sp>
      <p:sp>
        <p:nvSpPr>
          <p:cNvPr id="3" name="Text 1"/>
          <p:cNvSpPr/>
          <p:nvPr>
            <p:ph idx="103"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000" b="1" dirty="0">
                <a:solidFill>
                  <a:schemeClr val="bg2"/>
                </a:solidFill>
              </a:rPr>
              <a:t>From $179k to ~$75k a month, and an honest Q4</a:t>
            </a:r>
            <a:endParaRPr lang="en-US" sz="3000" dirty="0"/>
          </a:p>
        </p:txBody>
      </p:sp>
      <p:graphicFrame>
        <p:nvGraphicFramePr>
          <p:cNvPr id="4" name="Chart 0" descr=""/>
          <p:cNvGraphicFramePr/>
          <p:nvPr/>
        </p:nvGraphicFramePr>
        <p:xfrm>
          <a:off x="548640" y="1508760"/>
          <a:ext cx="6766560" cy="4526280"/>
        </p:xfrm>
        <a:graphic xmlns:a="http://schemas.openxmlformats.org/drawingml/2006/main">
          <a:graphicData uri="http://schemas.openxmlformats.org/drawingml/2006/chart">
            <c:chart xmlns:c="http://schemas.openxmlformats.org/drawingml/2006/chart" r:id="rId1"/>
          </a:graphicData>
        </a:graphic>
      </p:graphicFrame>
      <p:sp>
        <p:nvSpPr>
          <p:cNvPr id="5" name="honest q4"/>
          <p:cNvSpPr/>
          <p:nvPr/>
        </p:nvSpPr>
        <p:spPr>
          <a:xfrm>
            <a:off x="7635240" y="1508760"/>
            <a:ext cx="3977640" cy="2148840"/>
          </a:xfrm>
          <a:prstGeom prst="roundRect">
            <a:avLst>
              <a:gd name="adj" fmla="val 3404"/>
            </a:avLst>
          </a:prstGeom>
          <a:solidFill>
            <a:schemeClr val="accent6"/>
          </a:solidFill>
          <a:ln/>
        </p:spPr>
      </p:sp>
      <p:sp>
        <p:nvSpPr>
          <p:cNvPr id="6" name="Text 3"/>
          <p:cNvSpPr txBox="1"/>
          <p:nvPr/>
        </p:nvSpPr>
        <p:spPr>
          <a:xfrm>
            <a:off x="7863840" y="1691640"/>
            <a:ext cx="3566160" cy="365760"/>
          </a:xfrm>
          <a:prstGeom prst="rect">
            <a:avLst/>
          </a:prstGeom>
          <a:noFill/>
          <a:ln/>
        </p:spPr>
        <p:txBody>
          <a:bodyPr wrap="square" lIns="0" tIns="0" rIns="0" bIns="0" rtlCol="0" anchor="t"/>
          <a:lstStyle/>
          <a:p>
            <a:pPr indent="0" marL="0">
              <a:buNone/>
            </a:pPr>
            <a:r>
              <a:rPr lang="en-US" sz="1700" b="1" dirty="0">
                <a:solidFill>
                  <a:schemeClr val="accent1"/>
                </a:solidFill>
              </a:rPr>
              <a:t>The honest Q4</a:t>
            </a:r>
            <a:endParaRPr lang="en-US" sz="1700" dirty="0"/>
          </a:p>
        </p:txBody>
      </p:sp>
      <p:sp>
        <p:nvSpPr>
          <p:cNvPr id="7" name="Text 4"/>
          <p:cNvSpPr txBox="1"/>
          <p:nvPr/>
        </p:nvSpPr>
        <p:spPr>
          <a:xfrm>
            <a:off x="7863840" y="2103120"/>
            <a:ext cx="3566160" cy="1463040"/>
          </a:xfrm>
          <a:prstGeom prst="rect">
            <a:avLst/>
          </a:prstGeom>
          <a:noFill/>
          <a:ln/>
        </p:spPr>
        <p:txBody>
          <a:bodyPr wrap="square" lIns="0" tIns="0" rIns="0" bIns="0" rtlCol="0" anchor="t"/>
          <a:lstStyle/>
          <a:p>
            <a:pPr indent="0" marL="0">
              <a:buNone/>
            </a:pPr>
            <a:r>
              <a:rPr lang="en-US" sz="1400" dirty="0">
                <a:solidFill>
                  <a:schemeClr val="bg2"/>
                </a:solidFill>
              </a:rPr>
              <a:t>Even after the fixes we land around $73–82k a month, against a $61k budget. The gap is Project Atlas plus peak-season load, not waste.</a:t>
            </a:r>
            <a:endParaRPr lang="en-US" sz="1400" dirty="0"/>
          </a:p>
        </p:txBody>
      </p:sp>
      <p:sp>
        <p:nvSpPr>
          <p:cNvPr id="8" name="recommendation"/>
          <p:cNvSpPr/>
          <p:nvPr/>
        </p:nvSpPr>
        <p:spPr>
          <a:xfrm>
            <a:off x="7635240" y="3840480"/>
            <a:ext cx="3977640" cy="2194560"/>
          </a:xfrm>
          <a:prstGeom prst="roundRect">
            <a:avLst>
              <a:gd name="adj" fmla="val 3333"/>
            </a:avLst>
          </a:prstGeom>
          <a:solidFill>
            <a:schemeClr val="tx1"/>
          </a:solidFill>
          <a:ln/>
        </p:spPr>
      </p:sp>
      <p:sp>
        <p:nvSpPr>
          <p:cNvPr id="9" name="Text 6"/>
          <p:cNvSpPr txBox="1"/>
          <p:nvPr/>
        </p:nvSpPr>
        <p:spPr>
          <a:xfrm>
            <a:off x="7863840" y="4023360"/>
            <a:ext cx="3566160" cy="365760"/>
          </a:xfrm>
          <a:prstGeom prst="rect">
            <a:avLst/>
          </a:prstGeom>
          <a:noFill/>
          <a:ln/>
        </p:spPr>
        <p:txBody>
          <a:bodyPr wrap="square" lIns="0" tIns="0" rIns="0" bIns="0" rtlCol="0" anchor="t"/>
          <a:lstStyle/>
          <a:p>
            <a:pPr indent="0" marL="0">
              <a:buNone/>
            </a:pPr>
            <a:r>
              <a:rPr lang="en-US" sz="1700" b="1" dirty="0">
                <a:solidFill>
                  <a:schemeClr val="accent3"/>
                </a:solidFill>
              </a:rPr>
              <a:t>Recommendation</a:t>
            </a:r>
            <a:endParaRPr lang="en-US" sz="1700" dirty="0"/>
          </a:p>
        </p:txBody>
      </p:sp>
      <p:sp>
        <p:nvSpPr>
          <p:cNvPr id="10" name="Text 7"/>
          <p:cNvSpPr txBox="1"/>
          <p:nvPr/>
        </p:nvSpPr>
        <p:spPr>
          <a:xfrm>
            <a:off x="7863840" y="4434840"/>
            <a:ext cx="3566160" cy="1508760"/>
          </a:xfrm>
          <a:prstGeom prst="rect">
            <a:avLst/>
          </a:prstGeom>
          <a:noFill/>
          <a:ln/>
        </p:spPr>
        <p:txBody>
          <a:bodyPr wrap="square" lIns="0" tIns="0" rIns="0" bIns="0" rtlCol="0" anchor="t"/>
          <a:lstStyle/>
          <a:p>
            <a:pPr indent="0" marL="0">
              <a:buNone/>
            </a:pPr>
            <a:r>
              <a:rPr lang="en-US" sz="1400" dirty="0">
                <a:solidFill>
                  <a:schemeClr val="bg2"/>
                </a:solidFill>
              </a:rPr>
              <a:t>Fix the waste now, and ask the board for a Q4 revision of about +$15k a month, justified by Atlas's 76× return. That's a growth story, not a cost overrun.</a:t>
            </a:r>
            <a:endParaRPr lang="en-US" sz="1400" dirty="0"/>
          </a:p>
        </p:txBody>
      </p:sp>
      <p:sp>
        <p:nvSpPr>
          <p:cNvPr id="25" name="Slide Number Placeholder 0"/>
          <p:cNvSpPr>
            <a:spLocks noGrp="1"/>
          </p:cNvSpPr>
          <p:nvPr>
            <p:ph type="sldNum" sz="quarter" idx="4294967295"/>
          </p:nvPr>
        </p:nvSpPr>
        <p:spPr>
          <a:xfrm>
            <a:off x="11247120" y="63276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HOW IT STAYS FIXED</a:t>
            </a:r>
            <a:endParaRPr lang="en-US" sz="1200" dirty="0"/>
          </a:p>
        </p:txBody>
      </p:sp>
      <p:sp>
        <p:nvSpPr>
          <p:cNvPr id="3" name="Text 1"/>
          <p:cNvSpPr/>
          <p:nvPr>
            <p:ph idx="103"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000" b="1" dirty="0">
                <a:solidFill>
                  <a:schemeClr val="bg2"/>
                </a:solidFill>
              </a:rPr>
              <a:t>Guardrails, not gates</a:t>
            </a:r>
            <a:endParaRPr lang="en-US" sz="3000" dirty="0"/>
          </a:p>
        </p:txBody>
      </p:sp>
      <p:sp>
        <p:nvSpPr>
          <p:cNvPr id="4" name="control 1"/>
          <p:cNvSpPr/>
          <p:nvPr/>
        </p:nvSpPr>
        <p:spPr>
          <a:xfrm>
            <a:off x="548640" y="1554480"/>
            <a:ext cx="3520440" cy="2057400"/>
          </a:xfrm>
          <a:prstGeom prst="roundRect">
            <a:avLst>
              <a:gd name="adj" fmla="val 3556"/>
            </a:avLst>
          </a:prstGeom>
          <a:solidFill>
            <a:schemeClr val="accent6"/>
          </a:solidFill>
          <a:ln/>
        </p:spPr>
      </p:sp>
      <p:sp>
        <p:nvSpPr>
          <p:cNvPr id="5" name="Shape 3"/>
          <p:cNvSpPr/>
          <p:nvPr/>
        </p:nvSpPr>
        <p:spPr>
          <a:xfrm>
            <a:off x="777240" y="1783080"/>
            <a:ext cx="594360" cy="59436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925830" y="1931670"/>
            <a:ext cx="297180" cy="297180"/>
          </a:xfrm>
          <a:prstGeom prst="rect">
            <a:avLst/>
          </a:prstGeom>
        </p:spPr>
      </p:pic>
      <p:sp>
        <p:nvSpPr>
          <p:cNvPr id="7" name="Text 4"/>
          <p:cNvSpPr txBox="1"/>
          <p:nvPr/>
        </p:nvSpPr>
        <p:spPr>
          <a:xfrm>
            <a:off x="1554480" y="1901952"/>
            <a:ext cx="2377440" cy="365760"/>
          </a:xfrm>
          <a:prstGeom prst="rect">
            <a:avLst/>
          </a:prstGeom>
          <a:noFill/>
          <a:ln/>
        </p:spPr>
        <p:txBody>
          <a:bodyPr wrap="square" lIns="0" tIns="0" rIns="0" bIns="0" rtlCol="0" anchor="t"/>
          <a:lstStyle/>
          <a:p>
            <a:pPr indent="0" marL="0">
              <a:buNone/>
            </a:pPr>
            <a:r>
              <a:rPr lang="en-US" sz="1600" b="1" dirty="0">
                <a:solidFill>
                  <a:schemeClr val="bg2"/>
                </a:solidFill>
              </a:rPr>
              <a:t>Compute policies</a:t>
            </a:r>
            <a:endParaRPr lang="en-US" sz="1600" dirty="0"/>
          </a:p>
        </p:txBody>
      </p:sp>
      <p:sp>
        <p:nvSpPr>
          <p:cNvPr id="8" name="Text 5"/>
          <p:cNvSpPr txBox="1"/>
          <p:nvPr/>
        </p:nvSpPr>
        <p:spPr>
          <a:xfrm>
            <a:off x="777240" y="2514600"/>
            <a:ext cx="3108960" cy="1005840"/>
          </a:xfrm>
          <a:prstGeom prst="rect">
            <a:avLst/>
          </a:prstGeom>
          <a:noFill/>
          <a:ln/>
        </p:spPr>
        <p:txBody>
          <a:bodyPr wrap="square" lIns="0" tIns="0" rIns="0" bIns="0" rtlCol="0" anchor="t"/>
          <a:lstStyle/>
          <a:p>
            <a:pPr indent="0" marL="0">
              <a:buNone/>
            </a:pPr>
            <a:r>
              <a:rPr lang="en-US" sz="1300" dirty="0">
                <a:solidFill>
                  <a:schemeClr val="accent5"/>
                </a:solidFill>
              </a:rPr>
              <a:t>Sensible defaults: auto-termination, size caps, required tags. An exception path, so nobody is blocked at 2am.</a:t>
            </a:r>
            <a:endParaRPr lang="en-US" sz="1300" dirty="0"/>
          </a:p>
        </p:txBody>
      </p:sp>
      <p:sp>
        <p:nvSpPr>
          <p:cNvPr id="9" name="control 2"/>
          <p:cNvSpPr/>
          <p:nvPr/>
        </p:nvSpPr>
        <p:spPr>
          <a:xfrm>
            <a:off x="4297680" y="1554480"/>
            <a:ext cx="3520440" cy="2057400"/>
          </a:xfrm>
          <a:prstGeom prst="roundRect">
            <a:avLst>
              <a:gd name="adj" fmla="val 3556"/>
            </a:avLst>
          </a:prstGeom>
          <a:solidFill>
            <a:schemeClr val="accent6"/>
          </a:solidFill>
          <a:ln/>
        </p:spPr>
      </p:sp>
      <p:sp>
        <p:nvSpPr>
          <p:cNvPr id="10" name="Shape 7"/>
          <p:cNvSpPr/>
          <p:nvPr/>
        </p:nvSpPr>
        <p:spPr>
          <a:xfrm>
            <a:off x="4526280" y="1783080"/>
            <a:ext cx="594360" cy="59436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4674870" y="1931670"/>
            <a:ext cx="297180" cy="297180"/>
          </a:xfrm>
          <a:prstGeom prst="rect">
            <a:avLst/>
          </a:prstGeom>
        </p:spPr>
      </p:pic>
      <p:sp>
        <p:nvSpPr>
          <p:cNvPr id="12" name="Text 8"/>
          <p:cNvSpPr txBox="1"/>
          <p:nvPr/>
        </p:nvSpPr>
        <p:spPr>
          <a:xfrm>
            <a:off x="5303520" y="1901952"/>
            <a:ext cx="2377440" cy="365760"/>
          </a:xfrm>
          <a:prstGeom prst="rect">
            <a:avLst/>
          </a:prstGeom>
          <a:noFill/>
          <a:ln/>
        </p:spPr>
        <p:txBody>
          <a:bodyPr wrap="square" lIns="0" tIns="0" rIns="0" bIns="0" rtlCol="0" anchor="t"/>
          <a:lstStyle/>
          <a:p>
            <a:pPr indent="0" marL="0">
              <a:buNone/>
            </a:pPr>
            <a:r>
              <a:rPr lang="en-US" sz="1600" b="1" dirty="0">
                <a:solidFill>
                  <a:schemeClr val="bg2"/>
                </a:solidFill>
              </a:rPr>
              <a:t>Budget policies and tags</a:t>
            </a:r>
            <a:endParaRPr lang="en-US" sz="1600" dirty="0"/>
          </a:p>
        </p:txBody>
      </p:sp>
      <p:sp>
        <p:nvSpPr>
          <p:cNvPr id="13" name="Text 9"/>
          <p:cNvSpPr txBox="1"/>
          <p:nvPr/>
        </p:nvSpPr>
        <p:spPr>
          <a:xfrm>
            <a:off x="4526280" y="2514600"/>
            <a:ext cx="3108960" cy="1005840"/>
          </a:xfrm>
          <a:prstGeom prst="rect">
            <a:avLst/>
          </a:prstGeom>
          <a:noFill/>
          <a:ln/>
        </p:spPr>
        <p:txBody>
          <a:bodyPr wrap="square" lIns="0" tIns="0" rIns="0" bIns="0" rtlCol="0" anchor="t"/>
          <a:lstStyle/>
          <a:p>
            <a:pPr indent="0" marL="0">
              <a:buNone/>
            </a:pPr>
            <a:r>
              <a:rPr lang="en-US" sz="1300" dirty="0">
                <a:solidFill>
                  <a:schemeClr val="accent5"/>
                </a:solidFill>
              </a:rPr>
              <a:t>Every serverless and classic dollar lands on a cost center. Chargeback becomes possible.</a:t>
            </a:r>
            <a:endParaRPr lang="en-US" sz="1300" dirty="0"/>
          </a:p>
        </p:txBody>
      </p:sp>
      <p:sp>
        <p:nvSpPr>
          <p:cNvPr id="14" name="control 3"/>
          <p:cNvSpPr/>
          <p:nvPr/>
        </p:nvSpPr>
        <p:spPr>
          <a:xfrm>
            <a:off x="8046720" y="1554480"/>
            <a:ext cx="3520440" cy="2057400"/>
          </a:xfrm>
          <a:prstGeom prst="roundRect">
            <a:avLst>
              <a:gd name="adj" fmla="val 3556"/>
            </a:avLst>
          </a:prstGeom>
          <a:solidFill>
            <a:schemeClr val="accent6"/>
          </a:solidFill>
          <a:ln/>
        </p:spPr>
      </p:sp>
      <p:sp>
        <p:nvSpPr>
          <p:cNvPr id="15" name="Shape 11"/>
          <p:cNvSpPr/>
          <p:nvPr/>
        </p:nvSpPr>
        <p:spPr>
          <a:xfrm>
            <a:off x="8275320" y="1783080"/>
            <a:ext cx="594360" cy="594360"/>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8423910" y="1931670"/>
            <a:ext cx="297180" cy="297180"/>
          </a:xfrm>
          <a:prstGeom prst="rect">
            <a:avLst/>
          </a:prstGeom>
        </p:spPr>
      </p:pic>
      <p:sp>
        <p:nvSpPr>
          <p:cNvPr id="17" name="Text 12"/>
          <p:cNvSpPr txBox="1"/>
          <p:nvPr/>
        </p:nvSpPr>
        <p:spPr>
          <a:xfrm>
            <a:off x="9052560" y="1901952"/>
            <a:ext cx="2377440" cy="365760"/>
          </a:xfrm>
          <a:prstGeom prst="rect">
            <a:avLst/>
          </a:prstGeom>
          <a:noFill/>
          <a:ln/>
        </p:spPr>
        <p:txBody>
          <a:bodyPr wrap="square" lIns="0" tIns="0" rIns="0" bIns="0" rtlCol="0" anchor="t"/>
          <a:lstStyle/>
          <a:p>
            <a:pPr indent="0" marL="0">
              <a:buNone/>
            </a:pPr>
            <a:r>
              <a:rPr lang="en-US" sz="1600" b="1" dirty="0">
                <a:solidFill>
                  <a:schemeClr val="bg2"/>
                </a:solidFill>
              </a:rPr>
              <a:t>Budgets and alerts</a:t>
            </a:r>
            <a:endParaRPr lang="en-US" sz="1600" dirty="0"/>
          </a:p>
        </p:txBody>
      </p:sp>
      <p:sp>
        <p:nvSpPr>
          <p:cNvPr id="18" name="Text 13"/>
          <p:cNvSpPr txBox="1"/>
          <p:nvPr/>
        </p:nvSpPr>
        <p:spPr>
          <a:xfrm>
            <a:off x="8275320" y="2514600"/>
            <a:ext cx="3108960" cy="1005840"/>
          </a:xfrm>
          <a:prstGeom prst="rect">
            <a:avLst/>
          </a:prstGeom>
          <a:noFill/>
          <a:ln/>
        </p:spPr>
        <p:txBody>
          <a:bodyPr wrap="square" lIns="0" tIns="0" rIns="0" bIns="0" rtlCol="0" anchor="t"/>
          <a:lstStyle/>
          <a:p>
            <a:pPr indent="0" marL="0">
              <a:buNone/>
            </a:pPr>
            <a:r>
              <a:rPr lang="en-US" sz="1300" dirty="0">
                <a:solidFill>
                  <a:schemeClr val="accent5"/>
                </a:solidFill>
              </a:rPr>
              <a:t>Alerts per cost center at 80% and 100%. Surprises surface in days, not on the invoice.</a:t>
            </a:r>
            <a:endParaRPr lang="en-US" sz="1300" dirty="0"/>
          </a:p>
        </p:txBody>
      </p:sp>
      <p:sp>
        <p:nvSpPr>
          <p:cNvPr id="19" name="control 4"/>
          <p:cNvSpPr/>
          <p:nvPr/>
        </p:nvSpPr>
        <p:spPr>
          <a:xfrm>
            <a:off x="548640" y="3840480"/>
            <a:ext cx="3520440" cy="2057400"/>
          </a:xfrm>
          <a:prstGeom prst="roundRect">
            <a:avLst>
              <a:gd name="adj" fmla="val 3556"/>
            </a:avLst>
          </a:prstGeom>
          <a:solidFill>
            <a:schemeClr val="accent6"/>
          </a:solidFill>
          <a:ln/>
        </p:spPr>
      </p:sp>
      <p:sp>
        <p:nvSpPr>
          <p:cNvPr id="20" name="Shape 15"/>
          <p:cNvSpPr/>
          <p:nvPr/>
        </p:nvSpPr>
        <p:spPr>
          <a:xfrm>
            <a:off x="777240" y="4069080"/>
            <a:ext cx="594360" cy="594360"/>
          </a:xfrm>
          <a:prstGeom prst="ellipse">
            <a:avLst/>
          </a:prstGeom>
          <a:solidFill>
            <a:schemeClr val="accent4"/>
          </a:solidFill>
          <a:ln/>
        </p:spPr>
      </p:sp>
      <p:pic>
        <p:nvPicPr>
          <p:cNvPr id="21" name="Image 3" descr="preencoded.png">    </p:cNvPr>
          <p:cNvPicPr>
            <a:picLocks noChangeAspect="1"/>
          </p:cNvPicPr>
          <p:nvPr/>
        </p:nvPicPr>
        <p:blipFill>
          <a:blip r:embed="rId4"/>
          <a:stretch>
            <a:fillRect/>
          </a:stretch>
        </p:blipFill>
        <p:spPr>
          <a:xfrm>
            <a:off x="925830" y="4217670"/>
            <a:ext cx="297180" cy="297180"/>
          </a:xfrm>
          <a:prstGeom prst="rect">
            <a:avLst/>
          </a:prstGeom>
        </p:spPr>
      </p:pic>
      <p:sp>
        <p:nvSpPr>
          <p:cNvPr id="22" name="Text 16"/>
          <p:cNvSpPr txBox="1"/>
          <p:nvPr/>
        </p:nvSpPr>
        <p:spPr>
          <a:xfrm>
            <a:off x="1554480" y="4187952"/>
            <a:ext cx="2377440" cy="365760"/>
          </a:xfrm>
          <a:prstGeom prst="rect">
            <a:avLst/>
          </a:prstGeom>
          <a:noFill/>
          <a:ln/>
        </p:spPr>
        <p:txBody>
          <a:bodyPr wrap="square" lIns="0" tIns="0" rIns="0" bIns="0" rtlCol="0" anchor="t"/>
          <a:lstStyle/>
          <a:p>
            <a:pPr indent="0" marL="0">
              <a:buNone/>
            </a:pPr>
            <a:r>
              <a:rPr lang="en-US" sz="1600" b="1" dirty="0">
                <a:solidFill>
                  <a:schemeClr val="bg2"/>
                </a:solidFill>
              </a:rPr>
              <a:t>System tables dashboard</a:t>
            </a:r>
            <a:endParaRPr lang="en-US" sz="1600" dirty="0"/>
          </a:p>
        </p:txBody>
      </p:sp>
      <p:sp>
        <p:nvSpPr>
          <p:cNvPr id="23" name="Text 17"/>
          <p:cNvSpPr txBox="1"/>
          <p:nvPr/>
        </p:nvSpPr>
        <p:spPr>
          <a:xfrm>
            <a:off x="777240" y="4800600"/>
            <a:ext cx="3108960" cy="1005840"/>
          </a:xfrm>
          <a:prstGeom prst="rect">
            <a:avLst/>
          </a:prstGeom>
          <a:noFill/>
          <a:ln/>
        </p:spPr>
        <p:txBody>
          <a:bodyPr wrap="square" lIns="0" tIns="0" rIns="0" bIns="0" rtlCol="0" anchor="t"/>
          <a:lstStyle/>
          <a:p>
            <a:pPr indent="0" marL="0">
              <a:buNone/>
            </a:pPr>
            <a:r>
              <a:rPr lang="en-US" sz="1300" dirty="0">
                <a:solidFill>
                  <a:schemeClr val="accent5"/>
                </a:solidFill>
              </a:rPr>
              <a:t>This prototype, refreshed daily from system tables and owned by the platform team.</a:t>
            </a:r>
            <a:endParaRPr lang="en-US" sz="1300" dirty="0"/>
          </a:p>
        </p:txBody>
      </p:sp>
      <p:sp>
        <p:nvSpPr>
          <p:cNvPr id="24" name="control 5"/>
          <p:cNvSpPr/>
          <p:nvPr/>
        </p:nvSpPr>
        <p:spPr>
          <a:xfrm>
            <a:off x="4297680" y="3840480"/>
            <a:ext cx="3520440" cy="2057400"/>
          </a:xfrm>
          <a:prstGeom prst="roundRect">
            <a:avLst>
              <a:gd name="adj" fmla="val 3556"/>
            </a:avLst>
          </a:prstGeom>
          <a:solidFill>
            <a:schemeClr val="accent6"/>
          </a:solidFill>
          <a:ln/>
        </p:spPr>
      </p:sp>
      <p:sp>
        <p:nvSpPr>
          <p:cNvPr id="25" name="Shape 19"/>
          <p:cNvSpPr/>
          <p:nvPr/>
        </p:nvSpPr>
        <p:spPr>
          <a:xfrm>
            <a:off x="4526280" y="4069080"/>
            <a:ext cx="594360" cy="594360"/>
          </a:xfrm>
          <a:prstGeom prst="ellipse">
            <a:avLst/>
          </a:prstGeom>
          <a:solidFill>
            <a:schemeClr val="accent4"/>
          </a:solidFill>
          <a:ln/>
        </p:spPr>
      </p:sp>
      <p:pic>
        <p:nvPicPr>
          <p:cNvPr id="26" name="Image 4" descr="preencoded.png">    </p:cNvPr>
          <p:cNvPicPr>
            <a:picLocks noChangeAspect="1"/>
          </p:cNvPicPr>
          <p:nvPr/>
        </p:nvPicPr>
        <p:blipFill>
          <a:blip r:embed="rId5"/>
          <a:stretch>
            <a:fillRect/>
          </a:stretch>
        </p:blipFill>
        <p:spPr>
          <a:xfrm>
            <a:off x="4674870" y="4217670"/>
            <a:ext cx="297180" cy="297180"/>
          </a:xfrm>
          <a:prstGeom prst="rect">
            <a:avLst/>
          </a:prstGeom>
        </p:spPr>
      </p:pic>
      <p:sp>
        <p:nvSpPr>
          <p:cNvPr id="27" name="Text 20"/>
          <p:cNvSpPr txBox="1"/>
          <p:nvPr/>
        </p:nvSpPr>
        <p:spPr>
          <a:xfrm>
            <a:off x="5303520" y="4187952"/>
            <a:ext cx="2377440" cy="365760"/>
          </a:xfrm>
          <a:prstGeom prst="rect">
            <a:avLst/>
          </a:prstGeom>
          <a:noFill/>
          <a:ln/>
        </p:spPr>
        <p:txBody>
          <a:bodyPr wrap="square" lIns="0" tIns="0" rIns="0" bIns="0" rtlCol="0" anchor="t"/>
          <a:lstStyle/>
          <a:p>
            <a:pPr indent="0" marL="0">
              <a:buNone/>
            </a:pPr>
            <a:r>
              <a:rPr lang="en-US" sz="1600" b="1" dirty="0">
                <a:solidFill>
                  <a:schemeClr val="bg2"/>
                </a:solidFill>
              </a:rPr>
              <a:t>Governance as code</a:t>
            </a:r>
            <a:endParaRPr lang="en-US" sz="1600" dirty="0"/>
          </a:p>
        </p:txBody>
      </p:sp>
      <p:sp>
        <p:nvSpPr>
          <p:cNvPr id="28" name="Text 21"/>
          <p:cNvSpPr txBox="1"/>
          <p:nvPr/>
        </p:nvSpPr>
        <p:spPr>
          <a:xfrm>
            <a:off x="4526280" y="4800600"/>
            <a:ext cx="3108960" cy="1005840"/>
          </a:xfrm>
          <a:prstGeom prst="rect">
            <a:avLst/>
          </a:prstGeom>
          <a:noFill/>
          <a:ln/>
        </p:spPr>
        <p:txBody>
          <a:bodyPr wrap="square" lIns="0" tIns="0" rIns="0" bIns="0" rtlCol="0" anchor="t"/>
          <a:lstStyle/>
          <a:p>
            <a:pPr indent="0" marL="0">
              <a:buNone/>
            </a:pPr>
            <a:r>
              <a:rPr lang="en-US" sz="1300" dirty="0">
                <a:solidFill>
                  <a:schemeClr val="accent5"/>
                </a:solidFill>
              </a:rPr>
              <a:t>Policies, jobs and dashboards in a bundle, PR-reviewed and deployed by CI to every workspace, including EU.</a:t>
            </a:r>
            <a:endParaRPr lang="en-US" sz="1300" dirty="0"/>
          </a:p>
        </p:txBody>
      </p:sp>
      <p:sp>
        <p:nvSpPr>
          <p:cNvPr id="29" name="control 6"/>
          <p:cNvSpPr/>
          <p:nvPr/>
        </p:nvSpPr>
        <p:spPr>
          <a:xfrm>
            <a:off x="8046720" y="3840480"/>
            <a:ext cx="3520440" cy="2057400"/>
          </a:xfrm>
          <a:prstGeom prst="roundRect">
            <a:avLst>
              <a:gd name="adj" fmla="val 3556"/>
            </a:avLst>
          </a:prstGeom>
          <a:solidFill>
            <a:schemeClr val="accent6"/>
          </a:solidFill>
          <a:ln/>
        </p:spPr>
      </p:sp>
      <p:sp>
        <p:nvSpPr>
          <p:cNvPr id="30" name="Shape 23"/>
          <p:cNvSpPr/>
          <p:nvPr/>
        </p:nvSpPr>
        <p:spPr>
          <a:xfrm>
            <a:off x="8275320" y="4069080"/>
            <a:ext cx="594360" cy="594360"/>
          </a:xfrm>
          <a:prstGeom prst="ellipse">
            <a:avLst/>
          </a:prstGeom>
          <a:solidFill>
            <a:schemeClr val="accent4"/>
          </a:solidFill>
          <a:ln/>
        </p:spPr>
      </p:sp>
      <p:pic>
        <p:nvPicPr>
          <p:cNvPr id="31" name="Image 5" descr="preencoded.png">    </p:cNvPr>
          <p:cNvPicPr>
            <a:picLocks noChangeAspect="1"/>
          </p:cNvPicPr>
          <p:nvPr/>
        </p:nvPicPr>
        <p:blipFill>
          <a:blip r:embed="rId6"/>
          <a:stretch>
            <a:fillRect/>
          </a:stretch>
        </p:blipFill>
        <p:spPr>
          <a:xfrm>
            <a:off x="8423910" y="4217670"/>
            <a:ext cx="297180" cy="297180"/>
          </a:xfrm>
          <a:prstGeom prst="rect">
            <a:avLst/>
          </a:prstGeom>
        </p:spPr>
      </p:pic>
      <p:sp>
        <p:nvSpPr>
          <p:cNvPr id="32" name="Text 24"/>
          <p:cNvSpPr txBox="1"/>
          <p:nvPr/>
        </p:nvSpPr>
        <p:spPr>
          <a:xfrm>
            <a:off x="9052560" y="4187952"/>
            <a:ext cx="2377440" cy="365760"/>
          </a:xfrm>
          <a:prstGeom prst="rect">
            <a:avLst/>
          </a:prstGeom>
          <a:noFill/>
          <a:ln/>
        </p:spPr>
        <p:txBody>
          <a:bodyPr wrap="square" lIns="0" tIns="0" rIns="0" bIns="0" rtlCol="0" anchor="t"/>
          <a:lstStyle/>
          <a:p>
            <a:pPr indent="0" marL="0">
              <a:buNone/>
            </a:pPr>
            <a:r>
              <a:rPr lang="en-US" sz="1600" b="1" dirty="0">
                <a:solidFill>
                  <a:schemeClr val="bg2"/>
                </a:solidFill>
              </a:rPr>
              <a:t>Monthly FinOps review</a:t>
            </a:r>
            <a:endParaRPr lang="en-US" sz="1600" dirty="0"/>
          </a:p>
        </p:txBody>
      </p:sp>
      <p:sp>
        <p:nvSpPr>
          <p:cNvPr id="33" name="Text 25"/>
          <p:cNvSpPr txBox="1"/>
          <p:nvPr/>
        </p:nvSpPr>
        <p:spPr>
          <a:xfrm>
            <a:off x="8275320" y="4800600"/>
            <a:ext cx="3108960" cy="1005840"/>
          </a:xfrm>
          <a:prstGeom prst="rect">
            <a:avLst/>
          </a:prstGeom>
          <a:noFill/>
          <a:ln/>
        </p:spPr>
        <p:txBody>
          <a:bodyPr wrap="square" lIns="0" tIns="0" rIns="0" bIns="0" rtlCol="0" anchor="t"/>
          <a:lstStyle/>
          <a:p>
            <a:pPr indent="0" marL="0">
              <a:buNone/>
            </a:pPr>
            <a:r>
              <a:rPr lang="en-US" sz="1300" dirty="0">
                <a:solidFill>
                  <a:schemeClr val="accent5"/>
                </a:solidFill>
              </a:rPr>
              <a:t>30 minutes with Finance, Platform and Eng leads. Review the top movers and agree actions.</a:t>
            </a:r>
            <a:endParaRPr lang="en-US" sz="1300" dirty="0"/>
          </a:p>
        </p:txBody>
      </p:sp>
      <p:sp>
        <p:nvSpPr>
          <p:cNvPr id="25" name="Slide Number Placeholder 0"/>
          <p:cNvSpPr>
            <a:spLocks noGrp="1"/>
          </p:cNvSpPr>
          <p:nvPr>
            <p:ph type="sldNum" sz="quarter" idx="4294967295"/>
          </p:nvPr>
        </p:nvSpPr>
        <p:spPr>
          <a:xfrm>
            <a:off x="11247120" y="63276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MUTUAL ACTION PLAN</a:t>
            </a:r>
            <a:endParaRPr lang="en-US" sz="1200" dirty="0"/>
          </a:p>
        </p:txBody>
      </p:sp>
      <p:sp>
        <p:nvSpPr>
          <p:cNvPr id="3" name="Text 1"/>
          <p:cNvSpPr/>
          <p:nvPr>
            <p:ph idx="103"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000" b="1" dirty="0">
                <a:solidFill>
                  <a:schemeClr val="bg2"/>
                </a:solidFill>
              </a:rPr>
              <a:t>What happens on Monday</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7223760" cy="914400"/>
        </p:xfrm>
        <a:graphic>
          <a:graphicData uri="http://schemas.openxmlformats.org/drawingml/2006/table">
            <a:tbl>
              <a:tblPr/>
              <a:tblGrid>
                <a:gridCol w="3749040"/>
                <a:gridCol w="2011680"/>
                <a:gridCol w="1463040"/>
              </a:tblGrid>
              <a:tr h="530352">
                <a:tc>
                  <a:txBody>
                    <a:bodyPr/>
                    <a:lstStyle/>
                    <a:p>
                      <a:pPr indent="0" marL="0">
                        <a:buNone/>
                      </a:pPr>
                      <a:r>
                        <a:rPr lang="en-US" sz="1300" b="1" dirty="0">
                          <a:solidFill>
                            <a:srgbClr val="F2EEEC"/>
                          </a:solidFill>
                          <a:latin typeface="Calibri" pitchFamily="34" charset="0"/>
                          <a:ea typeface="Calibri" pitchFamily="34" charset="-122"/>
                          <a:cs typeface="Calibri" pitchFamily="34" charset="-120"/>
                        </a:rPr>
                        <a:t>Action</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0B1D21"/>
                    </a:solidFill>
                  </a:tcPr>
                </a:tc>
                <a:tc>
                  <a:txBody>
                    <a:bodyPr/>
                    <a:lstStyle/>
                    <a:p>
                      <a:pPr indent="0" marL="0">
                        <a:buNone/>
                      </a:pPr>
                      <a:r>
                        <a:rPr lang="en-US" sz="1300" b="1" dirty="0">
                          <a:solidFill>
                            <a:srgbClr val="F2EEEC"/>
                          </a:solidFill>
                          <a:latin typeface="Calibri" pitchFamily="34" charset="0"/>
                          <a:ea typeface="Calibri" pitchFamily="34" charset="-122"/>
                          <a:cs typeface="Calibri" pitchFamily="34" charset="-120"/>
                        </a:rPr>
                        <a:t>Owner</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0B1D21"/>
                    </a:solidFill>
                  </a:tcPr>
                </a:tc>
                <a:tc>
                  <a:txBody>
                    <a:bodyPr/>
                    <a:lstStyle/>
                    <a:p>
                      <a:pPr indent="0" marL="0">
                        <a:buNone/>
                      </a:pPr>
                      <a:r>
                        <a:rPr lang="en-US" sz="1300" b="1" dirty="0">
                          <a:solidFill>
                            <a:srgbClr val="F2EEEC"/>
                          </a:solidFill>
                          <a:latin typeface="Calibri" pitchFamily="34" charset="0"/>
                          <a:ea typeface="Calibri" pitchFamily="34" charset="-122"/>
                          <a:cs typeface="Calibri" pitchFamily="34" charset="-120"/>
                        </a:rPr>
                        <a:t>By</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0B1D21"/>
                    </a:solidFill>
                  </a:tcPr>
                </a:tc>
              </a:tr>
              <a:tr h="530352">
                <a:tc>
                  <a:txBody>
                    <a:bodyPr/>
                    <a:lstStyle/>
                    <a:p>
                      <a:pPr indent="0" marL="0">
                        <a:buNone/>
                      </a:pPr>
                      <a:r>
                        <a:rPr lang="en-US" sz="1300" dirty="0">
                          <a:solidFill>
                            <a:srgbClr val="F2EEEC"/>
                          </a:solidFill>
                          <a:latin typeface="Calibri" pitchFamily="34" charset="0"/>
                          <a:ea typeface="Calibri" pitchFamily="34" charset="-122"/>
                          <a:cs typeface="Calibri" pitchFamily="34" charset="-120"/>
                        </a:rPr>
                        <a:t>Confirm Stratus SOW status, revoke access, stop resources</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indent="0" marL="0">
                        <a:buNone/>
                      </a:pPr>
                      <a:r>
                        <a:rPr lang="en-US" sz="1300" dirty="0">
                          <a:solidFill>
                            <a:srgbClr val="F2EEEC"/>
                          </a:solidFill>
                          <a:latin typeface="Calibri" pitchFamily="34" charset="0"/>
                          <a:ea typeface="Calibri" pitchFamily="34" charset="-122"/>
                          <a:cs typeface="Calibri" pitchFamily="34" charset="-120"/>
                        </a:rPr>
                        <a:t>David (Platform)</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indent="0" marL="0">
                        <a:buNone/>
                      </a:pPr>
                      <a:r>
                        <a:rPr lang="en-US" sz="1300" b="1" dirty="0">
                          <a:solidFill>
                            <a:srgbClr val="FF3621"/>
                          </a:solidFill>
                          <a:latin typeface="Calibri" pitchFamily="34" charset="0"/>
                          <a:ea typeface="Calibri" pitchFamily="34" charset="-122"/>
                          <a:cs typeface="Calibri" pitchFamily="34" charset="-120"/>
                        </a:rPr>
                        <a:t>Mon Oct 19</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r>
              <a:tr h="530352">
                <a:tc>
                  <a:txBody>
                    <a:bodyPr/>
                    <a:lstStyle/>
                    <a:p>
                      <a:pPr indent="0" marL="0">
                        <a:buNone/>
                      </a:pPr>
                      <a:r>
                        <a:rPr lang="en-US" sz="1300" dirty="0">
                          <a:solidFill>
                            <a:srgbClr val="F2EEEC"/>
                          </a:solidFill>
                          <a:latin typeface="Calibri" pitchFamily="34" charset="0"/>
                          <a:ea typeface="Calibri" pitchFamily="34" charset="-122"/>
                          <a:cs typeface="Calibri" pitchFamily="34" charset="-120"/>
                        </a:rPr>
                        <a:t>Approve and apply the phase 1 configuration fixes</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indent="0" marL="0">
                        <a:buNone/>
                      </a:pPr>
                      <a:r>
                        <a:rPr lang="en-US" sz="1300" dirty="0">
                          <a:solidFill>
                            <a:srgbClr val="F2EEEC"/>
                          </a:solidFill>
                          <a:latin typeface="Calibri" pitchFamily="34" charset="0"/>
                          <a:ea typeface="Calibri" pitchFamily="34" charset="-122"/>
                          <a:cs typeface="Calibri" pitchFamily="34" charset="-120"/>
                        </a:rPr>
                        <a:t>David + Sarah</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indent="0" marL="0">
                        <a:buNone/>
                      </a:pPr>
                      <a:r>
                        <a:rPr lang="en-US" sz="1300" b="1" dirty="0">
                          <a:solidFill>
                            <a:srgbClr val="FF3621"/>
                          </a:solidFill>
                          <a:latin typeface="Calibri" pitchFamily="34" charset="0"/>
                          <a:ea typeface="Calibri" pitchFamily="34" charset="-122"/>
                          <a:cs typeface="Calibri" pitchFamily="34" charset="-120"/>
                        </a:rPr>
                        <a:t>Tue Oct 20</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r>
              <a:tr h="530352">
                <a:tc>
                  <a:txBody>
                    <a:bodyPr/>
                    <a:lstStyle/>
                    <a:p>
                      <a:pPr indent="0" marL="0">
                        <a:buNone/>
                      </a:pPr>
                      <a:r>
                        <a:rPr lang="en-US" sz="1300" dirty="0">
                          <a:solidFill>
                            <a:srgbClr val="F2EEEC"/>
                          </a:solidFill>
                          <a:latin typeface="Calibri" pitchFamily="34" charset="0"/>
                          <a:ea typeface="Calibri" pitchFamily="34" charset="-122"/>
                          <a:cs typeface="Calibri" pitchFamily="34" charset="-120"/>
                        </a:rPr>
                        <a:t>Agree the executive dashboard refresh cadence</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indent="0" marL="0">
                        <a:buNone/>
                      </a:pPr>
                      <a:r>
                        <a:rPr lang="en-US" sz="1300" dirty="0">
                          <a:solidFill>
                            <a:srgbClr val="F2EEEC"/>
                          </a:solidFill>
                          <a:latin typeface="Calibri" pitchFamily="34" charset="0"/>
                          <a:ea typeface="Calibri" pitchFamily="34" charset="-122"/>
                          <a:cs typeface="Calibri" pitchFamily="34" charset="-120"/>
                        </a:rPr>
                        <a:t>Michelle + Finance BI</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indent="0" marL="0">
                        <a:buNone/>
                      </a:pPr>
                      <a:r>
                        <a:rPr lang="en-US" sz="1300" b="1" dirty="0">
                          <a:solidFill>
                            <a:srgbClr val="FF3621"/>
                          </a:solidFill>
                          <a:latin typeface="Calibri" pitchFamily="34" charset="0"/>
                          <a:ea typeface="Calibri" pitchFamily="34" charset="-122"/>
                          <a:cs typeface="Calibri" pitchFamily="34" charset="-120"/>
                        </a:rPr>
                        <a:t>Tue Oct 20</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r>
              <a:tr h="530352">
                <a:tc>
                  <a:txBody>
                    <a:bodyPr/>
                    <a:lstStyle/>
                    <a:p>
                      <a:pPr indent="0" marL="0">
                        <a:buNone/>
                      </a:pPr>
                      <a:r>
                        <a:rPr lang="en-US" sz="1300" dirty="0">
                          <a:solidFill>
                            <a:srgbClr val="F2EEEC"/>
                          </a:solidFill>
                          <a:latin typeface="Calibri" pitchFamily="34" charset="0"/>
                          <a:ea typeface="Calibri" pitchFamily="34" charset="-122"/>
                          <a:cs typeface="Calibri" pitchFamily="34" charset="-120"/>
                        </a:rPr>
                        <a:t>Review the dev compute policy with eng leads</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indent="0" marL="0">
                        <a:buNone/>
                      </a:pPr>
                      <a:r>
                        <a:rPr lang="en-US" sz="1300" dirty="0">
                          <a:solidFill>
                            <a:srgbClr val="F2EEEC"/>
                          </a:solidFill>
                          <a:latin typeface="Calibri" pitchFamily="34" charset="0"/>
                          <a:ea typeface="Calibri" pitchFamily="34" charset="-122"/>
                          <a:cs typeface="Calibri" pitchFamily="34" charset="-120"/>
                        </a:rPr>
                        <a:t>Sarah + Databricks DSA</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indent="0" marL="0">
                        <a:buNone/>
                      </a:pPr>
                      <a:r>
                        <a:rPr lang="en-US" sz="1300" b="1" dirty="0">
                          <a:solidFill>
                            <a:srgbClr val="FF3621"/>
                          </a:solidFill>
                          <a:latin typeface="Calibri" pitchFamily="34" charset="0"/>
                          <a:ea typeface="Calibri" pitchFamily="34" charset="-122"/>
                          <a:cs typeface="Calibri" pitchFamily="34" charset="-120"/>
                        </a:rPr>
                        <a:t>Fri Oct 23</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r>
              <a:tr h="530352">
                <a:tc>
                  <a:txBody>
                    <a:bodyPr/>
                    <a:lstStyle/>
                    <a:p>
                      <a:pPr indent="0" marL="0">
                        <a:buNone/>
                      </a:pPr>
                      <a:r>
                        <a:rPr lang="en-US" sz="1300" dirty="0">
                          <a:solidFill>
                            <a:srgbClr val="F2EEEC"/>
                          </a:solidFill>
                          <a:latin typeface="Calibri" pitchFamily="34" charset="0"/>
                          <a:ea typeface="Calibri" pitchFamily="34" charset="-122"/>
                          <a:cs typeface="Calibri" pitchFamily="34" charset="-120"/>
                        </a:rPr>
                        <a:t>Budgets and alerts live for every cost center</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indent="0" marL="0">
                        <a:buNone/>
                      </a:pPr>
                      <a:r>
                        <a:rPr lang="en-US" sz="1300" dirty="0">
                          <a:solidFill>
                            <a:srgbClr val="F2EEEC"/>
                          </a:solidFill>
                          <a:latin typeface="Calibri" pitchFamily="34" charset="0"/>
                          <a:ea typeface="Calibri" pitchFamily="34" charset="-122"/>
                          <a:cs typeface="Calibri" pitchFamily="34" charset="-120"/>
                        </a:rPr>
                        <a:t>Platform + Databricks DSA</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indent="0" marL="0">
                        <a:buNone/>
                      </a:pPr>
                      <a:r>
                        <a:rPr lang="en-US" sz="1300" b="1" dirty="0">
                          <a:solidFill>
                            <a:srgbClr val="FF3621"/>
                          </a:solidFill>
                          <a:latin typeface="Calibri" pitchFamily="34" charset="0"/>
                          <a:ea typeface="Calibri" pitchFamily="34" charset="-122"/>
                          <a:cs typeface="Calibri" pitchFamily="34" charset="-120"/>
                        </a:rPr>
                        <a:t>Thu Oct 29</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r>
              <a:tr h="530352">
                <a:tc>
                  <a:txBody>
                    <a:bodyPr/>
                    <a:lstStyle/>
                    <a:p>
                      <a:pPr indent="0" marL="0">
                        <a:buNone/>
                      </a:pPr>
                      <a:r>
                        <a:rPr lang="en-US" sz="1300" dirty="0">
                          <a:solidFill>
                            <a:srgbClr val="F2EEEC"/>
                          </a:solidFill>
                          <a:latin typeface="Calibri" pitchFamily="34" charset="0"/>
                          <a:ea typeface="Calibri" pitchFamily="34" charset="-122"/>
                          <a:cs typeface="Calibri" pitchFamily="34" charset="-120"/>
                        </a:rPr>
                        <a:t>Board narrative and revised Q4 number</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indent="0" marL="0">
                        <a:buNone/>
                      </a:pPr>
                      <a:r>
                        <a:rPr lang="en-US" sz="1300" dirty="0">
                          <a:solidFill>
                            <a:srgbClr val="F2EEEC"/>
                          </a:solidFill>
                          <a:latin typeface="Calibri" pitchFamily="34" charset="0"/>
                          <a:ea typeface="Calibri" pitchFamily="34" charset="-122"/>
                          <a:cs typeface="Calibri" pitchFamily="34" charset="-120"/>
                        </a:rPr>
                        <a:t>Michelle + Databricks DSA</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c>
                  <a:txBody>
                    <a:bodyPr/>
                    <a:lstStyle/>
                    <a:p>
                      <a:pPr indent="0" marL="0">
                        <a:buNone/>
                      </a:pPr>
                      <a:r>
                        <a:rPr lang="en-US" sz="1300" b="1" dirty="0">
                          <a:solidFill>
                            <a:srgbClr val="FF3621"/>
                          </a:solidFill>
                          <a:latin typeface="Calibri" pitchFamily="34" charset="0"/>
                          <a:ea typeface="Calibri" pitchFamily="34" charset="-122"/>
                          <a:cs typeface="Calibri" pitchFamily="34" charset="-120"/>
                        </a:rPr>
                        <a:t>Before committee</a:t>
                      </a:r>
                      <a:endParaRPr lang="en-US" sz="1300" dirty="0">
                        <a:latin typeface="Calibri" charset="0"/>
                        <a:ea typeface="Calibri" charset="0"/>
                        <a:cs typeface="Calibri" charset="0"/>
                      </a:endParaRPr>
                    </a:p>
                  </a:txBody>
                  <a:tcPr marL="109728" marR="109728" marT="54864" marB="54864" anchor="ctr">
                    <a:lnL w="25400" cap="flat" cmpd="sng" algn="ctr">
                      <a:solidFill>
                        <a:srgbClr val="182C31"/>
                      </a:solidFill>
                      <a:prstDash val="solid"/>
                      <a:round/>
                      <a:headEnd type="none" w="med" len="med"/>
                      <a:tailEnd type="none" w="med" len="med"/>
                    </a:lnL>
                    <a:lnR w="25400" cap="flat" cmpd="sng" algn="ctr">
                      <a:solidFill>
                        <a:srgbClr val="182C31"/>
                      </a:solidFill>
                      <a:prstDash val="solid"/>
                      <a:round/>
                      <a:headEnd type="none" w="med" len="med"/>
                      <a:tailEnd type="none" w="med" len="med"/>
                    </a:lnR>
                    <a:lnT w="25400" cap="flat" cmpd="sng" algn="ctr">
                      <a:solidFill>
                        <a:srgbClr val="182C31"/>
                      </a:solidFill>
                      <a:prstDash val="solid"/>
                      <a:round/>
                      <a:headEnd type="none" w="med" len="med"/>
                      <a:tailEnd type="none" w="med" len="med"/>
                    </a:lnT>
                    <a:lnB w="25400" cap="flat" cmpd="sng" algn="ctr">
                      <a:solidFill>
                        <a:srgbClr val="182C31"/>
                      </a:solidFill>
                      <a:prstDash val="solid"/>
                      <a:round/>
                      <a:headEnd type="none" w="med" len="med"/>
                      <a:tailEnd type="none" w="med" len="med"/>
                    </a:lnB>
                    <a:solidFill>
                      <a:srgbClr val="1F3A40"/>
                    </a:solidFill>
                  </a:tcPr>
                </a:tc>
              </a:tr>
            </a:tbl>
          </a:graphicData>
        </a:graphic>
      </p:graphicFrame>
      <p:sp>
        <p:nvSpPr>
          <p:cNvPr id="5" name="databricks commits"/>
          <p:cNvSpPr/>
          <p:nvPr/>
        </p:nvSpPr>
        <p:spPr>
          <a:xfrm>
            <a:off x="8092440" y="1508760"/>
            <a:ext cx="3520440" cy="3749040"/>
          </a:xfrm>
          <a:prstGeom prst="roundRect">
            <a:avLst>
              <a:gd name="adj" fmla="val 2078"/>
            </a:avLst>
          </a:prstGeom>
          <a:solidFill>
            <a:schemeClr val="accent6"/>
          </a:solidFill>
          <a:ln/>
        </p:spPr>
      </p:sp>
      <p:sp>
        <p:nvSpPr>
          <p:cNvPr id="6" name="Shape 3"/>
          <p:cNvSpPr/>
          <p:nvPr/>
        </p:nvSpPr>
        <p:spPr>
          <a:xfrm>
            <a:off x="8321040" y="1737360"/>
            <a:ext cx="548640" cy="54864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8458200" y="1874520"/>
            <a:ext cx="274320" cy="274320"/>
          </a:xfrm>
          <a:prstGeom prst="rect">
            <a:avLst/>
          </a:prstGeom>
        </p:spPr>
      </p:pic>
      <p:sp>
        <p:nvSpPr>
          <p:cNvPr id="8" name="Text 4"/>
          <p:cNvSpPr txBox="1"/>
          <p:nvPr/>
        </p:nvSpPr>
        <p:spPr>
          <a:xfrm>
            <a:off x="9006840" y="1783080"/>
            <a:ext cx="2468880" cy="548640"/>
          </a:xfrm>
          <a:prstGeom prst="rect">
            <a:avLst/>
          </a:prstGeom>
          <a:noFill/>
          <a:ln/>
        </p:spPr>
        <p:txBody>
          <a:bodyPr wrap="square" lIns="0" tIns="0" rIns="0" bIns="0" rtlCol="0" anchor="t"/>
          <a:lstStyle/>
          <a:p>
            <a:pPr indent="0" marL="0">
              <a:buNone/>
            </a:pPr>
            <a:r>
              <a:rPr lang="en-US" sz="1500" b="1" dirty="0">
                <a:solidFill>
                  <a:schemeClr val="bg2"/>
                </a:solidFill>
              </a:rPr>
              <a:t>What Databricks commits to</a:t>
            </a:r>
            <a:endParaRPr lang="en-US" sz="1500" dirty="0"/>
          </a:p>
        </p:txBody>
      </p:sp>
      <p:sp>
        <p:nvSpPr>
          <p:cNvPr id="9" name="Text 5"/>
          <p:cNvSpPr txBox="1"/>
          <p:nvPr/>
        </p:nvSpPr>
        <p:spPr>
          <a:xfrm>
            <a:off x="8321040" y="2514600"/>
            <a:ext cx="310896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2"/>
                </a:solidFill>
              </a:rPr>
              <a:t>Weekly cost review with your platform team for six weeks</a:t>
            </a:r>
            <a:endParaRPr lang="en-US" sz="1400" dirty="0"/>
          </a:p>
          <a:p>
            <a:pPr marL="342900" indent="-342900">
              <a:spcAft>
                <a:spcPts val="800"/>
              </a:spcAft>
              <a:buSzPct val="100000"/>
              <a:buChar char="•"/>
            </a:pPr>
            <a:r>
              <a:rPr lang="en-US" sz="1400" dirty="0">
                <a:solidFill>
                  <a:schemeClr val="bg2"/>
                </a:solidFill>
              </a:rPr>
              <a:t>Compute policy and budget templates, ready to apply</a:t>
            </a:r>
            <a:endParaRPr lang="en-US" sz="1400" dirty="0"/>
          </a:p>
          <a:p>
            <a:pPr marL="342900" indent="-342900">
              <a:spcAft>
                <a:spcPts val="800"/>
              </a:spcAft>
              <a:buSzPct val="100000"/>
              <a:buChar char="•"/>
            </a:pPr>
            <a:r>
              <a:rPr lang="en-US" sz="1400" dirty="0">
                <a:solidFill>
                  <a:schemeClr val="bg2"/>
                </a:solidFill>
              </a:rPr>
              <a:t>This dashboard handed over as code</a:t>
            </a:r>
            <a:endParaRPr lang="en-US" sz="1400" dirty="0"/>
          </a:p>
          <a:p>
            <a:pPr marL="342900" indent="-342900">
              <a:spcAft>
                <a:spcPts val="800"/>
              </a:spcAft>
              <a:buSzPct val="100000"/>
              <a:buChar char="•"/>
            </a:pPr>
            <a:r>
              <a:rPr lang="en-US" sz="1400" dirty="0">
                <a:solidFill>
                  <a:schemeClr val="bg2"/>
                </a:solidFill>
              </a:rPr>
              <a:t>Our account team to discuss commit options. No promises today on credits</a:t>
            </a:r>
            <a:endParaRPr lang="en-US" sz="1400" dirty="0"/>
          </a:p>
        </p:txBody>
      </p:sp>
      <p:sp>
        <p:nvSpPr>
          <p:cNvPr id="25" name="Slide Number Placeholder 0"/>
          <p:cNvSpPr>
            <a:spLocks noGrp="1"/>
          </p:cNvSpPr>
          <p:nvPr>
            <p:ph type="sldNum" sz="quarter" idx="4294967295"/>
          </p:nvPr>
        </p:nvSpPr>
        <p:spPr>
          <a:xfrm>
            <a:off x="11247120" y="63276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body" hasCustomPrompt="1"/>
          </p:nvPr>
        </p:nvSpPr>
        <p:spPr>
          <a:xfrm>
            <a:off x="548640" y="1417320"/>
            <a:ext cx="6949440" cy="365760"/>
          </a:xfrm>
          <a:prstGeom prst="rect">
            <a:avLst/>
          </a:prstGeom>
          <a:noFill/>
          <a:ln/>
        </p:spPr>
        <p:txBody>
          <a:bodyPr wrap="square" lIns="0" tIns="0" rIns="0" bIns="0" rtlCol="0"/>
          <a:lstStyle/>
          <a:p>
            <a:pPr indent="0" marL="0">
              <a:buNone/>
            </a:pPr>
            <a:r>
              <a:rPr lang="en-US" sz="1300" b="1" spc="200" kern="0" dirty="0">
                <a:solidFill>
                  <a:schemeClr val="accent1"/>
                </a:solidFill>
              </a:rPr>
              <a:t>ONE SENTENCE FOR THE BOARD</a:t>
            </a:r>
            <a:endParaRPr lang="en-US" sz="1300" dirty="0"/>
          </a:p>
        </p:txBody>
      </p:sp>
      <p:sp>
        <p:nvSpPr>
          <p:cNvPr id="3" name="Text 0"/>
          <p:cNvSpPr/>
          <p:nvPr>
            <p:ph idx="102" type="title" hasCustomPrompt="1"/>
          </p:nvPr>
        </p:nvSpPr>
        <p:spPr>
          <a:xfrm>
            <a:off x="548640" y="1828800"/>
            <a:ext cx="6949440" cy="2011680"/>
          </a:xfrm>
          <a:prstGeom prst="rect">
            <a:avLst/>
          </a:prstGeom>
          <a:noFill/>
          <a:ln/>
        </p:spPr>
        <p:txBody>
          <a:bodyPr wrap="square" lIns="0" tIns="0" rIns="0" bIns="0" rtlCol="0" anchor="t"/>
          <a:lstStyle/>
          <a:p>
            <a:pPr algn="l" indent="0" marL="0">
              <a:buNone/>
            </a:pPr>
            <a:r>
              <a:rPr lang="en-US" sz="4000" b="1" dirty="0">
                <a:solidFill>
                  <a:schemeClr val="bg2"/>
                </a:solidFill>
              </a:rPr>
              <a:t>Spend grew faster than our guardrails, not faster than its value</a:t>
            </a:r>
            <a:endParaRPr lang="en-US" sz="4000" dirty="0"/>
          </a:p>
        </p:txBody>
      </p:sp>
      <p:sp>
        <p:nvSpPr>
          <p:cNvPr id="4" name="Text 0"/>
          <p:cNvSpPr/>
          <p:nvPr>
            <p:ph idx="103" type="body" hasCustomPrompt="1"/>
          </p:nvPr>
        </p:nvSpPr>
        <p:spPr>
          <a:xfrm>
            <a:off x="548640" y="4114800"/>
            <a:ext cx="6766560" cy="1280160"/>
          </a:xfrm>
          <a:prstGeom prst="rect">
            <a:avLst/>
          </a:prstGeom>
          <a:noFill/>
          <a:ln/>
        </p:spPr>
        <p:txBody>
          <a:bodyPr wrap="square" lIns="0" tIns="0" rIns="0" bIns="0" rtlCol="0" anchor="t"/>
          <a:lstStyle/>
          <a:p>
            <a:pPr indent="0" marL="0">
              <a:buNone/>
            </a:pPr>
            <a:r>
              <a:rPr lang="en-US" sz="1500" dirty="0">
                <a:solidFill>
                  <a:schemeClr val="accent5"/>
                </a:solidFill>
              </a:rPr>
              <a:t>We can cut the run-rate by more than half without touching the initiative returning 76×, and put controls in place so it can't silently recur.</a:t>
            </a:r>
            <a:endParaRPr lang="en-US" sz="1500" dirty="0"/>
          </a:p>
        </p:txBody>
      </p:sp>
      <p:sp>
        <p:nvSpPr>
          <p:cNvPr id="5" name="closing stats"/>
          <p:cNvSpPr/>
          <p:nvPr/>
        </p:nvSpPr>
        <p:spPr>
          <a:xfrm>
            <a:off x="8001000" y="1417320"/>
            <a:ext cx="3657600" cy="3977640"/>
          </a:xfrm>
          <a:prstGeom prst="roundRect">
            <a:avLst>
              <a:gd name="adj" fmla="val 2000"/>
            </a:avLst>
          </a:prstGeom>
          <a:solidFill>
            <a:schemeClr val="tx2"/>
          </a:solidFill>
          <a:ln/>
        </p:spPr>
      </p:sp>
      <p:sp>
        <p:nvSpPr>
          <p:cNvPr id="6" name="Text 4"/>
          <p:cNvSpPr txBox="1"/>
          <p:nvPr/>
        </p:nvSpPr>
        <p:spPr>
          <a:xfrm>
            <a:off x="8366760" y="1737360"/>
            <a:ext cx="3017520" cy="548640"/>
          </a:xfrm>
          <a:prstGeom prst="rect">
            <a:avLst/>
          </a:prstGeom>
          <a:noFill/>
          <a:ln/>
        </p:spPr>
        <p:txBody>
          <a:bodyPr wrap="square" lIns="0" tIns="0" rIns="0" bIns="0" rtlCol="0" anchor="t"/>
          <a:lstStyle/>
          <a:p>
            <a:pPr indent="0" marL="0">
              <a:buNone/>
            </a:pPr>
            <a:r>
              <a:rPr lang="en-US" sz="2800" b="1" dirty="0">
                <a:solidFill>
                  <a:schemeClr val="accent1"/>
                </a:solidFill>
              </a:rPr>
              <a:t>$179k → ~$75k</a:t>
            </a:r>
            <a:endParaRPr lang="en-US" sz="2800" dirty="0"/>
          </a:p>
        </p:txBody>
      </p:sp>
      <p:sp>
        <p:nvSpPr>
          <p:cNvPr id="7" name="Text 5"/>
          <p:cNvSpPr txBox="1"/>
          <p:nvPr/>
        </p:nvSpPr>
        <p:spPr>
          <a:xfrm>
            <a:off x="8366760" y="2286000"/>
            <a:ext cx="3017520" cy="320040"/>
          </a:xfrm>
          <a:prstGeom prst="rect">
            <a:avLst/>
          </a:prstGeom>
          <a:noFill/>
          <a:ln/>
        </p:spPr>
        <p:txBody>
          <a:bodyPr wrap="square" lIns="0" tIns="0" rIns="0" bIns="0" rtlCol="0" anchor="t"/>
          <a:lstStyle/>
          <a:p>
            <a:pPr indent="0" marL="0">
              <a:buNone/>
            </a:pPr>
            <a:r>
              <a:rPr lang="en-US" sz="1300" dirty="0">
                <a:solidFill>
                  <a:schemeClr val="accent5"/>
                </a:solidFill>
              </a:rPr>
              <a:t>monthly run-rate</a:t>
            </a:r>
            <a:endParaRPr lang="en-US" sz="1300" dirty="0"/>
          </a:p>
        </p:txBody>
      </p:sp>
      <p:sp>
        <p:nvSpPr>
          <p:cNvPr id="8" name="Text 6"/>
          <p:cNvSpPr txBox="1"/>
          <p:nvPr/>
        </p:nvSpPr>
        <p:spPr>
          <a:xfrm>
            <a:off x="8366760" y="2926080"/>
            <a:ext cx="3017520" cy="548640"/>
          </a:xfrm>
          <a:prstGeom prst="rect">
            <a:avLst/>
          </a:prstGeom>
          <a:noFill/>
          <a:ln/>
        </p:spPr>
        <p:txBody>
          <a:bodyPr wrap="square" lIns="0" tIns="0" rIns="0" bIns="0" rtlCol="0" anchor="t"/>
          <a:lstStyle/>
          <a:p>
            <a:pPr indent="0" marL="0">
              <a:buNone/>
            </a:pPr>
            <a:r>
              <a:rPr lang="en-US" sz="2800" b="1" dirty="0">
                <a:solidFill>
                  <a:schemeClr val="accent3"/>
                </a:solidFill>
              </a:rPr>
              <a:t>76×</a:t>
            </a:r>
            <a:endParaRPr lang="en-US" sz="2800" dirty="0"/>
          </a:p>
        </p:txBody>
      </p:sp>
      <p:sp>
        <p:nvSpPr>
          <p:cNvPr id="9" name="Text 7"/>
          <p:cNvSpPr txBox="1"/>
          <p:nvPr/>
        </p:nvSpPr>
        <p:spPr>
          <a:xfrm>
            <a:off x="8366760" y="3474720"/>
            <a:ext cx="3017520" cy="320040"/>
          </a:xfrm>
          <a:prstGeom prst="rect">
            <a:avLst/>
          </a:prstGeom>
          <a:noFill/>
          <a:ln/>
        </p:spPr>
        <p:txBody>
          <a:bodyPr wrap="square" lIns="0" tIns="0" rIns="0" bIns="0" rtlCol="0" anchor="t"/>
          <a:lstStyle/>
          <a:p>
            <a:pPr indent="0" marL="0">
              <a:buNone/>
            </a:pPr>
            <a:r>
              <a:rPr lang="en-US" sz="1300" dirty="0">
                <a:solidFill>
                  <a:schemeClr val="accent5"/>
                </a:solidFill>
              </a:rPr>
              <a:t>Atlas return, protected</a:t>
            </a:r>
            <a:endParaRPr lang="en-US" sz="1300" dirty="0"/>
          </a:p>
        </p:txBody>
      </p:sp>
      <p:sp>
        <p:nvSpPr>
          <p:cNvPr id="10" name="Text 8"/>
          <p:cNvSpPr txBox="1"/>
          <p:nvPr/>
        </p:nvSpPr>
        <p:spPr>
          <a:xfrm>
            <a:off x="8366760" y="4114800"/>
            <a:ext cx="3017520" cy="548640"/>
          </a:xfrm>
          <a:prstGeom prst="rect">
            <a:avLst/>
          </a:prstGeom>
          <a:noFill/>
          <a:ln/>
        </p:spPr>
        <p:txBody>
          <a:bodyPr wrap="square" lIns="0" tIns="0" rIns="0" bIns="0" rtlCol="0" anchor="t"/>
          <a:lstStyle/>
          <a:p>
            <a:pPr indent="0" marL="0">
              <a:buNone/>
            </a:pPr>
            <a:r>
              <a:rPr lang="en-US" sz="2800" b="1" dirty="0">
                <a:solidFill>
                  <a:schemeClr val="bg2"/>
                </a:solidFill>
              </a:rPr>
              <a:t>This week</a:t>
            </a:r>
            <a:endParaRPr lang="en-US" sz="2800" dirty="0"/>
          </a:p>
        </p:txBody>
      </p:sp>
      <p:sp>
        <p:nvSpPr>
          <p:cNvPr id="11" name="Text 9"/>
          <p:cNvSpPr txBox="1"/>
          <p:nvPr/>
        </p:nvSpPr>
        <p:spPr>
          <a:xfrm>
            <a:off x="8366760" y="4663440"/>
            <a:ext cx="3017520" cy="320040"/>
          </a:xfrm>
          <a:prstGeom prst="rect">
            <a:avLst/>
          </a:prstGeom>
          <a:noFill/>
          <a:ln/>
        </p:spPr>
        <p:txBody>
          <a:bodyPr wrap="square" lIns="0" tIns="0" rIns="0" bIns="0" rtlCol="0" anchor="t"/>
          <a:lstStyle/>
          <a:p>
            <a:pPr indent="0" marL="0">
              <a:buNone/>
            </a:pPr>
            <a:r>
              <a:rPr lang="en-US" sz="1300" dirty="0">
                <a:solidFill>
                  <a:schemeClr val="accent5"/>
                </a:solidFill>
              </a:rPr>
              <a:t>most fixes are configuration only</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rPr>
              <a:t>APPENDIX</a:t>
            </a:r>
            <a:endParaRPr lang="en-US" sz="1200" dirty="0"/>
          </a:p>
        </p:txBody>
      </p:sp>
      <p:sp>
        <p:nvSpPr>
          <p:cNvPr id="3" name="Text 1"/>
          <p:cNvSpPr/>
          <p:nvPr>
            <p:ph idx="103"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000" b="1" dirty="0">
                <a:solidFill>
                  <a:schemeClr val="bg2"/>
                </a:solidFill>
              </a:rPr>
              <a:t>Method and assumptions</a:t>
            </a:r>
            <a:endParaRPr lang="en-US" sz="3000" dirty="0"/>
          </a:p>
        </p:txBody>
      </p:sp>
      <p:sp>
        <p:nvSpPr>
          <p:cNvPr id="4" name="method"/>
          <p:cNvSpPr/>
          <p:nvPr/>
        </p:nvSpPr>
        <p:spPr>
          <a:xfrm>
            <a:off x="548640" y="1508760"/>
            <a:ext cx="5440680" cy="3840480"/>
          </a:xfrm>
          <a:prstGeom prst="roundRect">
            <a:avLst>
              <a:gd name="adj" fmla="val 1905"/>
            </a:avLst>
          </a:prstGeom>
          <a:solidFill>
            <a:schemeClr val="accent6"/>
          </a:solidFill>
          <a:ln/>
        </p:spPr>
      </p:sp>
      <p:sp>
        <p:nvSpPr>
          <p:cNvPr id="5" name="Text 3"/>
          <p:cNvSpPr txBox="1"/>
          <p:nvPr/>
        </p:nvSpPr>
        <p:spPr>
          <a:xfrm>
            <a:off x="777240" y="1691640"/>
            <a:ext cx="4937760" cy="365760"/>
          </a:xfrm>
          <a:prstGeom prst="rect">
            <a:avLst/>
          </a:prstGeom>
          <a:noFill/>
          <a:ln/>
        </p:spPr>
        <p:txBody>
          <a:bodyPr wrap="square" lIns="0" tIns="0" rIns="0" bIns="0" rtlCol="0" anchor="t"/>
          <a:lstStyle/>
          <a:p>
            <a:pPr indent="0" marL="0">
              <a:buNone/>
            </a:pPr>
            <a:r>
              <a:rPr lang="en-US" sz="1700" b="1" dirty="0">
                <a:solidFill>
                  <a:schemeClr val="accent1"/>
                </a:solidFill>
              </a:rPr>
              <a:t>Method</a:t>
            </a:r>
            <a:endParaRPr lang="en-US" sz="1700" dirty="0"/>
          </a:p>
        </p:txBody>
      </p:sp>
      <p:sp>
        <p:nvSpPr>
          <p:cNvPr id="6" name="Text 4"/>
          <p:cNvSpPr txBox="1"/>
          <p:nvPr/>
        </p:nvSpPr>
        <p:spPr>
          <a:xfrm>
            <a:off x="777240" y="2148840"/>
            <a:ext cx="502920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2"/>
                </a:solidFill>
              </a:rPr>
              <a:t>Data: Cascade system-table snapshot, Jun 1–Oct 11 2026 (billing, compute, jobs, pipelines, audit)</a:t>
            </a:r>
            <a:endParaRPr lang="en-US" sz="1400" dirty="0"/>
          </a:p>
          <a:p>
            <a:pPr marL="342900" indent="-342900">
              <a:spcAft>
                <a:spcPts val="800"/>
              </a:spcAft>
              <a:buSzPct val="100000"/>
              <a:buChar char="•"/>
            </a:pPr>
            <a:r>
              <a:rPr lang="en-US" sz="1400" dirty="0">
                <a:solidFill>
                  <a:schemeClr val="bg2"/>
                </a:solidFill>
              </a:rPr>
              <a:t>Cost = DBUs × list price valid at usage time (point-in-time join). Excludes negotiated discounts and, for classic compute, cloud VM costs</a:t>
            </a:r>
            <a:endParaRPr lang="en-US" sz="1400" dirty="0"/>
          </a:p>
          <a:p>
            <a:pPr marL="342900" indent="-342900">
              <a:spcAft>
                <a:spcPts val="800"/>
              </a:spcAft>
              <a:buSzPct val="100000"/>
              <a:buChar char="•"/>
            </a:pPr>
            <a:r>
              <a:rPr lang="en-US" sz="1400" dirty="0">
                <a:solidFill>
                  <a:schemeClr val="bg2"/>
                </a:solidFill>
              </a:rPr>
              <a:t>October run-rate = Oct 1–11 cost × 30/11. Spiky workloads (month-end close, weekly training) use September</a:t>
            </a:r>
            <a:endParaRPr lang="en-US" sz="1400" dirty="0"/>
          </a:p>
          <a:p>
            <a:pPr marL="342900" indent="-342900">
              <a:spcAft>
                <a:spcPts val="800"/>
              </a:spcAft>
              <a:buSzPct val="100000"/>
              <a:buChar char="•"/>
            </a:pPr>
            <a:r>
              <a:rPr lang="en-US" sz="1400" dirty="0">
                <a:solidFill>
                  <a:schemeClr val="bg2"/>
                </a:solidFill>
              </a:rPr>
              <a:t>Reconciliation: 27,087 usage records and total DBUs match raw exactly</a:t>
            </a:r>
            <a:endParaRPr lang="en-US" sz="1400" dirty="0"/>
          </a:p>
        </p:txBody>
      </p:sp>
      <p:sp>
        <p:nvSpPr>
          <p:cNvPr id="7" name="assumptions"/>
          <p:cNvSpPr/>
          <p:nvPr/>
        </p:nvSpPr>
        <p:spPr>
          <a:xfrm>
            <a:off x="6172200" y="1508760"/>
            <a:ext cx="5440680" cy="3840480"/>
          </a:xfrm>
          <a:prstGeom prst="roundRect">
            <a:avLst>
              <a:gd name="adj" fmla="val 1905"/>
            </a:avLst>
          </a:prstGeom>
          <a:solidFill>
            <a:schemeClr val="accent6"/>
          </a:solidFill>
          <a:ln/>
        </p:spPr>
      </p:sp>
      <p:sp>
        <p:nvSpPr>
          <p:cNvPr id="8" name="Text 6"/>
          <p:cNvSpPr txBox="1"/>
          <p:nvPr/>
        </p:nvSpPr>
        <p:spPr>
          <a:xfrm>
            <a:off x="6400800" y="1691640"/>
            <a:ext cx="4937760" cy="365760"/>
          </a:xfrm>
          <a:prstGeom prst="rect">
            <a:avLst/>
          </a:prstGeom>
          <a:noFill/>
          <a:ln/>
        </p:spPr>
        <p:txBody>
          <a:bodyPr wrap="square" lIns="0" tIns="0" rIns="0" bIns="0" rtlCol="0" anchor="t"/>
          <a:lstStyle/>
          <a:p>
            <a:pPr indent="0" marL="0">
              <a:buNone/>
            </a:pPr>
            <a:r>
              <a:rPr lang="en-US" sz="1700" b="1" dirty="0">
                <a:solidFill>
                  <a:schemeClr val="accent1"/>
                </a:solidFill>
              </a:rPr>
              <a:t>Savings assumptions</a:t>
            </a:r>
            <a:endParaRPr lang="en-US" sz="1700" dirty="0"/>
          </a:p>
        </p:txBody>
      </p:sp>
      <p:sp>
        <p:nvSpPr>
          <p:cNvPr id="9" name="Text 7"/>
          <p:cNvSpPr txBox="1"/>
          <p:nvPr/>
        </p:nvSpPr>
        <p:spPr>
          <a:xfrm>
            <a:off x="6400800" y="2148840"/>
            <a:ext cx="502920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2"/>
                </a:solidFill>
              </a:rPr>
              <a:t>Warehouse: back to its pre-Sep-8 daily average</a:t>
            </a:r>
            <a:endParaRPr lang="en-US" sz="1400" dirty="0"/>
          </a:p>
          <a:p>
            <a:pPr marL="342900" indent="-342900">
              <a:spcAft>
                <a:spcPts val="800"/>
              </a:spcAft>
              <a:buSzPct val="100000"/>
              <a:buChar char="•"/>
            </a:pPr>
            <a:r>
              <a:rPr lang="en-US" sz="1400" dirty="0">
                <a:solidFill>
                  <a:schemeClr val="bg2"/>
                </a:solidFill>
              </a:rPr>
              <a:t>GPU cluster: 10% of its current hours</a:t>
            </a:r>
            <a:endParaRPr lang="en-US" sz="1400" dirty="0"/>
          </a:p>
          <a:p>
            <a:pPr marL="342900" indent="-342900">
              <a:spcAft>
                <a:spcPts val="800"/>
              </a:spcAft>
              <a:buSzPct val="100000"/>
              <a:buChar char="•"/>
            </a:pPr>
            <a:r>
              <a:rPr lang="en-US" sz="1400" dirty="0">
                <a:solidFill>
                  <a:schemeClr val="bg2"/>
                </a:solidFill>
              </a:rPr>
              <a:t>Contractor resources: zero, pending SOW confirmation</a:t>
            </a:r>
            <a:endParaRPr lang="en-US" sz="1400" dirty="0"/>
          </a:p>
          <a:p>
            <a:pPr marL="342900" indent="-342900">
              <a:spcAft>
                <a:spcPts val="800"/>
              </a:spcAft>
              <a:buSzPct val="100000"/>
              <a:buChar char="•"/>
            </a:pPr>
            <a:r>
              <a:rPr lang="en-US" sz="1400" dirty="0">
                <a:solidFill>
                  <a:schemeClr val="bg2"/>
                </a:solidFill>
              </a:rPr>
              <a:t>Inventory job: Jun–Jul monthly average. Salesforce: pre-Aug-5 average × 4 (hourly)</a:t>
            </a:r>
            <a:endParaRPr lang="en-US" sz="1400" dirty="0"/>
          </a:p>
          <a:p>
            <a:pPr marL="342900" indent="-342900">
              <a:spcAft>
                <a:spcPts val="800"/>
              </a:spcAft>
              <a:buSzPct val="100000"/>
              <a:buChar char="•"/>
            </a:pPr>
            <a:r>
              <a:rPr lang="en-US" sz="1400" dirty="0">
                <a:solidFill>
                  <a:schemeClr val="bg2"/>
                </a:solidFill>
              </a:rPr>
              <a:t>Dev clusters: off-hours cost removed by 60-min auto-termination</a:t>
            </a:r>
            <a:endParaRPr lang="en-US" sz="1400" dirty="0"/>
          </a:p>
          <a:p>
            <a:pPr marL="342900" indent="-342900">
              <a:spcAft>
                <a:spcPts val="800"/>
              </a:spcAft>
              <a:buSzPct val="100000"/>
              <a:buChar char="•"/>
            </a:pPr>
            <a:r>
              <a:rPr lang="en-US" sz="1400" dirty="0">
                <a:solidFill>
                  <a:schemeClr val="bg2"/>
                </a:solidFill>
              </a:rPr>
              <a:t>Atlas ROI: incremental revenue (A/B lift from biz KPIs), not profit</a:t>
            </a:r>
            <a:endParaRPr lang="en-US" sz="1400" dirty="0"/>
          </a:p>
        </p:txBody>
      </p:sp>
      <p:sp>
        <p:nvSpPr>
          <p:cNvPr id="25" name="Slide Number Placeholder 0"/>
          <p:cNvSpPr>
            <a:spLocks noGrp="1"/>
          </p:cNvSpPr>
          <p:nvPr>
            <p:ph type="sldNum" sz="quarter" idx="4294967295"/>
          </p:nvPr>
        </p:nvSpPr>
        <p:spPr>
          <a:xfrm>
            <a:off x="11247120" y="632764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Cascade FinOps">
  <a:themeElements>
    <a:clrScheme name="Cascade FinOps">
      <a:dk1>
        <a:srgbClr val="0B1D21"/>
      </a:dk1>
      <a:lt1>
        <a:srgbClr val="FFFFFF"/>
      </a:lt1>
      <a:dk2>
        <a:srgbClr val="182C31"/>
      </a:dk2>
      <a:lt2>
        <a:srgbClr val="F2EEEC"/>
      </a:lt2>
      <a:accent1>
        <a:srgbClr val="FF3621"/>
      </a:accent1>
      <a:accent2>
        <a:srgbClr val="F5A623"/>
      </a:accent2>
      <a:accent3>
        <a:srgbClr val="2BB673"/>
      </a:accent3>
      <a:accent4>
        <a:srgbClr val="5FB4C9"/>
      </a:accent4>
      <a:accent5>
        <a:srgbClr val="8FA3A8"/>
      </a:accent5>
      <a:accent6>
        <a:srgbClr val="1F3A40"/>
      </a:accent6>
      <a:hlink>
        <a:srgbClr val="5FB4C9"/>
      </a:hlink>
      <a:folHlink>
        <a:srgbClr val="A9B8BB"/>
      </a:folHlink>
    </a:clrScheme>
    <a:fontScheme name="Cascade FinOp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Cascade Outfitters — Databricks Spend Review</dc:title>
  <dc:subject>PptxGenJS Presentation</dc:subject>
  <dc:creator>Databricks Delivery Solutions Architect</dc:creator>
  <cp:lastModifiedBy>Databricks Delivery Solutions Architect</cp:lastModifiedBy>
  <cp:revision>1</cp:revision>
  <dcterms:created xsi:type="dcterms:W3CDTF">2026-10-16T18:42:13Z</dcterms:created>
  <dcterms:modified xsi:type="dcterms:W3CDTF">2026-10-16T18:42:13Z</dcterms:modified>
</cp:coreProperties>
</file>